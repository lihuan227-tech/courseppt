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1 · 约 60 分钟 · 40+ 名混龄学生。开场语：这是我们「小小生活家」的最后一课！今天不学新本领，而是把这一周学过的厨房安全、整理收纳、清洁家务、友善礼貌，用游戏全部复习一遍，最后一起做肥皂。图片建议：三明治、洗衣机、折好的衣服、书包、海绵和盘子、爱心、肥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告诉学生：今天是生活技能主题的最后一课。前三个游戏复习学过的知识，最后一起观察并参与制作肥皂。提醒：全程坐在自己的桌面小组，表现好的小组可以得星星。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will: review important life skills; make safe and responsible choices; identify mistakes in everyday situations; review vocabulary through actions; observe and participate in a simple soap-making activity; practice teamwork, patience, listening, and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快速回顾（1–2 分钟）：老师指着每一栏，问「这一天我们学了什么？」让学生齐答关键词即可，不要展开讲解，把时间留给游戏。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班级人数超过 40 人：全程坐在桌面小组内，不让学生跑动。老师准备一张小组计分表或星星贴纸，奖励合作、安静倾听和完整表达，而不是抢答速度。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40+ 人大班：坚持手势作答，避免走动。每题 30–45 秒，共 6 题，控制在 5–8 分钟。选择 2–3 题请学生用完整句子说明原因，其他题直接看手势统计人数即可。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题。读题 → 学生举手指 → 老师快速数一数（「A 这边有多少？B 这边有多少？」）。第 2、4、6 题各请 1 名学生用完整句子说明原因即可。图片建议：折衣服 / 洗盘子 的儿童卡通插图。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题。读题 → 学生举手指 → 老师快速数一数（「A 这边有多少？B 这边有多少？」）。第 2、4、6 题各请 1 名学生用完整句子说明原因即可。图片建议：整理书包 / 整理抽屉 的儿童卡通插图。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题。读题 → 学生举手指 → 老师快速数一数（「A 这边有多少？B 这边有多少？」）。第 2、4、6 题各请 1 名学生用完整句子说明原因即可。图片建议：做三明治 / 摆餐具 的儿童卡通插图。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题。读题 → 学生举手指 → 老师快速数一数（「A 这边有多少？B 这边有多少？」）。第 2、4、6 题各请 1 名学生用完整句子说明原因即可。图片建议：扫地 / 擦桌子 的儿童卡通插图。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题。读题 → 学生举手指 → 老师快速数一数（「A 这边有多少？B 这边有多少？」）。第 2、4、6 题各请 1 名学生用完整句子说明原因即可。图片建议：整理行李箱 / 整理书包 的儿童卡通插图。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题。读题 → 学生举手指 → 老师快速数一数（「A 这边有多少？B 这边有多少？」）。第 2、4、6 题各请 1 名学生用完整句子说明原因即可。图片建议：一个人 / 和家人一起 的儿童卡通插图。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 3 张找错误图，每张约 2 分钟；之后进入「翻转剧情」。流程固定：安静观察 → 小组轻声讨论 → 老师点组回答 → 点击揭晓答案。可让每组把错误数量写在小白板上，答对数量的小组加 1 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复习 Day 1 厨房安全。先让学生找，再点击揭晓。追问：「为什么锅柄朝外很危险？」（会被碰翻、烫伤）「离炉灶要多远？」（至少一米/三英尺）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复习 Day 2 整理收纳。可以追问：「大课本应该放在哪个口袋？」（大夹层，靠近背部）「五步整理法第一步是什么？」（全部拿出来）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复习 Day 3 清洁家务。追问：「口袋里如果有纸巾会怎么样？」（洗完全是碎纸屑）「为什么洗衣机不能塞太满？」（洗不干净）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复习 Day 4 友善礼貌。先全班一起做情景一，再让同桌两人一组读情景二、三。重点：把「指责」翻转成「说感受 + 说希望」。时间紧张时只做情景一和情景二。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全班一起做。老师先用生气的语气读左边，再用友善的语气读右边，让学生听出差别。追问：明明在右边先说了什么？（说感受）再说了什么？（说希望）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同桌两人一组读一读，然后请 1–2 组到前面演。重点词：请问 · 可以……吗 · 谢谢你。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复习 Day 4 待客礼貌。可以请 2 名学生现场演一遍「开门—打招呼—请坐—倒水」。时间不够时可以只讲不演。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老师提前把下面两页的词语做成抽取卡（本 PPT 最后一页可直接打印）。混龄班：简单词给低年级，复杂词给高年级。每轮 20–30 秒，8–10 轮共约 10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低年级抽这一组。老师可以先带全班一起做一遍动作（热身 30 秒），再开始比赛。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高年级抽这一组。提示学生：可以分几个动作演出来（先……再……），但全程不能说话、不能用嘴型。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过渡页，约 1 分钟。控制人数：只请 2–3 名学生分享。说完立刻进入肥皂环节，趁学生注意力还集中时讲安全规则。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Melt &amp; Pour 皂基在微波炉或热水浴中融化即可，全程由老师操作。提前确认是否有学生对香料过敏；香味只加少量。若无加热条件，可提前在办公室融化好，带到教室进行「加色 → 搅拌 → 倒模」环节。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必须在发放任何材料之前讲完并齐读。明确划出「教师操作区」：加热设备、热皂液只在这个区域，学生保持距离。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图片要清楚，只展示套装里实际有的材料，不要出现套装中没有的东西，以免学生期待落空。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步「选颜色」是全班参与点：给 2–3 个颜色，举手投票，少数服从多数。第 4 步香味只滴 2–3 滴，先让前排闻一闻，再传给「香味观察员」组描述。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搅拌环节：每组派 1–2 名代表，老师扶住杯子，学生慢慢搅拌 5 秒就换人，避免排长队。倒模由老师完成，学生退后一步观察。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每组只有代表参与实际操作，但全组都要观察并完成本组任务。不要让 40 名学生排队轮流搅拌。老师可以在活动结束时请每组用一句话汇报本组的观察。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在倒入模具之前提问，让学生先预测，再验证。「科学观察员」小组负责回答第三个问题。这是本课的科学连接点：固体—液体—固体的可逆变化。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「设计我的肥皂」worksheet 见本 PPT 倒数第二页，可直接打印。如果肥皂需要更长时间凝固，让学生完成设计纸，老师课后脱模再发放成品。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这是本课的价值升华：生活技能不只是「会做家务」，更是安全意识、合作、耐心和礼貌。可以给表现突出的小组加星。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and talk：先两两互说 1 分钟，老师巡场听，再点 3–4 名学生（尽量点不同小组、不同年龄段）分享。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结束语与齐呼。图片建议：一群小朋友一起整理、清洁、帮助别人，并展示做好的肥皂。可在此时发放徽章贴纸或肥皂成品。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 15 分钟：摆好肥皂材料、划出教师操作区、把动作词卡剪好、每组发一块小白板和笔。确认学生香味过敏情况。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打印页：每人一张，肥皂冷却等待时完成。低年级可以只画图 + 说一说；高年级要求写完整句子。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打印一份即可，老师抽卡使用。也可以背面写编号，方便快速分成「简单/挑战」两叠。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B4BC0"/>
                </a:solidFill>
                <a:latin typeface="Microsoft YaHei"/>
              </a:rPr>
              <a:t>Life Skills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B4BC0"/>
                </a:solidFill>
                <a:latin typeface="Microsoft YaHei"/>
              </a:rPr>
              <a:t>D5 生活技能嘉年华 · 最后一课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1298448"/>
            <a:ext cx="3200400" cy="3200400"/>
          </a:xfrm>
          <a:prstGeom prst="ellipse">
            <a:avLst/>
          </a:prstGeom>
          <a:solidFill>
            <a:srgbClr val="7B4BC0"/>
          </a:solidFill>
          <a:ln w="762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46120" y="1572768"/>
            <a:ext cx="2651760" cy="2651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7739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848A"/>
                </a:solidFill>
                <a:latin typeface="KaiTi"/>
              </a:rPr>
              <a:t>DAY 5</a:t>
            </a:r>
          </a:p>
          <a:p>
            <a:pPr algn="ctr"/>
            <a:r>
              <a:rPr sz="4200" b="0">
                <a:solidFill>
                  <a:srgbClr val="2C2C2C"/>
                </a:solidFill>
                <a:latin typeface="KaiTi"/>
              </a:rPr>
              <a:t>🎪🧼</a:t>
            </a:r>
          </a:p>
          <a:p>
            <a:pPr algn="ctr"/>
            <a:r>
              <a:rPr sz="1700" b="1">
                <a:solidFill>
                  <a:srgbClr val="7B4BC0"/>
                </a:solidFill>
                <a:latin typeface="KaiTi"/>
              </a:rPr>
              <a:t>生活技能嘉年华</a:t>
            </a:r>
          </a:p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THINK · ACT ·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537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848A"/>
                </a:solidFill>
                <a:latin typeface="KaiTi"/>
              </a:rPr>
              <a:t>🥪 🧺 👕 🎒 🧽 💛 🧼  看一看、想一想、演一演、做一做！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⏰ 今天我们要做什么？  What Are We Doing Today?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8229600" cy="86868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02412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698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B4BC0"/>
                </a:solidFill>
                <a:latin typeface="KaiT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960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</a:rPr>
              <a:t>二选一  Would You Rather?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33502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FFFFFF"/>
                </a:solidFill>
                <a:latin typeface="KaiTi"/>
              </a:rPr>
              <a:t>举手指选一个，说一说为什么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KaiTi"/>
              </a:rPr>
              <a:t>⏱ 5–8 分钟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47088"/>
            <a:ext cx="8229600" cy="868680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202996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0756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848A"/>
                </a:solidFill>
                <a:latin typeface="KaiT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965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</a:rPr>
              <a:t>找错误  Find the Mistakes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34086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FFFFFF"/>
                </a:solidFill>
                <a:latin typeface="KaiTi"/>
              </a:rPr>
              <a:t>看图找错，小组轻声讨论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KaiTi"/>
              </a:rPr>
              <a:t>⏱ 10 分钟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52928"/>
            <a:ext cx="8229600" cy="868680"/>
          </a:xfrm>
          <a:prstGeom prst="roundRect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" y="303580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081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6B53"/>
                </a:solidFill>
                <a:latin typeface="KaiT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971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</a:rPr>
              <a:t>你演我猜  Charades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334670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FFFFFF"/>
                </a:solidFill>
                <a:latin typeface="KaiTi"/>
              </a:rPr>
              <a:t>一人表演，组长举手抢答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KaiTi"/>
              </a:rPr>
              <a:t>⏱ 10 分钟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58768"/>
            <a:ext cx="8229600" cy="868680"/>
          </a:xfrm>
          <a:prstGeom prst="roundRect">
            <a:avLst/>
          </a:prstGeom>
          <a:solidFill>
            <a:srgbClr val="F4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" y="404164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087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4B22E"/>
                </a:solidFill>
                <a:latin typeface="KaiT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977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</a:rPr>
              <a:t>制作肥皂  Make Soap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5254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FFFFFF"/>
                </a:solidFill>
                <a:latin typeface="KaiTi"/>
              </a:rPr>
              <a:t>老师操作，每组都有观察任务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KaiTi"/>
              </a:rPr>
              <a:t>⏱ 约 30 分钟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🎯 教学目标 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B4BC0"/>
                </a:solidFill>
                <a:latin typeface="KaiTi"/>
              </a:rPr>
              <a:t>📦 内容目标  Content: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1. 回顾本周学习的生活技能：厨房安全 · 整理收纳 · 清洁家务 · 友善礼貌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2. 根据不同生活情境做出合理、安全的选择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3. 找出厨房、整理、清洁和礼貌行为中的错误，并说出正确做法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4. 观察并参与简单的肥皂制作过程（融化 → 倒模 → 冷却）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848A"/>
                </a:solidFill>
                <a:latin typeface="KaiTi"/>
              </a:rPr>
              <a:t>🗣️ 语言目标  Language: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👀 我会说：我发现…… / 应该…… / 我选择……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8346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✍️ 复习词语：洗手 · 分类 · 收拾 · 打扫 · 友善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0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💬 句型：我看到肥皂从______变成了______。我预测肥皂会______。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F6B53"/>
                </a:solidFill>
                <a:latin typeface="KaiTi"/>
              </a:rPr>
              <a:t>🎨 实践目标：用动作复习生活技能词语 + 参与肥皂制作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B4BC0"/>
                </a:solidFill>
                <a:latin typeface="KaiTi"/>
              </a:rPr>
              <a:t>🤝 社交目标：合作、等待、倾听、遵守安全规则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📚 我们学过什么？  What We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1993392" cy="3520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3268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C2C2C"/>
                </a:solidFill>
                <a:latin typeface="KaiTi"/>
              </a:rPr>
              <a:t>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EF6B53"/>
                </a:solidFill>
                <a:latin typeface="Microsoft YaHei"/>
              </a:rPr>
              <a:t>厨房安全与做食物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836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88888"/>
                </a:solidFill>
                <a:latin typeface="KaiTi"/>
              </a:rPr>
              <a:t>Kitchen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194560"/>
            <a:ext cx="17556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做饭前洗手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远离炉灶和热锅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锅柄朝内 · 小心刀具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制作三明治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822960"/>
            <a:ext cx="1993392" cy="3520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93268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C2C2C"/>
                </a:solidFill>
                <a:latin typeface="KaiTi"/>
              </a:rPr>
              <a:t>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1536192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6848A"/>
                </a:solidFill>
                <a:latin typeface="Microsoft YaHei"/>
              </a:rPr>
              <a:t>整理物品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18836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88888"/>
                </a:solidFill>
                <a:latin typeface="KaiTi"/>
              </a:rPr>
              <a:t>Organizing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194560"/>
            <a:ext cx="17556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折衣服 · 整理书包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整理行李箱 · 抽屉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把物品分类摆放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822960"/>
            <a:ext cx="1993392" cy="3520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E8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93268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C2C2C"/>
                </a:solidFill>
                <a:latin typeface="KaiTi"/>
              </a:rPr>
              <a:t>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536192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3E8EC4"/>
                </a:solidFill>
                <a:latin typeface="Microsoft YaHei"/>
              </a:rPr>
              <a:t>清洁与家务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18836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88888"/>
                </a:solidFill>
                <a:latin typeface="KaiTi"/>
              </a:rPr>
              <a:t>Cleaning &amp; Chores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194560"/>
            <a:ext cx="17556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洗碗 · 洗衣服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分深浅色 · 查口袋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扫地 · 擦桌子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物归原位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8271" y="822960"/>
            <a:ext cx="1993392" cy="3520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1" y="93268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C2C2C"/>
                </a:solidFill>
                <a:latin typeface="KaiTi"/>
              </a:rPr>
              <a:t>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1" y="1536192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E85B81"/>
                </a:solidFill>
                <a:latin typeface="Microsoft YaHei"/>
              </a:rPr>
              <a:t>友善与礼貌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18836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88888"/>
                </a:solidFill>
                <a:latin typeface="KaiTi"/>
              </a:rPr>
              <a:t>Kindness &amp; Manners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7" y="2194560"/>
            <a:ext cx="17556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请 · 谢谢 · 对不起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不客气 · 主动帮助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欢迎客人 · 招待客人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📋 今天的挑战规则  Challenge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241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9264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认真听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335024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Listen carefully.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6976" y="82296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241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969264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先思考，再回答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496" y="1335024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Think before answering.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82296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0241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969264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不大声喊答案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35024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Do not shout.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1901952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048256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小组一起合作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414016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Work with your team.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1901952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6704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2048256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用工具前等老师指示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8496" y="2414016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Wait for the teacher.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9904" y="1901952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2048256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做肥皂不碰热材料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4" y="2414016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Do not touch hot materials.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035808"/>
            <a:ext cx="4114800" cy="9601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08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18F0A"/>
                </a:solidFill>
                <a:latin typeface="KaiTi"/>
              </a:rPr>
              <a:t>✋ 三个手势规则  Hand Signals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0156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👍 我同意    ✋ 我有答案    🤫 小组安静讨论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45152" y="3035808"/>
            <a:ext cx="4114800" cy="9601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3108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848A"/>
                </a:solidFill>
                <a:latin typeface="KaiTi"/>
              </a:rPr>
              <a:t>🪑 分组  Table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340156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全班分成 6–8 个桌面小组，每组取一个队名，
合作、安静倾听、答对都可以得星星 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60520"/>
            <a:ext cx="8412480" cy="5029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19956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B4BC0"/>
                </a:solidFill>
                <a:latin typeface="KaiTi"/>
              </a:rPr>
              <a:t>🌟 今天不比谁最快，比谁最会合作、最会说清楚！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🙋 Part 1 · 生活技能二选一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1460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KaiTi"/>
              </a:rPr>
              <a:t>Would You Rather?  ⏱ 5–8 分钟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KaiTi"/>
              </a:rPr>
              <a:t>☝️ 选 A 举一根手指    ✌️ 选 B 举两根手指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🙋 怎么玩？  How to 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5120640" cy="5852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C2C2C"/>
                </a:solidFill>
                <a:latin typeface="KaiTi"/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7782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老师读出两个选择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1521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Teacher reads two choices.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481328"/>
            <a:ext cx="5120640" cy="5852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9105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C2C2C"/>
                </a:solidFill>
                <a:latin typeface="KaiTi"/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学生用手指作答，坐在座位上不动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8105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☝️ = A    ✌️ =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139696"/>
            <a:ext cx="5120640" cy="5852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2494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C2C2C"/>
                </a:solidFill>
                <a:latin typeface="KaiTi"/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19456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请 1–2 名学生说出原因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46887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Use a full sentence.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798064"/>
            <a:ext cx="5120640" cy="5852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9077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C2C2C"/>
                </a:solidFill>
                <a:latin typeface="KaiTi"/>
              </a:rP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5292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不需要每题都解释，选 2–3 题即可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Keep it moving!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822960"/>
            <a:ext cx="3090672" cy="25603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896112"/>
            <a:ext cx="2798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D18F0A"/>
                </a:solidFill>
                <a:latin typeface="KaiTi"/>
              </a:rPr>
              <a:t>💬 句子提示  Sentence Frames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1225296"/>
            <a:ext cx="27980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我选择______，因为______。</a:t>
            </a:r>
          </a:p>
          <a:p>
            <a:r>
              <a:rPr sz="950" b="0">
                <a:solidFill>
                  <a:srgbClr val="888888"/>
                </a:solidFill>
                <a:latin typeface="KaiTi"/>
              </a:rPr>
              <a:t>I would choose ___ because ___.</a:t>
            </a:r>
          </a:p>
          <a:p>
            <a:r>
              <a:rPr sz="1200" b="1">
                <a:solidFill>
                  <a:srgbClr val="2C2C2C"/>
                </a:solidFill>
                <a:latin typeface="KaiTi"/>
              </a:rPr>
              <a:t>我觉得______比较容易。</a:t>
            </a:r>
          </a:p>
          <a:p>
            <a:r>
              <a:rPr sz="950" b="0">
                <a:solidFill>
                  <a:srgbClr val="888888"/>
                </a:solidFill>
                <a:latin typeface="KaiTi"/>
              </a:rPr>
              <a:t>I think ___ is easier.</a:t>
            </a:r>
          </a:p>
          <a:p>
            <a:r>
              <a:rPr sz="1200" b="1">
                <a:solidFill>
                  <a:srgbClr val="2C2C2C"/>
                </a:solidFill>
                <a:latin typeface="KaiTi"/>
              </a:rPr>
              <a:t>我比较会______。</a:t>
            </a:r>
          </a:p>
          <a:p>
            <a:r>
              <a:rPr sz="950" b="0">
                <a:solidFill>
                  <a:srgbClr val="888888"/>
                </a:solidFill>
                <a:latin typeface="KaiTi"/>
              </a:rPr>
              <a:t>I am better at ___.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520440"/>
            <a:ext cx="8412480" cy="5029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79876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B4BC0"/>
                </a:solidFill>
                <a:latin typeface="KaiTi"/>
              </a:rPr>
              <a:t>⚠️ 全班坐好，只用手势 —— 不要让学生跑到教室两边！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🙋 二选一 · 第 1 题  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Microsoft YaHei"/>
              </a:rPr>
              <a:t>你愿意折十件衣服，还是洗十个盘子？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Would you rather fold ten shirts or wash ten dishes?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960120" cy="384048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A  ☝️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4BC0"/>
                </a:solidFill>
                <a:latin typeface="KaiTi"/>
              </a:rPr>
              <a:t>折衣服  Fold clothes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755648"/>
            <a:ext cx="960120" cy="384048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B  ✌️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848A"/>
                </a:solidFill>
                <a:latin typeface="KaiTi"/>
              </a:rPr>
              <a:t>洗盘子  Wash dishes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3308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☝️ 选 A 举一根手指      ✌️ 选 B 举两根手指      💬 我选择______，因为______。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🙋 二选一 · 第 2 题  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Microsoft YaHei"/>
              </a:rPr>
              <a:t>你愿意整理一个乱乱的书包，还是整理一个乱乱的抽屉？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Would you rather organize a messy backpack or a messy drawer?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960120" cy="384048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A  ☝️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4BC0"/>
                </a:solidFill>
                <a:latin typeface="KaiTi"/>
              </a:rPr>
              <a:t>整理书包  Organize a backpack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755648"/>
            <a:ext cx="960120" cy="384048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B  ✌️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🗄️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848A"/>
                </a:solidFill>
                <a:latin typeface="KaiTi"/>
              </a:rPr>
              <a:t>整理抽屉  Organize a drawer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3308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☝️ 选 A 举一根手指      ✌️ 选 B 举两根手指      💬 我选择______，因为______。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🙋 二选一 · 第 3 题  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Microsoft YaHei"/>
              </a:rPr>
              <a:t>你愿意做三明治，还是帮忙摆餐具？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Would you rather make a sandwich or set the table?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960120" cy="384048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A  ☝️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4BC0"/>
                </a:solidFill>
                <a:latin typeface="KaiTi"/>
              </a:rPr>
              <a:t>做三明治  Make a sandwich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755648"/>
            <a:ext cx="960120" cy="384048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B  ✌️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🍽️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848A"/>
                </a:solidFill>
                <a:latin typeface="KaiTi"/>
              </a:rPr>
              <a:t>摆餐具  Set the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3308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☝️ 选 A 举一根手指      ✌️ 选 B 举两根手指      💬 我选择______，因为______。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🙋 二选一 · 第 4 题  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Microsoft YaHei"/>
              </a:rPr>
              <a:t>你愿意扫地，还是擦桌子？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Would you rather sweep the floor or wipe the desks?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960120" cy="384048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A  ☝️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4BC0"/>
                </a:solidFill>
                <a:latin typeface="KaiTi"/>
              </a:rPr>
              <a:t>扫地  Sweep the floor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755648"/>
            <a:ext cx="960120" cy="384048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B  ✌️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848A"/>
                </a:solidFill>
                <a:latin typeface="KaiTi"/>
              </a:rPr>
              <a:t>擦桌子  Wipe the desks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3308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☝️ 选 A 举一根手指      ✌️ 选 B 举两根手指      💬 我选择______，因为______。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🙋 二选一 · 第 5 题  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Microsoft YaHei"/>
              </a:rPr>
              <a:t>你愿意整理行李箱，还是整理书包？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Would you rather pack a suitcase or organize a backpack?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960120" cy="384048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A  ☝️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4BC0"/>
                </a:solidFill>
                <a:latin typeface="KaiTi"/>
              </a:rPr>
              <a:t>整理行李箱  Pack a suitcase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755648"/>
            <a:ext cx="960120" cy="384048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B  ✌️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848A"/>
                </a:solidFill>
                <a:latin typeface="KaiTi"/>
              </a:rPr>
              <a:t>整理书包  Organize a backpack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3308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☝️ 选 A 举一根手指      ✌️ 选 B 举两根手指      💬 我选择______，因为______。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🙋 二选一 · 第 6 题  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8638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Microsoft YaHei"/>
              </a:rPr>
              <a:t>你愿意一个人完成家务，还是和家人一起完成？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Would you rather do chores alone or with your family?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960120" cy="384048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A  ☝️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4BC0"/>
                </a:solidFill>
                <a:latin typeface="KaiTi"/>
              </a:rPr>
              <a:t>一个人  Alone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645920"/>
            <a:ext cx="388620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755648"/>
            <a:ext cx="960120" cy="384048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830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B  ✌️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12848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👨‍👩‍👧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848A"/>
                </a:solidFill>
                <a:latin typeface="KaiTi"/>
              </a:rPr>
              <a:t>和家人一起  With my family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3308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☝️ 选 A 举一根手指      ✌️ 选 B 举两根手指      💬 我选择______，因为______。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🔍 Part 2 · 生活技能小侦探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1460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KaiTi"/>
              </a:rPr>
              <a:t>Find the Mistakes  ⏱ 10 分钟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KaiTi"/>
              </a:rPr>
              <a:t>🔍 找错误（厨房 · 书包 · 洗衣）+ 🎭 翻转「剧情」（友善礼貌）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🔍 怎么玩？  Life Skills Detectives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905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5039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看图片，安静观察 20–30 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10642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Look carefully. Stay quiet.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426464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5389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小组轻声讨论 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0992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Whisper with your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029968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1122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574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把「错误的数量」写在小白板上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31343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Write how many mistakes.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633472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715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60903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老师请不同小组说出一个错误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91693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One mistake per team.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236976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3319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5️⃣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644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找到错误后，还要说出正确做法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5204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Also say what we SHOULD 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822960"/>
            <a:ext cx="3090672" cy="237744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5584" y="896112"/>
            <a:ext cx="2798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D18F0A"/>
                </a:solidFill>
                <a:latin typeface="KaiTi"/>
              </a:rPr>
              <a:t>💬 句子提示  Sentence Frames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1225296"/>
            <a:ext cx="279806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我发现______。</a:t>
            </a:r>
          </a:p>
          <a:p>
            <a:r>
              <a:rPr sz="950" b="0">
                <a:solidFill>
                  <a:srgbClr val="888888"/>
                </a:solidFill>
                <a:latin typeface="KaiTi"/>
              </a:rPr>
              <a:t>I found ___.</a:t>
            </a:r>
          </a:p>
          <a:p>
            <a:r>
              <a:rPr sz="1200" b="1">
                <a:solidFill>
                  <a:srgbClr val="2C2C2C"/>
                </a:solidFill>
                <a:latin typeface="KaiTi"/>
              </a:rPr>
              <a:t>这样不安全，因为______。</a:t>
            </a:r>
          </a:p>
          <a:p>
            <a:r>
              <a:rPr sz="950" b="0">
                <a:solidFill>
                  <a:srgbClr val="888888"/>
                </a:solidFill>
                <a:latin typeface="KaiTi"/>
              </a:rPr>
              <a:t>This is unsafe because ___.</a:t>
            </a:r>
          </a:p>
          <a:p>
            <a:r>
              <a:rPr sz="1200" b="1">
                <a:solidFill>
                  <a:srgbClr val="2C2C2C"/>
                </a:solidFill>
                <a:latin typeface="KaiTi"/>
              </a:rPr>
              <a:t>应该______。</a:t>
            </a:r>
          </a:p>
          <a:p>
            <a:r>
              <a:rPr sz="950" b="0">
                <a:solidFill>
                  <a:srgbClr val="888888"/>
                </a:solidFill>
                <a:latin typeface="KaiTi"/>
              </a:rPr>
              <a:t>We should ___.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931920"/>
            <a:ext cx="8412480" cy="5029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91356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848A"/>
                </a:solidFill>
                <a:latin typeface="KaiTi"/>
              </a:rPr>
              <a:t>🤫 每组只说一个错误 —— 让更多小组有机会发言，不重复。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🔍 找一找：厨房里有什么错误？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88888"/>
                </a:solidFill>
                <a:latin typeface="KaiTi"/>
              </a:rPr>
              <a:t>What Is Wrong in the Kitchen?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3749039" cy="3017520"/>
          </a:xfrm>
          <a:prstGeom prst="roundRect">
            <a:avLst/>
          </a:prstGeom>
          <a:solidFill>
            <a:srgbClr val="E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3529583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📷 儿童卡通厨房图（含 5 个明显错误）：
小朋友没洗手就做饭 · 锅柄朝外 ·
热汤放在桌子边缘 · 小手伸向刀 ·
地上有水没有擦干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965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F6B53"/>
                </a:solidFill>
                <a:latin typeface="KaiTi"/>
              </a:rPr>
              <a:t>🔍 你能找到 5 个错误吗？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005840"/>
            <a:ext cx="4443984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0607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453A"/>
                </a:solidFill>
                <a:latin typeface="KaiTi"/>
              </a:rPr>
              <a:t>❌ 错误在哪里？（点击逐个出现）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353312"/>
            <a:ext cx="4151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1. 小朋友做饭前没有洗手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2. 锅柄朝向外面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3. 热汤放在桌子边上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4. 小朋友把手伸向刀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5. 地上有水，但没有擦干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834640"/>
            <a:ext cx="4443984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8895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9E7A"/>
                </a:solidFill>
                <a:latin typeface="KaiTi"/>
              </a:rPr>
              <a:t>✅ 应该怎么做？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182112"/>
            <a:ext cx="4151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做饭前要先洗手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锅柄应该朝内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热汤要放在桌子中间或靠里面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小朋友不能随便碰刀，要请大人帮忙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地上的水要马上擦干，防止滑倒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🔍 找一找：书包里有什么问题？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88888"/>
                </a:solidFill>
                <a:latin typeface="KaiTi"/>
              </a:rPr>
              <a:t>What Is Wrong With the Backpack?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3749039" cy="3017520"/>
          </a:xfrm>
          <a:prstGeom prst="roundRect">
            <a:avLst/>
          </a:prstGeom>
          <a:solidFill>
            <a:srgbClr val="E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3529583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📷 卡通书包剖面图（含 6 个问题）：
水杯没盖好 · 水杯压着作业本 ·
作业纸揉皱 · 香蕉直接放在书上 ·
书包里有垃圾 · 铅笔散落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965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848A"/>
                </a:solidFill>
                <a:latin typeface="KaiTi"/>
              </a:rPr>
              <a:t>🔍 你能找到 6 个错误吗？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005840"/>
            <a:ext cx="4443984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0607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453A"/>
                </a:solidFill>
                <a:latin typeface="KaiTi"/>
              </a:rPr>
              <a:t>❌ 错误在哪里？（点击逐个出现）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353312"/>
            <a:ext cx="4151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1. 水杯没有盖好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2. 水杯和作业本放在一起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3. 作业纸被揉皱了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4. 香蕉直接放在书本上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5. 书包里有垃圾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6. 铅笔散落，没有放进笔袋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834640"/>
            <a:ext cx="4443984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8895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9E7A"/>
                </a:solidFill>
                <a:latin typeface="KaiTi"/>
              </a:rPr>
              <a:t>✅ 应该怎么做？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182112"/>
            <a:ext cx="4151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盖好、拧紧水杯，放在侧边口袋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水杯和书本分开放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把作业放进文件夹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食物放进饭盒或食品袋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每天清理书包里的垃圾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把文具放进笔袋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3E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🔍 找一找：洗衣服时有什么错误？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88888"/>
                </a:solidFill>
                <a:latin typeface="KaiTi"/>
              </a:rPr>
              <a:t>What Is Wrong With the Laundry?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3749039" cy="3017520"/>
          </a:xfrm>
          <a:prstGeom prst="roundRect">
            <a:avLst/>
          </a:prstGeom>
          <a:solidFill>
            <a:srgbClr val="E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3529583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📷 卡通洗衣房图（含 5 个错误）：
深浅衣服混在一起 · 口袋里有纸巾 ·
洗衣机塞得太满 · 洗涤标签没看 ·
地上掉了一只袜子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965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E8EC4"/>
                </a:solidFill>
                <a:latin typeface="KaiTi"/>
              </a:rPr>
              <a:t>🔍 你能找到 5 个错误吗？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005840"/>
            <a:ext cx="4443984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0607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453A"/>
                </a:solidFill>
                <a:latin typeface="KaiTi"/>
              </a:rPr>
              <a:t>❌ 错误在哪里？（点击逐个出现）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353312"/>
            <a:ext cx="4151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1. 白色衣服和深色衣服混在一起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2. 没有检查口袋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3. 洗衣机装得太满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4. 完全没有看洗涤标签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5. 地上有一只袜子没有捡起来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834640"/>
            <a:ext cx="4443984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8895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9E7A"/>
                </a:solidFill>
                <a:latin typeface="KaiTi"/>
              </a:rPr>
              <a:t>✅ 应该怎么做？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182112"/>
            <a:ext cx="4151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深色和浅色衣服分开洗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洗衣服前先检查口袋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洗衣机不能装得太满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看一看衣服上的洗涤标签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把脏衣服全部放进洗衣篮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85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🎭 翻转「剧情」怎么玩？  Flip the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905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5039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看情景：发生了什么事？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10642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What happened?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426464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5389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读一读「冲突对话」⚡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0992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Read the conflict 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029968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1122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574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想一想：听了心里舒服吗？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31343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How would you feel?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633472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715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60903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把它「翻转」成友善的说法 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91693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Flip it into kind 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236976"/>
            <a:ext cx="512064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3319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5️⃣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644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两人一组，读一读、演一演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5204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Read it in pairs.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822960"/>
            <a:ext cx="3090672" cy="237744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5584" y="896112"/>
            <a:ext cx="2798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D18F0A"/>
                </a:solidFill>
                <a:latin typeface="KaiTi"/>
              </a:rPr>
              <a:t>💬 翻转小秘诀  Kind Words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1225296"/>
            <a:ext cx="279806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我的______被你______了，</a:t>
            </a:r>
          </a:p>
          <a:p>
            <a:r>
              <a:rPr sz="1200" b="1">
                <a:solidFill>
                  <a:srgbClr val="2C2C2C"/>
                </a:solidFill>
                <a:latin typeface="KaiTi"/>
              </a:rPr>
              <a:t>我感到很______。</a:t>
            </a:r>
          </a:p>
          <a:p>
            <a:r>
              <a:rPr sz="1200" b="1">
                <a:solidFill>
                  <a:srgbClr val="2C2C2C"/>
                </a:solidFill>
                <a:latin typeface="KaiTi"/>
              </a:rPr>
              <a:t>我希望你______。</a:t>
            </a:r>
          </a:p>
          <a:p>
            <a:r>
              <a:rPr sz="1200" b="1">
                <a:solidFill>
                  <a:srgbClr val="2C2C2C"/>
                </a:solidFill>
                <a:latin typeface="KaiTi"/>
              </a:rPr>
              <a:t>对不起，我刚刚太______了。</a:t>
            </a:r>
          </a:p>
          <a:p>
            <a:r>
              <a:rPr sz="1200" b="1">
                <a:solidFill>
                  <a:srgbClr val="2C2C2C"/>
                </a:solidFill>
                <a:latin typeface="KaiTi"/>
              </a:rPr>
              <a:t>你一定很______吧？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931920"/>
            <a:ext cx="8412480" cy="5029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91356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5B81"/>
                </a:solidFill>
                <a:latin typeface="KaiTi"/>
              </a:rPr>
              <a:t>✨ 说感受 + 说希望，不说「你干吗……」「你事真多」。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85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🎭 翻转「剧情」· 情景一 · 踩到脚  Flip the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749808"/>
            <a:ext cx="8375904" cy="84124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2C2C2C"/>
                </a:solidFill>
                <a:latin typeface="KaiTi"/>
              </a:rPr>
              <a:t>💡 情景背景：站路队时，亮亮着急忙慌地挤，一不小心踩到了明明的脚。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Liangliang rushes in line and steps on Mingming's foot.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4114800" cy="2788920"/>
          </a:xfrm>
          <a:prstGeom prst="roundRect">
            <a:avLst/>
          </a:prstGeom>
          <a:solidFill>
            <a:srgbClr val="FDEEF2"/>
          </a:solidFill>
          <a:ln w="3175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5B81"/>
                </a:solidFill>
                <a:latin typeface="Microsoft YaHei"/>
              </a:rPr>
              <a:t>⚡ 冲突对话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05456"/>
            <a:ext cx="37490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E85B81"/>
                </a:solidFill>
                <a:latin typeface="KaiTi"/>
              </a:rPr>
              <a:t>明明：</a:t>
            </a:r>
            <a:r>
              <a:rPr sz="1300">
                <a:solidFill>
                  <a:srgbClr val="2C2C2C"/>
                </a:solidFill>
                <a:latin typeface="KaiTi"/>
              </a:rPr>
              <a:t>「你干吗踩我？」</a:t>
            </a:r>
          </a:p>
          <a:p>
            <a:r>
              <a:rPr sz="5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E85B81"/>
                </a:solidFill>
                <a:latin typeface="KaiTi"/>
              </a:rPr>
              <a:t>亮亮：</a:t>
            </a:r>
            <a:r>
              <a:rPr sz="1300">
                <a:solidFill>
                  <a:srgbClr val="2C2C2C"/>
                </a:solidFill>
                <a:latin typeface="KaiTi"/>
              </a:rPr>
              <a:t>「你事真多，我又没看见。」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1755648"/>
            <a:ext cx="4114800" cy="2788920"/>
          </a:xfrm>
          <a:prstGeom prst="roundRect">
            <a:avLst/>
          </a:prstGeom>
          <a:solidFill>
            <a:srgbClr val="E7F6E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9E7A"/>
                </a:solidFill>
                <a:latin typeface="Microsoft YaHei"/>
              </a:rPr>
              <a:t>✨ 友善翻转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194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Kind Flip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505456"/>
            <a:ext cx="37490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2E9E7A"/>
                </a:solidFill>
                <a:latin typeface="KaiTi"/>
              </a:rPr>
              <a:t>明明：</a:t>
            </a:r>
            <a:r>
              <a:rPr sz="1300">
                <a:solidFill>
                  <a:srgbClr val="2C2C2C"/>
                </a:solidFill>
                <a:latin typeface="KaiTi"/>
              </a:rPr>
              <a:t>「我的脚被你踩到了，我感到很疼，希望你站路队时慢一点。」</a:t>
            </a:r>
          </a:p>
          <a:p>
            <a:r>
              <a:rPr sz="5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2E9E7A"/>
                </a:solidFill>
                <a:latin typeface="KaiTi"/>
              </a:rPr>
              <a:t>亮亮：</a:t>
            </a:r>
            <a:r>
              <a:rPr sz="1300">
                <a:solidFill>
                  <a:srgbClr val="2C2C2C"/>
                </a:solidFill>
                <a:latin typeface="KaiTi"/>
              </a:rPr>
              <a:t>「我刚刚太着急了，没看见。以后我会慢一点。你一定很疼吧，严重吗？」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590288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👉 先读左边，再读右边 —— 哪一种听了心里更舒服？为什么？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85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🎭 翻转「剧情」· 情景二 · 借东西  Flip the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749808"/>
            <a:ext cx="8375904" cy="84124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2C2C2C"/>
                </a:solidFill>
                <a:latin typeface="KaiTi"/>
              </a:rPr>
              <a:t>💡 情景背景：小美想用同桌的彩笔，伸手就去拿。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Xiaomei wants her deskmate's markers and grabs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4114800" cy="2788920"/>
          </a:xfrm>
          <a:prstGeom prst="roundRect">
            <a:avLst/>
          </a:prstGeom>
          <a:solidFill>
            <a:srgbClr val="FDEEF2"/>
          </a:solidFill>
          <a:ln w="3175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5B81"/>
                </a:solidFill>
                <a:latin typeface="Microsoft YaHei"/>
              </a:rPr>
              <a:t>⚡ 冲突对话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05456"/>
            <a:ext cx="37490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E85B81"/>
                </a:solidFill>
                <a:latin typeface="KaiTi"/>
              </a:rPr>
              <a:t>小美：</a:t>
            </a:r>
            <a:r>
              <a:rPr sz="1300">
                <a:solidFill>
                  <a:srgbClr val="2C2C2C"/>
                </a:solidFill>
                <a:latin typeface="KaiTi"/>
              </a:rPr>
              <a:t>「把那个给我！」</a:t>
            </a:r>
          </a:p>
          <a:p>
            <a:r>
              <a:rPr sz="5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E85B81"/>
                </a:solidFill>
                <a:latin typeface="KaiTi"/>
              </a:rPr>
              <a:t>同桌：</a:t>
            </a:r>
            <a:r>
              <a:rPr sz="1300">
                <a:solidFill>
                  <a:srgbClr val="2C2C2C"/>
                </a:solidFill>
                <a:latin typeface="KaiTi"/>
              </a:rPr>
              <a:t>「凭什么给你？这是我的！」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1755648"/>
            <a:ext cx="4114800" cy="2788920"/>
          </a:xfrm>
          <a:prstGeom prst="roundRect">
            <a:avLst/>
          </a:prstGeom>
          <a:solidFill>
            <a:srgbClr val="E7F6E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9E7A"/>
                </a:solidFill>
                <a:latin typeface="Microsoft YaHei"/>
              </a:rPr>
              <a:t>✨ 友善翻转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194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Kind Flip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505456"/>
            <a:ext cx="37490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2E9E7A"/>
                </a:solidFill>
                <a:latin typeface="KaiTi"/>
              </a:rPr>
              <a:t>小美：</a:t>
            </a:r>
            <a:r>
              <a:rPr sz="1300">
                <a:solidFill>
                  <a:srgbClr val="2C2C2C"/>
                </a:solidFill>
                <a:latin typeface="KaiTi"/>
              </a:rPr>
              <a:t>「请问，我可以用一下你的彩笔吗？我想涂天空。」</a:t>
            </a:r>
          </a:p>
          <a:p>
            <a:r>
              <a:rPr sz="5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2E9E7A"/>
                </a:solidFill>
                <a:latin typeface="KaiTi"/>
              </a:rPr>
              <a:t>同桌：</a:t>
            </a:r>
            <a:r>
              <a:rPr sz="1300">
                <a:solidFill>
                  <a:srgbClr val="2C2C2C"/>
                </a:solidFill>
                <a:latin typeface="KaiTi"/>
              </a:rPr>
              <a:t>「可以呀，用完记得还给我。」</a:t>
            </a:r>
          </a:p>
          <a:p>
            <a:r>
              <a:rPr sz="5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2E9E7A"/>
                </a:solidFill>
                <a:latin typeface="KaiTi"/>
              </a:rPr>
              <a:t>小美：</a:t>
            </a:r>
            <a:r>
              <a:rPr sz="1300">
                <a:solidFill>
                  <a:srgbClr val="2C2C2C"/>
                </a:solidFill>
                <a:latin typeface="KaiTi"/>
              </a:rPr>
              <a:t>「谢谢你！」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590288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👉 先读左边，再读右边 —— 哪一种听了心里更舒服？为什么？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85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🎭 翻转「剧情」· 情景三 · 客人来了  Flip the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749808"/>
            <a:ext cx="8375904" cy="84124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2C2C2C"/>
                </a:solidFill>
                <a:latin typeface="KaiTi"/>
              </a:rPr>
              <a:t>💡 情景背景：奶奶带着客人来家里，乐乐正在玩游戏，头也没抬。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Grandma brings a guest home while Lele is playing a game.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4114800" cy="2788920"/>
          </a:xfrm>
          <a:prstGeom prst="roundRect">
            <a:avLst/>
          </a:prstGeom>
          <a:solidFill>
            <a:srgbClr val="FDEEF2"/>
          </a:solidFill>
          <a:ln w="3175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5B81"/>
                </a:solidFill>
                <a:latin typeface="Microsoft YaHei"/>
              </a:rPr>
              <a:t>⚡ 冲突对话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05456"/>
            <a:ext cx="37490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E85B81"/>
                </a:solidFill>
                <a:latin typeface="KaiTi"/>
              </a:rPr>
              <a:t>客人：</a:t>
            </a:r>
            <a:r>
              <a:rPr sz="1300">
                <a:solidFill>
                  <a:srgbClr val="2C2C2C"/>
                </a:solidFill>
                <a:latin typeface="KaiTi"/>
              </a:rPr>
              <a:t>「（站在门口，没有人打招呼……）」</a:t>
            </a:r>
          </a:p>
          <a:p>
            <a:r>
              <a:rPr sz="5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E85B81"/>
                </a:solidFill>
                <a:latin typeface="KaiTi"/>
              </a:rPr>
              <a:t>乐乐：</a:t>
            </a:r>
            <a:r>
              <a:rPr sz="1300">
                <a:solidFill>
                  <a:srgbClr val="2C2C2C"/>
                </a:solidFill>
                <a:latin typeface="KaiTi"/>
              </a:rPr>
              <a:t>「（继续玩，不说话）」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1755648"/>
            <a:ext cx="4114800" cy="2788920"/>
          </a:xfrm>
          <a:prstGeom prst="roundRect">
            <a:avLst/>
          </a:prstGeom>
          <a:solidFill>
            <a:srgbClr val="E7F6E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9E7A"/>
                </a:solidFill>
                <a:latin typeface="Microsoft YaHei"/>
              </a:rPr>
              <a:t>✨ 友善翻转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194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Kind Flip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505456"/>
            <a:ext cx="37490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2E9E7A"/>
                </a:solidFill>
                <a:latin typeface="KaiTi"/>
              </a:rPr>
              <a:t>乐乐：</a:t>
            </a:r>
            <a:r>
              <a:rPr sz="1300">
                <a:solidFill>
                  <a:srgbClr val="2C2C2C"/>
                </a:solidFill>
                <a:latin typeface="KaiTi"/>
              </a:rPr>
              <a:t>「你好，欢迎来我们家！请坐，我给您倒杯水。」</a:t>
            </a:r>
          </a:p>
          <a:p>
            <a:r>
              <a:rPr sz="500" b="0">
                <a:solidFill>
                  <a:srgbClr val="2C2C2C"/>
                </a:solidFill>
                <a:latin typeface="KaiTi"/>
              </a:rPr>
              <a:t/>
            </a:r>
          </a:p>
          <a:p>
            <a:r>
              <a:rPr sz="1300" b="1">
                <a:solidFill>
                  <a:srgbClr val="2E9E7A"/>
                </a:solidFill>
                <a:latin typeface="KaiTi"/>
              </a:rPr>
              <a:t>客人：</a:t>
            </a:r>
            <a:r>
              <a:rPr sz="1300">
                <a:solidFill>
                  <a:srgbClr val="2C2C2C"/>
                </a:solidFill>
                <a:latin typeface="KaiTi"/>
              </a:rPr>
              <a:t>「谢谢你，真有礼貌！」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590288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👉 先读左边，再读右边 —— 哪一种听了心里更舒服？为什么？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🎭 Part 3 · 生活技能你演我猜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1460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KaiTi"/>
              </a:rPr>
              <a:t>Life Skills Charades  ⏱ 10 分钟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KaiTi"/>
              </a:rPr>
              <a:t>🎭 只能用动作，不能说话！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🎭 游戏规则  How to 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51206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2C2C"/>
                </a:solidFill>
                <a:latin typeface="KaiTi"/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每组轮流派一名学生到前面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335024"/>
            <a:ext cx="51206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3898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2C2C"/>
                </a:solidFill>
                <a:latin typeface="KaiTi"/>
              </a:rP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8074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学生看一张动作卡（其他人不看）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847088"/>
            <a:ext cx="51206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19019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2C2C"/>
                </a:solidFill>
                <a:latin typeface="KaiTi"/>
              </a:rPr>
              <a:t>3️⃣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892807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只能用动作表演，不能说话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359152"/>
            <a:ext cx="51206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24140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2C2C"/>
                </a:solidFill>
                <a:latin typeface="KaiTi"/>
              </a:rPr>
              <a:t>4️⃣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0487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其他小组安静观察，先小组讨论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871216"/>
            <a:ext cx="51206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9260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2C2C"/>
                </a:solidFill>
                <a:latin typeface="KaiTi"/>
              </a:rPr>
              <a:t>5️⃣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1693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老师说「请举手」，组长举手回答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383280"/>
            <a:ext cx="51206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34381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2C2C"/>
                </a:solidFill>
                <a:latin typeface="KaiTi"/>
              </a:rPr>
              <a:t>6️⃣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42900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猜对的小组得一颗星 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822960"/>
            <a:ext cx="3090672" cy="3072384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4" y="896112"/>
            <a:ext cx="2798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7B4BC0"/>
                </a:solidFill>
                <a:latin typeface="KaiTi"/>
              </a:rPr>
              <a:t>👥 40 人以上大班怎么控场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5584" y="1243584"/>
            <a:ext cx="27980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每轮只请 1 名学生表演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不允许全班同时喊答案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每组先讨论，再由组长举手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每个动作控制在 20–30 秒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共进行 8–10 轮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低年级抽简单词，高年级抽难词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023360"/>
            <a:ext cx="8412480" cy="5029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82796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F6B53"/>
                </a:solidFill>
                <a:latin typeface="KaiTi"/>
              </a:rPr>
              <a:t>⭐ 抢答不加分，安静等待和答对才加分！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🎭 动作词语 A · 简单（适合低年级）  Easy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68680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6984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39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洗手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2951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Wash hands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868680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106984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1920239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扫地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2951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Sweep the floor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864" y="868680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06984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1920239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擦桌子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2951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Wipe the desk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1" y="868680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1" y="106984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1920239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折衣服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1" y="22951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Fold clothes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834639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03580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🍽️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8862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洗碗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26110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Wash dishes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5456" y="2834639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5456" y="303580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5456" y="38862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做三明治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5456" y="426110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Make a sandwich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26864" y="2834639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03580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8862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整理书包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426110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Organize a backpack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48271" y="2834639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1" y="303580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1" y="38862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把物品放回原位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1" y="426110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Put things away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🎭 动作词语 B · 挑战（适合高年级）  Challenge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68680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6984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39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检查口袋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2951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Check the pockets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868680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106984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1920239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整理行李箱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2951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Pack a suitcase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864" y="868680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06984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1920239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把衣服分类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2951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Sort the clothes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1" y="868680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1" y="106984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1920239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把衣服放进洗衣机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1" y="22951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Put clothes in the washer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834639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03580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8862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欢迎客人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26110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Welcome a guest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5456" y="2834639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5456" y="303580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5456" y="38862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帮助朋友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5456" y="426110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Help a friend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26864" y="2834639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03580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8862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说「对不起」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426110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Say sorry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48271" y="2834639"/>
            <a:ext cx="1993392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1" y="3035808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1" y="388620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Microsoft YaHei"/>
              </a:rPr>
              <a:t>礼貌地请求帮助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1" y="426110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Ask politely for help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🌟 我们会这么多生活技能！  We Know So Many Life Skills!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68680"/>
            <a:ext cx="4160520" cy="1600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6926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B4BC0"/>
                </a:solidFill>
                <a:latin typeface="KaiTi"/>
              </a:rPr>
              <a:t>🤔 哪一个生活技能对你最有用？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Which life skill is most useful to you?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💬 我觉得______最有用，因为______。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0872" y="868680"/>
            <a:ext cx="4069080" cy="1600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9692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848A"/>
                </a:solidFill>
                <a:latin typeface="KaiTi"/>
              </a:rPr>
              <a:t>🏠 哪一个技能回家后可以继续练习？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3898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Which skill can you practice at home?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7373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💬 回家以后，我要______。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🍳  🎒  🧺  🧽  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337560"/>
            <a:ext cx="8412480" cy="54864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9856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B4BC0"/>
                </a:solidFill>
                <a:latin typeface="KaiTi"/>
              </a:rPr>
              <a:t>⏭️ 只请 2–3 名学生回答，然后进入今天的大活动 —— 做肥皂！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B22E"/>
                </a:solidFill>
                <a:latin typeface="KaiTi"/>
              </a:rPr>
              <a:t>🧼 下面，请所有人回到座位，眼睛看老师 —— 我们要开始做肥皂了！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🧼 Part 4 · 今天我们来制作肥皂！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1460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KaiTi"/>
              </a:rPr>
              <a:t>Let's Make Soap!  ⏱ 约 30 分钟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KaiTi"/>
              </a:rPr>
              <a:t>🧼 老师操作 · 学生观察、闻香味、选颜色、轮流搅拌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4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🧼 今天我们来制作肥皂！  Let's Make Soap!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68096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今天的肥皂主要由老师制作，小朋友这样参与：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8872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40817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5331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观察制作步骤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71907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Watch each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118872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40817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35331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闻一闻安全的香味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171907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Smell the fragrance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18872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40817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135331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帮助选择颜色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171907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Vote for the color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28600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505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059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在老师指导下轮流搅拌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81635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Take turns stirring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6976" y="228600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6704" y="2505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245059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看老师倒进模具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496" y="281635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Watch the teacher pour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2286000"/>
            <a:ext cx="26974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2505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245059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预测冷却后会怎么样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281635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Predict what happens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456432"/>
            <a:ext cx="8375904" cy="9601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29584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D8453A"/>
                </a:solidFill>
                <a:latin typeface="KaiTi"/>
              </a:rPr>
              <a:t>⚠️ 重要  Important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803904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请根据实际购买的肥皂套装调整步骤。本课默认使用儿童活动常见的「融化后倒模」肥皂套装（Melt &amp; Pour）。
课堂中不要让学生接触烧碱、强碱或任何腐蚀性材料。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D8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⚠️ 制作肥皂安全规则  Soap-Making Safety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786384"/>
            <a:ext cx="8375904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8778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C2C2C"/>
                </a:solidFill>
                <a:latin typeface="KaiTi"/>
              </a:rPr>
              <a:t>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83210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1. 不碰热的容器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877824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888888"/>
                </a:solidFill>
                <a:latin typeface="KaiTi"/>
              </a:rPr>
              <a:t>Do not touch hot containers.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408176"/>
            <a:ext cx="8375904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49961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C2C2C"/>
                </a:solidFill>
                <a:latin typeface="KaiTi"/>
              </a:rPr>
              <a:t>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5389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2. 不把材料放进嘴里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499616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888888"/>
                </a:solidFill>
                <a:latin typeface="KaiTi"/>
              </a:rPr>
              <a:t>Do not taste the materials.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029968"/>
            <a:ext cx="8375904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1214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C2C2C"/>
                </a:solidFill>
                <a:latin typeface="KaiTi"/>
              </a:rPr>
              <a:t>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07568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3. 没有老师允许，不碰桌上的材料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12140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888888"/>
                </a:solidFill>
                <a:latin typeface="KaiTi"/>
              </a:rPr>
              <a:t>Wait for the teacher's permission.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651760"/>
            <a:ext cx="8375904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27432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C2C2C"/>
                </a:solidFill>
                <a:latin typeface="KaiTi"/>
              </a:rPr>
              <a:t>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97479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4. 搅拌时要慢慢搅拌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743200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888888"/>
                </a:solidFill>
                <a:latin typeface="KaiTi"/>
              </a:rPr>
              <a:t>Stir slowly.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273552"/>
            <a:ext cx="8375904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3649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C2C2C"/>
                </a:solidFill>
                <a:latin typeface="KaiTi"/>
              </a:rPr>
              <a:t>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31927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5. 倒入模具由老师操作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36499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888888"/>
                </a:solidFill>
                <a:latin typeface="KaiTi"/>
              </a:rPr>
              <a:t>The teacher pours the soap.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895344"/>
            <a:ext cx="8375904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98678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C2C2C"/>
                </a:solidFill>
                <a:latin typeface="KaiTi"/>
              </a:rPr>
              <a:t>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94106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6. 完成后要洗手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986784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888888"/>
                </a:solidFill>
                <a:latin typeface="KaiTi"/>
              </a:rPr>
              <a:t>Wash your hands afterward.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517136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8453A"/>
                </a:solidFill>
                <a:latin typeface="KaiTi"/>
              </a:rPr>
              <a:t>🙌 老师带读，学生一边做动作一边齐读 —— 读完才发材料！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4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🧰 我们需要什么？  What Do We Need?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1993392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9611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53312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C2C2C"/>
                </a:solidFill>
                <a:latin typeface="Microsoft YaHei"/>
              </a:rPr>
              <a:t>肥皂基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2763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Soap 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822960"/>
            <a:ext cx="1993392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89611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1353312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C2C2C"/>
                </a:solidFill>
                <a:latin typeface="Microsoft YaHei"/>
              </a:rPr>
              <a:t>安全色素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162763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Soap color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864" y="822960"/>
            <a:ext cx="1993392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89611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1353312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C2C2C"/>
                </a:solidFill>
                <a:latin typeface="Microsoft YaHei"/>
              </a:rPr>
              <a:t>肥皂香味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62763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Fragrance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1" y="822960"/>
            <a:ext cx="1993392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1" y="89611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1353312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C2C2C"/>
                </a:solidFill>
                <a:latin typeface="Microsoft YaHei"/>
              </a:rPr>
              <a:t>搅拌棒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1" y="162763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Stirring stick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011680"/>
            <a:ext cx="1993392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08483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2542032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C2C2C"/>
                </a:solidFill>
                <a:latin typeface="Microsoft YaHei"/>
              </a:rPr>
              <a:t>耐热杯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281635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Heat-safe cup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5456" y="2011680"/>
            <a:ext cx="1993392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5456" y="208483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5456" y="2542032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C2C2C"/>
                </a:solidFill>
                <a:latin typeface="Microsoft YaHei"/>
              </a:rPr>
              <a:t>肥皂模具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5456" y="281635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Soap mold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26864" y="2011680"/>
            <a:ext cx="1993392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208483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2542032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C2C2C"/>
                </a:solidFill>
                <a:latin typeface="Microsoft YaHei"/>
              </a:rPr>
              <a:t>手套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281635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Gloves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48271" y="2011680"/>
            <a:ext cx="1993392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1" y="208483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🍽️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1" y="2542032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C2C2C"/>
                </a:solidFill>
                <a:latin typeface="Microsoft YaHei"/>
              </a:rPr>
              <a:t>托盘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1" y="281635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Tray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" y="3310128"/>
            <a:ext cx="8375904" cy="11887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38328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6848A"/>
                </a:solidFill>
                <a:latin typeface="KaiTi"/>
              </a:rPr>
              <a:t>🧑‍🏫 教师准备  Teacher Prep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675887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提前把材料按顺序摆好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桌面铺桌布或托盘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热的材料只放在教师操作区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3675887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学生与加热设备保持距离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提前确认学生是否对香味敏感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香味不要添加过多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4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🧼 肥皂是怎么做出来的？（1–4 步）  How Do We Make Soap?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41248"/>
            <a:ext cx="4069080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987552"/>
            <a:ext cx="457200" cy="457200"/>
          </a:xfrm>
          <a:prstGeom prst="ellipse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33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96926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F6B53"/>
                </a:solidFill>
                <a:latin typeface="Microsoft YaHei"/>
              </a:rPr>
              <a:t>准备肥皂基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3533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Prepare the soap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166420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C2C2C"/>
                </a:solidFill>
                <a:latin typeface="KaiTi"/>
              </a:rPr>
              <a:t>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8470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👉 老师把肥皂基切成小块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288" y="841248"/>
            <a:ext cx="4069080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79" y="987552"/>
            <a:ext cx="457200" cy="457200"/>
          </a:xfrm>
          <a:prstGeom prst="ellipse">
            <a:avLst/>
          </a:prstGeom>
          <a:solidFill>
            <a:srgbClr val="D8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033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7" y="96926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D8453A"/>
                </a:solidFill>
                <a:latin typeface="Microsoft YaHei"/>
              </a:rPr>
              <a:t>加热融化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3533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Melt the soap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166420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C2C2C"/>
                </a:solidFill>
                <a:latin typeface="KaiTi"/>
              </a:rPr>
              <a:t>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5" y="18470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👉 由老师操作加热设备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715768"/>
            <a:ext cx="4069080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0779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284378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B4BC0"/>
                </a:solidFill>
                <a:latin typeface="Microsoft YaHei"/>
              </a:rPr>
              <a:t>加入颜色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3227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Add color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3538727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C2C2C"/>
                </a:solidFill>
                <a:latin typeface="KaiTi"/>
              </a:rPr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7216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👉 请学生投票选择颜色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0288" y="2715768"/>
            <a:ext cx="4069080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54879" y="2862072"/>
            <a:ext cx="457200" cy="457200"/>
          </a:xfrm>
          <a:prstGeom prst="ellipse">
            <a:avLst/>
          </a:prstGeom>
          <a:solidFill>
            <a:srgbClr val="E85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290779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7" y="284378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5B81"/>
                </a:solidFill>
                <a:latin typeface="Microsoft YaHei"/>
              </a:rPr>
              <a:t>加入香味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3227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Add fragrance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6408" y="3538727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C2C2C"/>
                </a:solidFill>
                <a:latin typeface="KaiTi"/>
              </a:rPr>
              <a:t>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1455" y="37216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👉 只加入少量香味材料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4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🧼 肥皂是怎么做出来的？（5–7 步）  How Do We Make Soap?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41248"/>
            <a:ext cx="2697480" cy="2468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987552"/>
            <a:ext cx="457200" cy="457200"/>
          </a:xfrm>
          <a:prstGeom prst="ellipse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332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9692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848A"/>
                </a:solidFill>
                <a:latin typeface="Microsoft YaHei"/>
              </a:rPr>
              <a:t>慢慢搅拌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3619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C2C2C"/>
                </a:solidFill>
                <a:latin typeface="KaiTi"/>
              </a:rPr>
              <a:t>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21284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Stir slowly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5146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学生在老师帮助下轮流搅拌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841248"/>
            <a:ext cx="2697480" cy="2468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E8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01568" y="987552"/>
            <a:ext cx="457200" cy="457200"/>
          </a:xfrm>
          <a:prstGeom prst="ellipse">
            <a:avLst/>
          </a:prstGeom>
          <a:solidFill>
            <a:srgbClr val="3E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0332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9692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E8EC4"/>
                </a:solidFill>
                <a:latin typeface="Microsoft YaHei"/>
              </a:rPr>
              <a:t>倒入模具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153619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C2C2C"/>
                </a:solidFill>
                <a:latin typeface="KaiTi"/>
              </a:rPr>
              <a:t>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221284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Pour into the mold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25146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由老师完成，学生站在安全距离观察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841248"/>
            <a:ext cx="2697480" cy="2468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987552"/>
            <a:ext cx="457200" cy="457200"/>
          </a:xfrm>
          <a:prstGeom prst="ellipse">
            <a:avLst/>
          </a:prstGeom>
          <a:solidFill>
            <a:srgbClr val="2E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0332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9692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9E7A"/>
                </a:solidFill>
                <a:latin typeface="Microsoft YaHei"/>
              </a:rPr>
              <a:t>等待冷却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153619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C2C2C"/>
                </a:solidFill>
                <a:latin typeface="KaiTi"/>
              </a:rPr>
              <a:t>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21284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Let it cool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25146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肥皂冷却后会慢慢变硬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74720"/>
            <a:ext cx="8412480" cy="54864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557015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8453A"/>
                </a:solidFill>
                <a:latin typeface="KaiTi"/>
              </a:rPr>
              <a:t>⚠️ 倒模时全班安静观察，只有老师可以拿热的容器。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160520"/>
            <a:ext cx="8375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D18F0A"/>
                </a:solidFill>
                <a:latin typeface="KaiTi"/>
              </a:rPr>
              <a:t>⏳ 肥皂大约需要 30–60 分钟才会变硬。如果时间不够，老师可以课后脱模，下次上课或放学时发给小朋友。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👥 每个人都可以参与  Everyone Can Participate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班级人数超过 40 人，不让每个学生都到前面 —— 每组领一个观察任务，全组都有事做。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60704"/>
            <a:ext cx="1993392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488" y="1152144"/>
            <a:ext cx="365760" cy="365760"/>
          </a:xfrm>
          <a:prstGeom prst="ellipse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7957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152144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27631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B4BC0"/>
                </a:solidFill>
                <a:latin typeface="Microsoft YaHei"/>
              </a:rPr>
              <a:t>颜色观察员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20239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KaiTi"/>
              </a:rPr>
              <a:t>Color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17627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  <a:latin typeface="KaiTi"/>
              </a:rPr>
              <a:t>观察颜色并投票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1060704"/>
            <a:ext cx="1993392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96896" y="1152144"/>
            <a:ext cx="365760" cy="365760"/>
          </a:xfrm>
          <a:prstGeom prst="ellipse">
            <a:avLst/>
          </a:prstGeom>
          <a:solidFill>
            <a:srgbClr val="E85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17957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1152144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1627631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5B81"/>
                </a:solidFill>
                <a:latin typeface="Microsoft YaHei"/>
              </a:rPr>
              <a:t>香味观察员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1920239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KaiTi"/>
              </a:rPr>
              <a:t>Fragrance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5184" y="217627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  <a:latin typeface="KaiTi"/>
              </a:rPr>
              <a:t>描述香味，不碰液体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6864" y="1060704"/>
            <a:ext cx="1993392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18303" y="1152144"/>
            <a:ext cx="365760" cy="365760"/>
          </a:xfrm>
          <a:prstGeom prst="ellipse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3" y="117957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3" y="1152144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1627631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848A"/>
                </a:solidFill>
                <a:latin typeface="Microsoft YaHei"/>
              </a:rPr>
              <a:t>步骤专家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1920239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KaiTi"/>
              </a:rPr>
              <a:t>Steps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217627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  <a:latin typeface="KaiTi"/>
              </a:rPr>
              <a:t>把制作步骤说出来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48271" y="1060704"/>
            <a:ext cx="1993392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9711" y="1152144"/>
            <a:ext cx="365760" cy="365760"/>
          </a:xfrm>
          <a:prstGeom prst="ellipse">
            <a:avLst/>
          </a:prstGeom>
          <a:solidFill>
            <a:srgbClr val="D8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1" y="117957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1" y="1152144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1" y="1627631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8453A"/>
                </a:solidFill>
                <a:latin typeface="Microsoft YaHei"/>
              </a:rPr>
              <a:t>安全监督员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1" y="1920239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KaiTi"/>
              </a:rPr>
              <a:t>Safety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7999" y="217627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  <a:latin typeface="KaiTi"/>
              </a:rPr>
              <a:t>看大家有没有遵守规则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2816352"/>
            <a:ext cx="1993392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5488" y="2907792"/>
            <a:ext cx="365760" cy="365760"/>
          </a:xfrm>
          <a:prstGeom prst="ellipse">
            <a:avLst/>
          </a:prstGeom>
          <a:solidFill>
            <a:srgbClr val="F4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9352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290779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3383280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4B22E"/>
                </a:solidFill>
                <a:latin typeface="Microsoft YaHei"/>
              </a:rPr>
              <a:t>搅拌助手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3675887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KaiTi"/>
              </a:rPr>
              <a:t>Stirring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393192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  <a:latin typeface="KaiTi"/>
              </a:rPr>
              <a:t>选 1–2 名代表搅拌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05456" y="2816352"/>
            <a:ext cx="1993392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96896" y="2907792"/>
            <a:ext cx="365760" cy="365760"/>
          </a:xfrm>
          <a:prstGeom prst="ellipse">
            <a:avLst/>
          </a:prstGeom>
          <a:solidFill>
            <a:srgbClr val="3E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96896" y="29352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08376" y="290779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05456" y="3383280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E8EC4"/>
                </a:solidFill>
                <a:latin typeface="Microsoft YaHei"/>
              </a:rPr>
              <a:t>形状设计师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05456" y="3675887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KaiTi"/>
              </a:rPr>
              <a:t>Shape 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15184" y="393192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  <a:latin typeface="KaiTi"/>
              </a:rPr>
              <a:t>观察模具的形状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26864" y="2816352"/>
            <a:ext cx="1993392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18303" y="2907792"/>
            <a:ext cx="365760" cy="365760"/>
          </a:xfrm>
          <a:prstGeom prst="ellipse">
            <a:avLst/>
          </a:prstGeom>
          <a:solidFill>
            <a:srgbClr val="2E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8303" y="29352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9783" y="290779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26864" y="3383280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7A"/>
                </a:solidFill>
                <a:latin typeface="Microsoft YaHei"/>
              </a:rPr>
              <a:t>科学观察员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26864" y="3675887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KaiTi"/>
              </a:rPr>
              <a:t>Science Team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36592" y="393192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  <a:latin typeface="KaiTi"/>
              </a:rPr>
              <a:t>固体→液体→固体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48271" y="2816352"/>
            <a:ext cx="1993392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839711" y="2907792"/>
            <a:ext cx="365760" cy="365760"/>
          </a:xfrm>
          <a:prstGeom prst="ellipse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39711" y="29352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1191" y="290779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1" y="3383280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6B53"/>
                </a:solidFill>
                <a:latin typeface="Microsoft YaHei"/>
              </a:rPr>
              <a:t>清洁小助手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1" y="3675887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KaiTi"/>
              </a:rPr>
              <a:t>Cleaning Team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7999" y="393192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  <a:latin typeface="KaiTi"/>
              </a:rPr>
              <a:t>结束后整理安全物品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🤔 想一想  Think About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52120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9875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914400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现在的肥皂是固体还是液体？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243584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Is the soap a solid or a liquid now?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645920"/>
            <a:ext cx="52120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8105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❄️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737360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冷却以后会发生什么？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066544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What will happen after it cools?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468880"/>
            <a:ext cx="52120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6334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560320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C2C2C"/>
                </a:solidFill>
                <a:latin typeface="KaiTi"/>
              </a:rPr>
              <a:t>肥皂为什么可以变成模具的形状？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889504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Why does the soap take the shape of the mold?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822960"/>
            <a:ext cx="2999232" cy="237744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07024" y="896112"/>
            <a:ext cx="2706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18F0A"/>
                </a:solidFill>
                <a:latin typeface="KaiTi"/>
              </a:rPr>
              <a:t>💬 句子提示  Frames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1207008"/>
            <a:ext cx="270662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C2C2C"/>
                </a:solidFill>
                <a:latin typeface="KaiTi"/>
              </a:rPr>
              <a:t>我看到肥皂从______变成了______。</a:t>
            </a:r>
          </a:p>
          <a:p>
            <a:r>
              <a:rPr sz="900" b="0">
                <a:solidFill>
                  <a:srgbClr val="888888"/>
                </a:solidFill>
                <a:latin typeface="KaiTi"/>
              </a:rPr>
              <a:t>I saw the soap change from ___ to ___.</a:t>
            </a:r>
          </a:p>
          <a:p>
            <a:r>
              <a:rPr sz="1150" b="1">
                <a:solidFill>
                  <a:srgbClr val="2C2C2C"/>
                </a:solidFill>
                <a:latin typeface="KaiTi"/>
              </a:rPr>
              <a:t>我预测肥皂会______。</a:t>
            </a:r>
          </a:p>
          <a:p>
            <a:r>
              <a:rPr sz="900" b="0">
                <a:solidFill>
                  <a:srgbClr val="888888"/>
                </a:solidFill>
                <a:latin typeface="KaiTi"/>
              </a:rPr>
              <a:t>I predict the soap will ___.</a:t>
            </a:r>
          </a:p>
          <a:p>
            <a:r>
              <a:rPr sz="1150" b="1">
                <a:solidFill>
                  <a:srgbClr val="2C2C2C"/>
                </a:solidFill>
                <a:latin typeface="KaiTi"/>
              </a:rPr>
              <a:t>冷却以后，它会变得______。</a:t>
            </a:r>
          </a:p>
          <a:p>
            <a:r>
              <a:rPr sz="900" b="0">
                <a:solidFill>
                  <a:srgbClr val="888888"/>
                </a:solidFill>
                <a:latin typeface="KaiTi"/>
              </a:rPr>
              <a:t>After cooling, it will become ___.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346704"/>
            <a:ext cx="8375904" cy="109728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1985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9E7A"/>
                </a:solidFill>
                <a:latin typeface="KaiTi"/>
              </a:rPr>
              <a:t>✅ 参考答案（倒模后点击揭晓）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12463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肥皂基加热后从固体变成液体；倒进模具以后，肥皂液会形成模具的形状；冷却后，它又重新变硬，变回固体。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4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⏳ 肥皂冷却时，我们可以做什么？  While the Soap Cools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41248"/>
            <a:ext cx="4160520" cy="3429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B4BC0"/>
                </a:solidFill>
                <a:latin typeface="Microsoft YaHei"/>
              </a:rPr>
              <a:t>选项一 · 设计我的肥皂 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Option 1 · Design My Soap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在纸上画出：形状 · 颜色 · 香味 · 名字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我的肥皂是______形状的。</a:t>
            </a:r>
          </a:p>
          <a:p>
            <a:r>
              <a:rPr sz="900" b="0">
                <a:solidFill>
                  <a:srgbClr val="888888"/>
                </a:solidFill>
                <a:latin typeface="KaiTi"/>
              </a:rPr>
              <a:t>My soap is shaped like ___.</a:t>
            </a:r>
          </a:p>
          <a:p>
            <a:r>
              <a:rPr sz="1200" b="0">
                <a:solidFill>
                  <a:srgbClr val="2C2C2C"/>
                </a:solidFill>
                <a:latin typeface="KaiTi"/>
              </a:rPr>
              <a:t>它是______色的。</a:t>
            </a:r>
          </a:p>
          <a:p>
            <a:r>
              <a:rPr sz="900" b="0">
                <a:solidFill>
                  <a:srgbClr val="888888"/>
                </a:solidFill>
                <a:latin typeface="KaiTi"/>
              </a:rPr>
              <a:t>It is ___.</a:t>
            </a:r>
          </a:p>
          <a:p>
            <a:r>
              <a:rPr sz="1200" b="0">
                <a:solidFill>
                  <a:srgbClr val="2C2C2C"/>
                </a:solidFill>
                <a:latin typeface="KaiTi"/>
              </a:rPr>
              <a:t>它闻起来像______。</a:t>
            </a:r>
          </a:p>
          <a:p>
            <a:r>
              <a:rPr sz="900" b="0">
                <a:solidFill>
                  <a:srgbClr val="888888"/>
                </a:solidFill>
                <a:latin typeface="KaiTi"/>
              </a:rPr>
              <a:t>It smells like ___.</a:t>
            </a:r>
          </a:p>
          <a:p>
            <a:r>
              <a:rPr sz="1200" b="0">
                <a:solidFill>
                  <a:srgbClr val="2C2C2C"/>
                </a:solidFill>
                <a:latin typeface="KaiTi"/>
              </a:rPr>
              <a:t>我给它取名叫______。</a:t>
            </a:r>
          </a:p>
          <a:p>
            <a:r>
              <a:rPr sz="900" b="0">
                <a:solidFill>
                  <a:srgbClr val="888888"/>
                </a:solidFill>
                <a:latin typeface="KaiTi"/>
              </a:rPr>
              <a:t>I named it 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841248"/>
            <a:ext cx="4069080" cy="3429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5464" y="9326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848A"/>
                </a:solidFill>
                <a:latin typeface="Microsoft YaHei"/>
              </a:rPr>
              <a:t>选项二 · 步骤排序 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131673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Option 2 · Put the Steps in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60934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打乱顺序的图片，请学生说出正确顺序：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55464" y="2011680"/>
            <a:ext cx="1133856" cy="841248"/>
          </a:xfrm>
          <a:prstGeom prst="roundRect">
            <a:avLst/>
          </a:prstGeom>
          <a:solidFill>
            <a:srgbClr val="F1E9FB"/>
          </a:solidFill>
          <a:ln w="190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5464" y="2084832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2487168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C2C2C"/>
                </a:solidFill>
                <a:latin typeface="KaiTi"/>
              </a:rPr>
              <a:t>融化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2011680"/>
            <a:ext cx="1133856" cy="841248"/>
          </a:xfrm>
          <a:prstGeom prst="roundRect">
            <a:avLst/>
          </a:prstGeom>
          <a:solidFill>
            <a:srgbClr val="F1E9FB"/>
          </a:solidFill>
          <a:ln w="190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2084832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487168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C2C2C"/>
                </a:solidFill>
                <a:latin typeface="KaiTi"/>
              </a:rPr>
              <a:t>加颜色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1" y="2011680"/>
            <a:ext cx="1133856" cy="841248"/>
          </a:xfrm>
          <a:prstGeom prst="roundRect">
            <a:avLst/>
          </a:prstGeom>
          <a:solidFill>
            <a:srgbClr val="F1E9FB"/>
          </a:solidFill>
          <a:ln w="190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1" y="2084832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2487168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C2C2C"/>
                </a:solidFill>
                <a:latin typeface="KaiTi"/>
              </a:rPr>
              <a:t>加香味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55464" y="2971800"/>
            <a:ext cx="1133856" cy="841248"/>
          </a:xfrm>
          <a:prstGeom prst="roundRect">
            <a:avLst/>
          </a:prstGeom>
          <a:solidFill>
            <a:srgbClr val="F1E9FB"/>
          </a:solidFill>
          <a:ln w="190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5464" y="3044952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3447288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C2C2C"/>
                </a:solidFill>
                <a:latin typeface="KaiTi"/>
              </a:rPr>
              <a:t>搅拌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8" y="2971800"/>
            <a:ext cx="1133856" cy="841248"/>
          </a:xfrm>
          <a:prstGeom prst="roundRect">
            <a:avLst/>
          </a:prstGeom>
          <a:solidFill>
            <a:srgbClr val="F1E9FB"/>
          </a:solidFill>
          <a:ln w="190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3044952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3447288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C2C2C"/>
                </a:solidFill>
                <a:latin typeface="KaiTi"/>
              </a:rPr>
              <a:t>倒进模具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42631" y="2971800"/>
            <a:ext cx="1133856" cy="841248"/>
          </a:xfrm>
          <a:prstGeom prst="roundRect">
            <a:avLst/>
          </a:prstGeom>
          <a:solidFill>
            <a:srgbClr val="F1E9FB"/>
          </a:solidFill>
          <a:ln w="190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3044952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KaiTi"/>
              </a:rPr>
              <a:t>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447288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C2C2C"/>
                </a:solidFill>
                <a:latin typeface="KaiTi"/>
              </a:rPr>
              <a:t>等待冷却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389120"/>
            <a:ext cx="8412480" cy="45720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25696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B22E"/>
                </a:solidFill>
                <a:latin typeface="KaiTi"/>
              </a:rPr>
              <a:t>🕐 选一个就好 —— 安静、准备简单，正好等肥皂变硬。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🌟 今天用到了哪些生活技能？  Life Skills We Used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41248"/>
            <a:ext cx="1993392" cy="841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24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10789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认真听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841248"/>
            <a:ext cx="1993392" cy="841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024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10789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遵守安全规则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841248"/>
            <a:ext cx="1993392" cy="841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024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10789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等待轮流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1" y="841248"/>
            <a:ext cx="1993392" cy="841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7999" y="1024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0789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和小组合作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1801368"/>
            <a:ext cx="1993392" cy="841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19842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保持桌面整洁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5456" y="1801368"/>
            <a:ext cx="1993392" cy="841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15184" y="19842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2039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帮助老师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6864" y="1801368"/>
            <a:ext cx="1993392" cy="841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19842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2039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礼貌表达意见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8271" y="1801368"/>
            <a:ext cx="1993392" cy="8412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7999" y="19842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039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收拾材料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834640"/>
            <a:ext cx="8375904" cy="114300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6848A"/>
                </a:solidFill>
                <a:latin typeface="KaiTi"/>
              </a:rPr>
              <a:t>🧑‍🏫 教师总结  Teacher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255264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C2C2C"/>
                </a:solidFill>
                <a:latin typeface="KaiTi"/>
              </a:rPr>
              <a:t>制作肥皂不只是一个手工活动，我们还用到了安全、合作、耐心、整理和友善。
Making soap is not only a craft. We also use safety, teamwork, patience, organization, and kindness.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114800"/>
            <a:ext cx="8412480" cy="50292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74236"/>
            <a:ext cx="804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B4BC0"/>
                </a:solidFill>
                <a:latin typeface="KaiTi"/>
              </a:rPr>
              <a:t>💬 让学生自己说 —— 老师只补充没有被提到的那几项。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16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💭 今天我学会了……  Today I Learned…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41248"/>
            <a:ext cx="8375904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24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93268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今天我复习了______。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12984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Today I reviewed 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709928"/>
            <a:ext cx="8375904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928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80136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我最喜欢的活动是______。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216712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My favorite activity was 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578608"/>
            <a:ext cx="8375904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761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67004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我回家以后会帮助家人______。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30358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At home, I will help my family ___.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447287"/>
            <a:ext cx="8375904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6301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538727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制作肥皂时，我们一定要______。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904487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When making soap, we must ___.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389120"/>
            <a:ext cx="8375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18F0A"/>
                </a:solidFill>
                <a:latin typeface="KaiTi"/>
              </a:rPr>
              <a:t>👥 先和旁边的同学互相说一说，再请 3–4 名学生分享 —— 不需要每个人全班发言。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🏅 我是生活技能小达人！  I Am a Life Skills Star!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005840"/>
            <a:ext cx="2651760" cy="2651760"/>
          </a:xfrm>
          <a:prstGeom prst="ellipse">
            <a:avLst/>
          </a:prstGeom>
          <a:solidFill>
            <a:srgbClr val="7B4BC0"/>
          </a:solidFill>
          <a:ln w="7620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B22E"/>
                </a:solidFill>
                <a:latin typeface="KaiTi"/>
              </a:rPr>
              <a:t>DAY 5</a:t>
            </a:r>
          </a:p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🎪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KaiTi"/>
              </a:rPr>
              <a:t>生活技能嘉年华</a:t>
            </a:r>
          </a:p>
          <a:p>
            <a:pPr algn="ctr"/>
            <a:r>
              <a:rPr sz="1100" b="1">
                <a:solidFill>
                  <a:srgbClr val="F4B22E"/>
                </a:solidFill>
                <a:latin typeface="KaiTi"/>
              </a:rPr>
              <a:t>✓ 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05840"/>
            <a:ext cx="5102352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5615" y="113385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C2C2C"/>
                </a:solidFill>
                <a:latin typeface="KaiTi"/>
              </a:rPr>
              <a:t>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051560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F6B53"/>
                </a:solidFill>
                <a:latin typeface="Microsoft YaHei"/>
              </a:rPr>
              <a:t>我会照顾自己。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134416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I can take care of myself.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19072"/>
            <a:ext cx="5102352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5" y="18470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C2C2C"/>
                </a:solidFill>
                <a:latin typeface="KaiTi"/>
              </a:rPr>
              <a:t>👨‍👩‍👧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764792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848A"/>
                </a:solidFill>
                <a:latin typeface="Microsoft YaHei"/>
              </a:rPr>
              <a:t>我会帮助家人。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05740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I can help my family.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432304"/>
            <a:ext cx="5102352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25603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C2C2C"/>
                </a:solidFill>
                <a:latin typeface="KaiTi"/>
              </a:rPr>
              <a:t>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478024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8EC4"/>
                </a:solidFill>
                <a:latin typeface="Microsoft YaHei"/>
              </a:rPr>
              <a:t>我会保持整洁。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77063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I can keep things clean and organized.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145536"/>
            <a:ext cx="5102352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5615" y="32735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C2C2C"/>
                </a:solidFill>
                <a:latin typeface="KaiTi"/>
              </a:rPr>
              <a:t>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9125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5B81"/>
                </a:solidFill>
                <a:latin typeface="Microsoft YaHei"/>
              </a:rPr>
              <a:t>我会友善、有礼貌。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348386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I can be kind and polite.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858768"/>
            <a:ext cx="5102352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5615" y="398678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C2C2C"/>
                </a:solidFill>
                <a:latin typeface="KaiTi"/>
              </a:rP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3904488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9E7A"/>
                </a:solidFill>
                <a:latin typeface="Microsoft YaHei"/>
              </a:rPr>
              <a:t>我会安全地学习新技能。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419709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88888"/>
                </a:solidFill>
                <a:latin typeface="KaiTi"/>
              </a:rPr>
              <a:t>I can learn new skills safely.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886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4B22E"/>
                </a:solidFill>
                <a:latin typeface="KaiTi"/>
              </a:rPr>
              <a:t>⭐⭐⭐⭐⭐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B4BC0"/>
                </a:solidFill>
                <a:latin typeface="KaiTi"/>
              </a:rPr>
              <a:t>📣 老师：「生活技能——」
学生：「我最行！」🎉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🧰 教师课前准备清单  Teacher Prep 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4160520" cy="2834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848A"/>
                </a:solidFill>
                <a:latin typeface="KaiTi"/>
              </a:rPr>
              <a:t>🎲 游戏材料  Game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Would You Rather 题目（本 PPT）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3 张「找错误」场景图（本 PPT 占位处替换）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生活技能动作词卡（最后一页可打印）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小组计分表或星星贴纸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每组一张纸或小白板 + 白板笔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分组名单（6–8 组，混龄搭配）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822960"/>
            <a:ext cx="4069080" cy="2834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4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5464" y="8961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18F0A"/>
                </a:solidFill>
                <a:latin typeface="KaiTi"/>
              </a:rPr>
              <a:t>🧼 肥皂制作材料  Soap 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1207008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C2C2C"/>
                </a:solidFill>
                <a:latin typeface="KaiTi"/>
              </a:rPr>
              <a:t>· 肥皂制作套装（Melt &amp; Pour 皂基）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肥皂专用色素 · 香味材料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肥皂模具 · 耐热容器 · 搅拌棒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手套 · 托盘或桌布 · 纸巾 · 垃圾袋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学生设计纸和蜡笔</a:t>
            </a:r>
          </a:p>
          <a:p>
            <a:r>
              <a:rPr sz="1150" b="0">
                <a:solidFill>
                  <a:srgbClr val="2C2C2C"/>
                </a:solidFill>
                <a:latin typeface="KaiTi"/>
              </a:rPr>
              <a:t>· 加热设备（只在教师操作区）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749039"/>
            <a:ext cx="8375904" cy="1051560"/>
          </a:xfrm>
          <a:prstGeom prst="roundRect">
            <a:avLst/>
          </a:prstGeom>
          <a:solidFill>
            <a:srgbClr val="F1E9FB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039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4BC0"/>
                </a:solidFill>
                <a:latin typeface="KaiTi"/>
              </a:rPr>
              <a:t>👥 大班课堂管理 10 条  Managing 40+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7822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C2C2C"/>
                </a:solidFill>
                <a:latin typeface="KaiTi"/>
              </a:rPr>
              <a:t>1. 全程按桌面小组坐好  2. 二选一只用手势
3. 找错误先安静观察再讨论  4. 每组只说一个错误
5. 你演我猜由组长举手作答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78224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C2C2C"/>
                </a:solidFill>
                <a:latin typeface="KaiTi"/>
              </a:rPr>
              <a:t>6. 设置清楚的「教师操作区」  7. 热材料只由老师碰
8. 每组分配观察任务  9. 奖励合作与表达，不奖励抢答
10. 肥皂凝固慢时先做设计纸，课后发成品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7B4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🖨️ 可打印 Worksheet · 设计我的肥皂  Design My Soap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姓名 Name: ________________        班级 Class: 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97280"/>
            <a:ext cx="3931920" cy="35661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B4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7B4BC0"/>
                </a:solidFill>
                <a:latin typeface="KaiTi"/>
              </a:rPr>
              <a:t>🎨 画一画我的肥皂  Draw your soap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56616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98848" y="1097280"/>
            <a:ext cx="4261104" cy="35661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170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6848A"/>
                </a:solidFill>
                <a:latin typeface="KaiTi"/>
              </a:rPr>
              <a:t>✍️ 写一写  Write about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7276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C2C2C"/>
                </a:solidFill>
                <a:latin typeface="KaiTi"/>
              </a:rPr>
              <a:t>我的肥皂是__________形状的。  My soap is shaped like ___.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93392"/>
            <a:ext cx="393192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7627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C2C2C"/>
                </a:solidFill>
                <a:latin typeface="KaiTi"/>
              </a:rPr>
              <a:t>它是____________色的。  It is ______.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596896"/>
            <a:ext cx="393192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779776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C2C2C"/>
                </a:solidFill>
                <a:latin typeface="KaiTi"/>
              </a:rPr>
              <a:t>它闻起来像____________。  It smells like ______.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200400"/>
            <a:ext cx="393192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383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C2C2C"/>
                </a:solidFill>
                <a:latin typeface="KaiTi"/>
              </a:rPr>
              <a:t>我给它取名叫____________。  I named it ______.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803904"/>
            <a:ext cx="393192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98678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C2C2C"/>
                </a:solidFill>
                <a:latin typeface="KaiTi"/>
              </a:rPr>
              <a:t>我想把它送给__________。  I want to give it to ___.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407408"/>
            <a:ext cx="393192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700016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🧼 小小生活家 · Day 5 生活技能嘉年华  Life Skills Celebration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F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✂️ 可打印 · 生活技能动作词卡  Charades Cards (剪开使用)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22960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洗手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7007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Wash hands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2" y="822960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91440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2" y="1389888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做三明治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17007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Make a sandwich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6" y="822960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91440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1389888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折衣服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7007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Fold clothes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822960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91440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389888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整理书包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17007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Organize a backpack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87184" y="822960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7184" y="91440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1389888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整理行李箱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17007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Pack a suitcase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157984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24942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🍽️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272491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洗碗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303580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Wash dishes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84832" y="2157984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4832" y="224942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2" y="272491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擦桌子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9696" y="303580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Wipe the desk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6" y="2157984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5616" y="224942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5616" y="272491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扫地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03580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Sweep the floor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2157984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224942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272491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检查口袋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264" y="303580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Check the pockets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87184" y="2157984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87184" y="224942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🗂️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7184" y="272491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把衣服分类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2048" y="303580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Sort the clothes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" y="3493008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3584448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4059935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放进洗衣机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4370831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Put clothes in the washer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84832" y="3493008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84832" y="3584448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84832" y="4059935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欢迎客人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9696" y="4370831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Welcome a guest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85616" y="3493008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85616" y="3584448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5616" y="4059935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帮助朋友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370831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Help a friend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0" y="3493008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0" y="3584448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4059935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说「对不起」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41264" y="4370831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Say sorry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87184" y="3493008"/>
            <a:ext cx="1591056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87184" y="3584448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87184" y="4059935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2C2C"/>
                </a:solidFill>
                <a:latin typeface="Microsoft YaHei"/>
              </a:rPr>
              <a:t>把物品放回原位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42048" y="4370831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88"/>
                </a:solidFill>
                <a:latin typeface="KaiTi"/>
              </a:rPr>
              <a:t>Put things away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" y="4773168"/>
            <a:ext cx="8375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888888"/>
                </a:solidFill>
                <a:latin typeface="KaiTi"/>
              </a:rPr>
              <a:t>💡 建议打印在卡纸上并剪开；低年级抽前 8 张，高年级抽后 7 张。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KaiTi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