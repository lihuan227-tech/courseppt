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18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Time：1 分钟</a:t>
            </a:r>
          </a:p>
          <a:p>
            <a:endParaRPr/>
          </a:p>
          <a:p>
            <a:r>
              <a:t>🎤 教师台词 Teacher script：「小朋友，看老师头上这顶皇冠 👑 —— 今天，你们就是学校的小老师！」先不要解释太多，只要把好奇心点起来。</a:t>
            </a:r>
          </a:p>
          <a:p>
            <a:endParaRPr/>
          </a:p>
          <a:p>
            <a:r>
              <a:t>❓ 提问 Ask：「准备好了吗？」（重复两次，第二次更大声）</a:t>
            </a:r>
          </a:p>
          <a:p>
            <a:endParaRPr/>
          </a:p>
          <a:p>
            <a:r>
              <a:t>💡 学生可能的回答 Expected responses：「准备好了！」全班齐答，声音越来越大。</a:t>
            </a:r>
          </a:p>
          <a:p>
            <a:endParaRPr/>
          </a:p>
          <a:p>
            <a:r>
              <a:t>👥 40 人班级管理 Management tips：开场用「老师说—学生答」立刻收住 40 人的注意力。要求：手放桌上、眼睛看老师，才开始。</a:t>
            </a:r>
          </a:p>
          <a:p>
            <a:endParaRPr/>
          </a:p>
          <a:p>
            <a:r>
              <a:t>➡️ 过渡语 Transition：「在当小老师之前，我们先回头看看这一周我们学会了什么本领。」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Time：3 分钟</a:t>
            </a:r>
          </a:p>
          <a:p>
            <a:endParaRPr/>
          </a:p>
          <a:p>
            <a:r>
              <a:t>🎤 教师台词 Teacher script：「这一周我们学了六个本领，我们一起念一遍。」老师指图，全班齐读中文，再读英文。然后：「转过身，和你的同桌说一说，你最喜欢哪一个？为什么？」</a:t>
            </a:r>
          </a:p>
          <a:p>
            <a:endParaRPr/>
          </a:p>
          <a:p>
            <a:r>
              <a:t>❓ 提问 Ask：你最喜欢哪一个活动？为什么？  Which activity did you like best? Why?</a:t>
            </a:r>
          </a:p>
          <a:p>
            <a:endParaRPr/>
          </a:p>
          <a:p>
            <a:r>
              <a:t>💡 学生可能的回答 Expected responses：「我最喜欢做三明治，因为很好吃。」「我喜欢洗衣服，因为泡泡很好玩。」「我喜欢整理书包，因为找东西很快。」</a:t>
            </a:r>
          </a:p>
          <a:p>
            <a:endParaRPr/>
          </a:p>
          <a:p>
            <a:r>
              <a:t>👥 40 人班级管理 Management tips：同桌讨论只给 30 秒，用计时器 + 拍手三下收回注意力。之后只请 3–4 名学生分享，其余用「举手表示你也喜欢这个」代替发言。</a:t>
            </a:r>
          </a:p>
          <a:p>
            <a:endParaRPr/>
          </a:p>
          <a:p>
            <a:r>
              <a:t>➡️ 过渡语 Transition：「这些本领在家里都用得上 —— 那你们在家真的帮忙做过吗？」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Time：2 分钟</a:t>
            </a:r>
          </a:p>
          <a:p>
            <a:endParaRPr/>
          </a:p>
          <a:p>
            <a:r>
              <a:t>🎤 教师台词 Teacher script：「这些事情，你在家做过哪一件？做过的请举手。」老师逐个念，学生举手，老师大声数「哇，二十个人洗过碗！」最后请 3–4 人说一句完整的话。</a:t>
            </a:r>
          </a:p>
          <a:p>
            <a:endParaRPr/>
          </a:p>
          <a:p>
            <a:r>
              <a:t>❓ 提问 Ask：你在家帮忙做过哪些家务？  What chores do you do at home?</a:t>
            </a:r>
          </a:p>
          <a:p>
            <a:endParaRPr/>
          </a:p>
          <a:p>
            <a:r>
              <a:t>💡 学生可能的回答 Expected responses：「我会洗碗。」「我帮妈妈叠衣服。」「我给小狗喂饭。」「我浇花。」</a:t>
            </a:r>
          </a:p>
          <a:p>
            <a:endParaRPr/>
          </a:p>
          <a:p>
            <a:r>
              <a:t>👥 40 人班级管理 Management tips：用「举手 + 老师数数」代替逐个发言，40 人也只要 1 分钟。老师要肯定每一个答案：「不管大小，帮忙就很棒！」</a:t>
            </a:r>
          </a:p>
          <a:p>
            <a:endParaRPr/>
          </a:p>
          <a:p>
            <a:r>
              <a:t>➡️ 过渡语 Transition：「你们做的这些，都记在我们的家务打卡表上 —— 我们一起看看。」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Time：2 分钟</a:t>
            </a:r>
          </a:p>
          <a:p>
            <a:endParaRPr/>
          </a:p>
          <a:p>
            <a:r>
              <a:t>🎤 教师台词 Teacher script：举起打卡表：「这张表上，最重要的不是谁的星星最多，而是谁一直在坚持。」逐条问三个问题，每题只请 1–2 人回答。</a:t>
            </a:r>
          </a:p>
          <a:p>
            <a:endParaRPr/>
          </a:p>
          <a:p>
            <a:r>
              <a:t>❓ 提问 Ask：谁坚持完成了很多家务？哪一项最容易？哪一项最难？</a:t>
            </a:r>
          </a:p>
          <a:p>
            <a:endParaRPr/>
          </a:p>
          <a:p>
            <a:r>
              <a:t>💡 学生可能的回答 Expected responses：「洗碗最容易。」「叠衣服最难，衣服总是歪的。」「我忘了两天，但后面又补上了。」</a:t>
            </a:r>
          </a:p>
          <a:p>
            <a:endParaRPr/>
          </a:p>
          <a:p>
            <a:r>
              <a:t>👥 40 人班级管理 Management tips：让学生用手势代替发言：容易 👍、难 👎，老师一眼就能看到 40 人的答案。承认「有几天忘记」也要表扬，保护信心。</a:t>
            </a:r>
          </a:p>
          <a:p>
            <a:endParaRPr/>
          </a:p>
          <a:p>
            <a:r>
              <a:t>➡️ 过渡语 Transition：「你们这一周真的很努力 —— 我们给自己鼓鼓掌！」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Time：1 分钟</a:t>
            </a:r>
          </a:p>
          <a:p>
            <a:endParaRPr/>
          </a:p>
          <a:p>
            <a:r>
              <a:t>🎤 教师台词 Teacher script：「站起来！我们给自己鼓三下掌 —— 一、二、三！」然后做口号：老师喊「生活小帮手！」，学生答「我最棒！」，连做两遍，第二遍更响。</a:t>
            </a:r>
          </a:p>
          <a:p>
            <a:endParaRPr/>
          </a:p>
          <a:p>
            <a:r>
              <a:t>❓ 提问 Ask：（不提问，只做庆祝和口号）</a:t>
            </a:r>
          </a:p>
          <a:p>
            <a:endParaRPr/>
          </a:p>
          <a:p>
            <a:r>
              <a:t>💡 学生可能的回答 Expected responses：「我最棒！」全班齐答 + 三下掌声。</a:t>
            </a:r>
          </a:p>
          <a:p>
            <a:endParaRPr/>
          </a:p>
          <a:p>
            <a:r>
              <a:t>👥 40 人班级管理 Management tips：让 40 人一起站起来鼓掌，是很好的「放电」时机。规则先说清楚：只鼓三下，喊完口号马上坐下。老师举手 = 全班安静。</a:t>
            </a:r>
          </a:p>
          <a:p>
            <a:endParaRPr/>
          </a:p>
          <a:p>
            <a:r>
              <a:t>➡️ 过渡语 Transition：「家里有家务……那学校呢？学校里的事情，是谁在做？」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Time：1 分钟</a:t>
            </a:r>
          </a:p>
          <a:p>
            <a:endParaRPr/>
          </a:p>
          <a:p>
            <a:r>
              <a:t>🎤 教师台词 Teacher script：压低声音制造悬念：「在家，是我们帮爸爸妈妈。那在学校呢？教室、卫生间、图书角、点心区 —— 这些地方，是谁在收拾？」停两秒再往下。</a:t>
            </a:r>
          </a:p>
          <a:p>
            <a:endParaRPr/>
          </a:p>
          <a:p>
            <a:r>
              <a:t>❓ 提问 Ask：学校里的事情，是谁在做？  Who takes care of our school?</a:t>
            </a:r>
          </a:p>
          <a:p>
            <a:endParaRPr/>
          </a:p>
          <a:p>
            <a:r>
              <a:t>💡 学生可能的回答 Expected responses：「老师！」「保洁阿姨！」「我们自己也可以！」</a:t>
            </a:r>
          </a:p>
          <a:p>
            <a:endParaRPr/>
          </a:p>
          <a:p>
            <a:r>
              <a:t>👥 40 人班级管理 Management tips：这一页只用一个问题，不展开讨论。学生喊答案时，老师用手势 🤫 提醒「先想再说」。</a:t>
            </a:r>
          </a:p>
          <a:p>
            <a:endParaRPr/>
          </a:p>
          <a:p>
            <a:r>
              <a:t>➡️ 过渡语 Transition：「大部分小朋友说是老师 —— 那老师每天到底要做哪些工作呢？」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Time：3 分钟</a:t>
            </a:r>
          </a:p>
          <a:p>
            <a:endParaRPr/>
          </a:p>
          <a:p>
            <a:r>
              <a:t>🎤 教师台词 Teacher script：先不显示答案（或用动画遮住）：「猜一猜，老师每天要做多少件事？」学生猜完再逐个点开图标，每揭晓一个就问「这件事你见过吗？见过的举手。」</a:t>
            </a:r>
          </a:p>
          <a:p>
            <a:endParaRPr/>
          </a:p>
          <a:p>
            <a:r>
              <a:t>❓ 提问 Ask：老师每天都要做哪些工作？你还看到过老师做什么？</a:t>
            </a:r>
          </a:p>
          <a:p>
            <a:endParaRPr/>
          </a:p>
          <a:p>
            <a:r>
              <a:t>💡 学生可能的回答 Expected responses：「上课」「改作业」「擦白板」「捡地上的铅笔」「拖地」「帮我们找水杯」「送我们上厕所」</a:t>
            </a:r>
          </a:p>
          <a:p>
            <a:endParaRPr/>
          </a:p>
          <a:p>
            <a:r>
              <a:t>👥 40 人班级管理 Management tips：40 人一起喊答案会乱：规定「先举手，被点到才说」。老师每揭晓一项就说一句「这也是家务，只不过在学校」，帮助学生建立联系。</a:t>
            </a:r>
          </a:p>
          <a:p>
            <a:endParaRPr/>
          </a:p>
          <a:p>
            <a:r>
              <a:t>➡️ 过渡语 Transition：「所以你们发现了吗 —— 老师其实也有很多『学校里的家务』。」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Time：2 分钟</a:t>
            </a:r>
          </a:p>
          <a:p>
            <a:endParaRPr/>
          </a:p>
          <a:p>
            <a:r>
              <a:t>🎤 教师台词 Teacher script：「和同桌说一说：如果老师一天都不整理，学校会变成什么样？」放 30 秒计时器。收回后展示乱教室插图，让学生笑一笑，再引导：「所以，学校也需要有人照顾。」</a:t>
            </a:r>
          </a:p>
          <a:p>
            <a:endParaRPr/>
          </a:p>
          <a:p>
            <a:r>
              <a:t>❓ 提问 Ask：如果老师一天都不整理，学校会变成什么样？  What if no one tidied our school for one day?</a:t>
            </a:r>
          </a:p>
          <a:p>
            <a:endParaRPr/>
          </a:p>
          <a:p>
            <a:r>
              <a:t>💡 学生可能的回答 Expected responses：「书全掉地上。」「找不到我的水杯。」「地上都是铅笔，会滑倒。」「点心屑会招虫子。」</a:t>
            </a:r>
          </a:p>
          <a:p>
            <a:endParaRPr/>
          </a:p>
          <a:p>
            <a:r>
              <a:t>👥 40 人班级管理 Management tips：同桌讨论固定搭配（左边先说，右边后说），30 秒计时器 + 拍手三下收回。只请 2–3 组分享，避免拖时间。</a:t>
            </a:r>
          </a:p>
          <a:p>
            <a:endParaRPr/>
          </a:p>
          <a:p>
            <a:r>
              <a:t>➡️ 过渡语 Transition：「那今天，我们就来帮老师一个大忙 —— 因为今天……」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Time：1 分钟</a:t>
            </a:r>
          </a:p>
          <a:p>
            <a:endParaRPr/>
          </a:p>
          <a:p>
            <a:r>
              <a:t>🎤 教师台词 Teacher script：先卖关子：「今天……（停顿两秒）……你们就是老师！」点击揭晓皇冠。全班欢呼三秒，老师举手示意安静。</a:t>
            </a:r>
          </a:p>
          <a:p>
            <a:endParaRPr/>
          </a:p>
          <a:p>
            <a:r>
              <a:t>❓ 提问 Ask：「你们准备好当小老师了吗？」</a:t>
            </a:r>
          </a:p>
          <a:p>
            <a:endParaRPr/>
          </a:p>
          <a:p>
            <a:r>
              <a:t>💡 学生可能的回答 Expected responses：「准备好了！」「耶！」（欢呼）</a:t>
            </a:r>
          </a:p>
          <a:p>
            <a:endParaRPr/>
          </a:p>
          <a:p>
            <a:r>
              <a:t>👥 40 人班级管理 Management tips：欢呼一定要「有始有终」：事先说好「欢呼三秒，老师举手就停」。这一页是全课的情绪高点，之后立刻讲任务，把兴奋转成责任感。</a:t>
            </a:r>
          </a:p>
          <a:p>
            <a:endParaRPr/>
          </a:p>
          <a:p>
            <a:r>
              <a:t>➡️ 过渡语 Transition：「不过，当小老师有一个秘密任务 —— 不是让你们打扫所有东西。」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Time：2 分钟</a:t>
            </a:r>
          </a:p>
          <a:p>
            <a:endParaRPr/>
          </a:p>
          <a:p>
            <a:r>
              <a:t>🎤 教师台词 Teacher script：「小老师不是『管人的人』，是『帮忙的人』。」逐条读四个任务，每条让全班做一个动作：👀 手放眼睛旁、😊 双手合十、👍 竖大拇指、📝 假装写字。</a:t>
            </a:r>
          </a:p>
          <a:p>
            <a:endParaRPr/>
          </a:p>
          <a:p>
            <a:r>
              <a:t>❓ 提问 Ask：小老师可以做什么？不可以做什么？</a:t>
            </a:r>
          </a:p>
          <a:p>
            <a:endParaRPr/>
          </a:p>
          <a:p>
            <a:r>
              <a:t>💡 学生可能的回答 Expected responses：「可以提醒。」「可以帮忙。」「不可以骂人。」「不可以自己去处理打架，要告诉老师。」</a:t>
            </a:r>
          </a:p>
          <a:p>
            <a:endParaRPr/>
          </a:p>
          <a:p>
            <a:r>
              <a:t>👥 40 人班级管理 Management tips：四个动作让 40 人一起「用身体记住规则」，比只念一遍有效得多。特别强调第 4 条：遇到不安全的事，报告老师，不自己解决。</a:t>
            </a:r>
          </a:p>
          <a:p>
            <a:endParaRPr/>
          </a:p>
          <a:p>
            <a:r>
              <a:t>➡️ 过渡语 Transition：「现在，我要给你们分小组 —— 每一组负责学校的一个地方。」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Time：1.5 分钟</a:t>
            </a:r>
          </a:p>
          <a:p>
            <a:endParaRPr/>
          </a:p>
          <a:p>
            <a:r>
              <a:t>🎤 教师台词 Teacher script：「第一组是卫生间小管家。你们的工作不是打扫厕所，而是提醒和检查。」逐条读，读到「擦干台面」时示范一次擦的动作。</a:t>
            </a:r>
          </a:p>
          <a:p>
            <a:endParaRPr/>
          </a:p>
          <a:p>
            <a:r>
              <a:t>❓ 提问 Ask：如果地上湿湿的，会发生什么事？</a:t>
            </a:r>
          </a:p>
          <a:p>
            <a:endParaRPr/>
          </a:p>
          <a:p>
            <a:r>
              <a:t>💡 学生可能的回答 Expected responses：「会滑倒！」「会摔跤。」「要擦干，或者告诉老师。」</a:t>
            </a:r>
          </a:p>
          <a:p>
            <a:endParaRPr/>
          </a:p>
          <a:p>
            <a:r>
              <a:t>👥 40 人班级管理 Management tips：明确边界：不碰马桶、不碰脏纸巾，只做提醒和报告。指定 4–5 人一组，其余同学此刻只需要认真听，不要起立。</a:t>
            </a:r>
          </a:p>
          <a:p>
            <a:endParaRPr/>
          </a:p>
          <a:p>
            <a:r>
              <a:t>➡️ 过渡语 Transition：「第二组，请看这里 —— 你们负责我们的图书角。」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Time：1.5 分钟</a:t>
            </a:r>
          </a:p>
          <a:p>
            <a:endParaRPr/>
          </a:p>
          <a:p>
            <a:r>
              <a:t>🎤 教师台词 Teacher script：「第二组是图书角小管家。书是大家的朋友，我们要照顾它。」示范：把一本书正确地插回书架。</a:t>
            </a:r>
          </a:p>
          <a:p>
            <a:endParaRPr/>
          </a:p>
          <a:p>
            <a:r>
              <a:t>❓ 提问 Ask：书应该怎么放回去？书掉在地上怎么办？</a:t>
            </a:r>
          </a:p>
          <a:p>
            <a:endParaRPr/>
          </a:p>
          <a:p>
            <a:r>
              <a:t>💡 学生可能的回答 Expected responses：「书脊朝外。」「放回原来的位置。」「捡起来，放回书架。」</a:t>
            </a:r>
          </a:p>
          <a:p>
            <a:endParaRPr/>
          </a:p>
          <a:p>
            <a:r>
              <a:t>👥 40 人班级管理 Management tips：让这一组的同学在座位上做一个「把书插回去」的动作，全班一起做一次，40 人也能参与，不用起身。</a:t>
            </a:r>
          </a:p>
          <a:p>
            <a:endParaRPr/>
          </a:p>
          <a:p>
            <a:r>
              <a:t>➡️ 过渡语 Transition：「第三组，你们负责的地方每天都最容易乱 —— 书包区！」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Time：1.5 分钟</a:t>
            </a:r>
          </a:p>
          <a:p>
            <a:endParaRPr/>
          </a:p>
          <a:p>
            <a:r>
              <a:t>🎤 教师台词 Teacher script：「第三组是书包文具小管家。这一周我们学过『五步整理书包』，现在你们要帮全班保持它！」快速回顾：全部拿出来 → 分类 → 放回去。</a:t>
            </a:r>
          </a:p>
          <a:p>
            <a:endParaRPr/>
          </a:p>
          <a:p>
            <a:r>
              <a:t>❓ 提问 Ask：水杯为什么要立起来？铅笔掉在地上会怎么样？</a:t>
            </a:r>
          </a:p>
          <a:p>
            <a:endParaRPr/>
          </a:p>
          <a:p>
            <a:r>
              <a:t>💡 学生可能的回答 Expected responses：「不然会漏水，把书打湿。」「会被踩断。」「会滑倒。」</a:t>
            </a:r>
          </a:p>
          <a:p>
            <a:endParaRPr/>
          </a:p>
          <a:p>
            <a:r>
              <a:t>👥 40 人班级管理 Management tips：这一组的检查点最多，可以让他们两人一小队分工（书包 / 文具）。提醒：不翻别人的书包，只提醒本人自己整理。</a:t>
            </a:r>
          </a:p>
          <a:p>
            <a:endParaRPr/>
          </a:p>
          <a:p>
            <a:r>
              <a:t>➡️ 过渡语 Transition：「最后一组 —— 每天最香、也最容易掉渣的地方：点心区！」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Time：1.5 分钟</a:t>
            </a:r>
          </a:p>
          <a:p>
            <a:endParaRPr/>
          </a:p>
          <a:p>
            <a:r>
              <a:t>🎤 教师台词 Teacher script：「第四组是点心区小管家。规则很简单：谁吃的，谁收拾。」示范一次「擦桌子三下」的动作，让全班跟着做。</a:t>
            </a:r>
          </a:p>
          <a:p>
            <a:endParaRPr/>
          </a:p>
          <a:p>
            <a:r>
              <a:t>❓ 提问 Ask：吃完点心，桌上和地上应该是什么样子？</a:t>
            </a:r>
          </a:p>
          <a:p>
            <a:endParaRPr/>
          </a:p>
          <a:p>
            <a:r>
              <a:t>💡 学生可能的回答 Expected responses：「干干净净。」「垃圾要丢进桶里。」「碎屑要擦掉，不然会有蚂蚁。」</a:t>
            </a:r>
          </a:p>
          <a:p>
            <a:endParaRPr/>
          </a:p>
          <a:p>
            <a:r>
              <a:t>👥 40 人班级管理 Management tips：点心时间人多，提醒这一组「排队时先站到旁边等」，避免堵在垃圾桶前。老师同时公布四个组的名单，或用桌号直接分组，节省时间。</a:t>
            </a:r>
          </a:p>
          <a:p>
            <a:endParaRPr/>
          </a:p>
          <a:p>
            <a:r>
              <a:t>➡️ 过渡语 Transition：「四个组都有任务了 —— 但是，小老师应该怎么说话呢？」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Time：2 分钟</a:t>
            </a:r>
          </a:p>
          <a:p>
            <a:endParaRPr/>
          </a:p>
          <a:p>
            <a:r>
              <a:t>🎤 教师台词 Teacher script：老师先用凶巴巴的语气念左边，再用友善的语气念右边，让学生听出差别。然后全班跟读右边四句，做两遍。</a:t>
            </a:r>
          </a:p>
          <a:p>
            <a:endParaRPr/>
          </a:p>
          <a:p>
            <a:r>
              <a:t>❓ 提问 Ask：哪一种说法你更愿意听？为什么？</a:t>
            </a:r>
          </a:p>
          <a:p>
            <a:endParaRPr/>
          </a:p>
          <a:p>
            <a:r>
              <a:t>💡 学生可能的回答 Expected responses：「右边的。」「因为很有礼貌。」「左边的像在骂人。」</a:t>
            </a:r>
          </a:p>
          <a:p>
            <a:endParaRPr/>
          </a:p>
          <a:p>
            <a:r>
              <a:t>👥 40 人班级管理 Management tips：跟读时用「老师说一句，学生说一句」的节奏，40 人整齐又不乱。可以请两名学生上台演示一次「提醒同学捡起铅笔」。</a:t>
            </a:r>
          </a:p>
          <a:p>
            <a:endParaRPr/>
          </a:p>
          <a:p>
            <a:r>
              <a:t>➡️ 过渡语 Transition：「说话要友善 —— 当小老师还有几条重要的守则。」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Time：1 分钟</a:t>
            </a:r>
          </a:p>
          <a:p>
            <a:endParaRPr/>
          </a:p>
          <a:p>
            <a:r>
              <a:t>🎤 教师台词 Teacher script：「我念左边，你们竖大拇指 👍；我念右边，你们摇摇手 🙅。」用手势快速过一遍八条守则，最后一起说：「先管好自己，再帮助别人。」</a:t>
            </a:r>
          </a:p>
          <a:p>
            <a:endParaRPr/>
          </a:p>
          <a:p>
            <a:r>
              <a:t>❓ 提问 Ask：如果有同学不听你的提醒，你应该怎么办？</a:t>
            </a:r>
          </a:p>
          <a:p>
            <a:endParaRPr/>
          </a:p>
          <a:p>
            <a:r>
              <a:t>💡 学生可能的回答 Expected responses：「再说一次，用礼貌的话。」「告诉老师。」「不吵架。」</a:t>
            </a:r>
          </a:p>
          <a:p>
            <a:endParaRPr/>
          </a:p>
          <a:p>
            <a:r>
              <a:t>👥 40 人班级管理 Management tips：手势代替发言，1 分钟就能让 40 人全部参与。特别强调「不嘲笑」：小老师看到别人做错，只提醒，不笑话。</a:t>
            </a:r>
          </a:p>
          <a:p>
            <a:endParaRPr/>
          </a:p>
          <a:p>
            <a:r>
              <a:t>➡️ 过渡语 Transition：「做得好，还有奖励哦 —— 看看下午会发生什么！」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Time：1 分钟</a:t>
            </a:r>
          </a:p>
          <a:p>
            <a:endParaRPr/>
          </a:p>
          <a:p>
            <a:r>
              <a:t>🎤 教师台词 Teacher script：「下午三点半，老师会拿着这张星星表，去四个区域检查。」逐条念五个评分项，每念一条就问「这一条，你们组做得到吗？」</a:t>
            </a:r>
          </a:p>
          <a:p>
            <a:endParaRPr/>
          </a:p>
          <a:p>
            <a:r>
              <a:t>❓ 提问 Ask：我们怎样才能拿到五颗星？</a:t>
            </a:r>
          </a:p>
          <a:p>
            <a:endParaRPr/>
          </a:p>
          <a:p>
            <a:r>
              <a:t>💡 学生可能的回答 Expected responses：「保持干净。」「互相帮忙。」「用礼貌的话提醒。」「大家一起做。」</a:t>
            </a:r>
          </a:p>
          <a:p>
            <a:endParaRPr/>
          </a:p>
          <a:p>
            <a:r>
              <a:t>👥 40 人班级管理 Management tips：强调「四个组都可以拿满星」，避免变成互相攀比或告状。可以在黑板上画好四组的星星格子，下午当场贴星星。</a:t>
            </a:r>
          </a:p>
          <a:p>
            <a:endParaRPr/>
          </a:p>
          <a:p>
            <a:r>
              <a:t>➡️ 过渡语 Transition：「最后，请你想一想：今天，你想成为什么样的小老师？」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时间 Time：2 分钟</a:t>
            </a:r>
          </a:p>
          <a:p>
            <a:endParaRPr/>
          </a:p>
          <a:p>
            <a:r>
              <a:t>🎤 教师台词 Teacher script：「用这三个句子中的一个，和同桌说说你今天要做什么样的小老师。」30 秒后请 3–4 人分享，老师把关键词写在白板上。最后全班一起读红色那句话，喊口号结束。</a:t>
            </a:r>
          </a:p>
          <a:p>
            <a:endParaRPr/>
          </a:p>
          <a:p>
            <a:r>
              <a:t>❓ 提问 Ask：今天你想成为什么样的小老师？你会怎么帮助大家？</a:t>
            </a:r>
          </a:p>
          <a:p>
            <a:endParaRPr/>
          </a:p>
          <a:p>
            <a:r>
              <a:t>💡 学生可能的回答 Expected responses：「今天我要提醒大家冲水。」「我会把书放回原位。」「我希望我们组拿五颗星。」</a:t>
            </a:r>
          </a:p>
          <a:p>
            <a:endParaRPr/>
          </a:p>
          <a:p>
            <a:r>
              <a:t>👥 40 人班级管理 Management tips：结束语要短、要齐：全班一起读一遍红框句子，再喊一次口号，然后按小组顺序离开，避免 40 人同时起身。</a:t>
            </a:r>
          </a:p>
          <a:p>
            <a:endParaRPr/>
          </a:p>
          <a:p>
            <a:r>
              <a:t>➡️ 过渡语 Transition：（下课）分发小老师徽章，各组前往自己的区域开始今天的任务。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2F6FD6"/>
                </a:solidFill>
                <a:latin typeface="Microsoft YaHei"/>
              </a:rPr>
              <a:t>👑 今天你当家！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B01F"/>
                </a:solidFill>
                <a:latin typeface="KaiTi"/>
              </a:rPr>
              <a:t>Be the Teacher for a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591056"/>
            <a:ext cx="4480560" cy="2084831"/>
          </a:xfrm>
          <a:prstGeom prst="roundRect">
            <a:avLst/>
          </a:prstGeom>
          <a:solidFill>
            <a:srgbClr val="DFE9F7"/>
          </a:solidFill>
          <a:ln w="19050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59736" y="1737360"/>
            <a:ext cx="4224528" cy="1792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838A99"/>
                </a:solidFill>
                <a:latin typeface="KaiTi"/>
              </a:rPr>
              <a:t>🖼 大插图：一群戴着「小老师」徽章的小朋友，笑着举手
Bright illustration: happy children wearing teacher badges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307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42A38"/>
                </a:solidFill>
                <a:latin typeface="KaiTi"/>
              </a:rPr>
              <a:t>今天，我们要变成学校的小老师！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838A99"/>
                </a:solidFill>
                <a:latin typeface="KaiTi"/>
              </a:rPr>
              <a:t>Today we become the little teachers of our school!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4462272"/>
            <a:ext cx="8375904" cy="457200"/>
          </a:xfrm>
          <a:prstGeom prst="roundRect">
            <a:avLst/>
          </a:prstGeom>
          <a:solidFill>
            <a:srgbClr val="FFF3DC"/>
          </a:solidFill>
          <a:ln w="31750">
            <a:solidFill>
              <a:srgbClr val="2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4489704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🙋 老师问：「准备好了吗？」  学生答：「准备好了！」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2F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📅 本周我们学了什么？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KaiTi"/>
              </a:rPr>
              <a:t>What Did We Learn This Week?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70432"/>
            <a:ext cx="2697480" cy="117043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26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1371600"/>
            <a:ext cx="777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42A38"/>
                </a:solidFill>
                <a:latin typeface="KaiTi"/>
              </a:rPr>
              <a:t>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13898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26C53"/>
                </a:solidFill>
                <a:latin typeface="Microsoft YaHei"/>
              </a:rPr>
              <a:t>做三明治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10512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38A99"/>
                </a:solidFill>
                <a:latin typeface="KaiTi"/>
              </a:rPr>
              <a:t>Sandwich making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1170432"/>
            <a:ext cx="2697480" cy="117043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46704" y="1371600"/>
            <a:ext cx="777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42A38"/>
                </a:solidFill>
                <a:latin typeface="KaiTi"/>
              </a:rPr>
              <a:t>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4" y="13898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F6FD6"/>
                </a:solidFill>
                <a:latin typeface="Microsoft YaHei"/>
              </a:rPr>
              <a:t>洗碗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1810512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38A99"/>
                </a:solidFill>
                <a:latin typeface="KaiTi"/>
              </a:rPr>
              <a:t>Dishwashing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170432"/>
            <a:ext cx="2697480" cy="117043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2" y="1371600"/>
            <a:ext cx="777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42A38"/>
                </a:solidFill>
                <a:latin typeface="KaiTi"/>
              </a:rPr>
              <a:t>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13898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A98F"/>
                </a:solidFill>
                <a:latin typeface="Microsoft YaHei"/>
              </a:rPr>
              <a:t>洗衣服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810512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38A99"/>
                </a:solidFill>
                <a:latin typeface="KaiTi"/>
              </a:rPr>
              <a:t>Laundry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468880"/>
            <a:ext cx="2697480" cy="117043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" y="2670048"/>
            <a:ext cx="777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42A38"/>
                </a:solidFill>
                <a:latin typeface="KaiTi"/>
              </a:rPr>
              <a:t>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26883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5B01F"/>
                </a:solidFill>
                <a:latin typeface="Microsoft YaHei"/>
              </a:rPr>
              <a:t>整理书包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5024" y="3108960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38A99"/>
                </a:solidFill>
                <a:latin typeface="KaiTi"/>
              </a:rPr>
              <a:t>Organize backpack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36976" y="2468880"/>
            <a:ext cx="2697480" cy="117043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46704" y="2670048"/>
            <a:ext cx="777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42A38"/>
                </a:solidFill>
                <a:latin typeface="KaiTi"/>
              </a:rPr>
              <a:t>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664" y="26883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8A5AC8"/>
                </a:solidFill>
                <a:latin typeface="Microsoft YaHei"/>
              </a:rPr>
              <a:t>保持整洁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3108960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38A99"/>
                </a:solidFill>
                <a:latin typeface="KaiTi"/>
              </a:rPr>
              <a:t>Keep things clean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9904" y="2468880"/>
            <a:ext cx="2697480" cy="117043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9632" y="2670048"/>
            <a:ext cx="777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42A38"/>
                </a:solidFill>
                <a:latin typeface="KaiTi"/>
              </a:rPr>
              <a:t>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6883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85B81"/>
                </a:solidFill>
                <a:latin typeface="Microsoft YaHei"/>
              </a:rPr>
              <a:t>礼貌待人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108960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38A99"/>
                </a:solidFill>
                <a:latin typeface="KaiTi"/>
              </a:rPr>
              <a:t>Be kind &amp; polite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3913632"/>
            <a:ext cx="8375904" cy="566928"/>
          </a:xfrm>
          <a:prstGeom prst="roundRect">
            <a:avLst/>
          </a:prstGeom>
          <a:solidFill>
            <a:srgbClr val="FFF3DC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3995928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KaiTi"/>
              </a:rPr>
              <a:t>👯 和同桌说一说：你最喜欢哪一个？为什么？  Think–Pair–Share (30 秒)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572000"/>
            <a:ext cx="8375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F6FD6"/>
                </a:solidFill>
                <a:latin typeface="KaiTi"/>
              </a:rPr>
              <a:t>💬 我最喜欢______，因为______。  I like ______ because ______.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1F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💪 我们都是生活小帮手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KaiTi"/>
              </a:rPr>
              <a:t>We Can Help at Home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88720"/>
            <a:ext cx="1993392" cy="10789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28016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A38"/>
                </a:solidFill>
                <a:latin typeface="KaiTi"/>
              </a:rPr>
              <a:t>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2880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2A38"/>
                </a:solidFill>
                <a:latin typeface="Microsoft YaHei"/>
              </a:rPr>
              <a:t>洗碗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5456" y="1188720"/>
            <a:ext cx="1993392" cy="10789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05456" y="128016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A38"/>
                </a:solidFill>
                <a:latin typeface="KaiTi"/>
              </a:rPr>
              <a:t>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182880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2A38"/>
                </a:solidFill>
                <a:latin typeface="Microsoft YaHei"/>
              </a:rPr>
              <a:t>叠衣服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26864" y="1188720"/>
            <a:ext cx="1993392" cy="10789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128016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A38"/>
                </a:solidFill>
                <a:latin typeface="KaiTi"/>
              </a:rPr>
              <a:t>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182880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2A38"/>
                </a:solidFill>
                <a:latin typeface="Microsoft YaHei"/>
              </a:rPr>
              <a:t>分类衣服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48271" y="1188720"/>
            <a:ext cx="1993392" cy="10789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8271" y="1280160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A38"/>
                </a:solidFill>
                <a:latin typeface="KaiTi"/>
              </a:rPr>
              <a:t>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1" y="1828800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2A38"/>
                </a:solidFill>
                <a:latin typeface="Microsoft YaHei"/>
              </a:rPr>
              <a:t>做三明治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395728"/>
            <a:ext cx="1993392" cy="10789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487168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A38"/>
                </a:solidFill>
                <a:latin typeface="KaiTi"/>
              </a:rPr>
              <a:t>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3035808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2A38"/>
                </a:solidFill>
                <a:latin typeface="Microsoft YaHei"/>
              </a:rPr>
              <a:t>整理书包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5456" y="2395728"/>
            <a:ext cx="1993392" cy="10789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05456" y="2487168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A38"/>
                </a:solidFill>
                <a:latin typeface="KaiTi"/>
              </a:rPr>
              <a:t>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5456" y="3035808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2A38"/>
                </a:solidFill>
                <a:latin typeface="Microsoft YaHei"/>
              </a:rPr>
              <a:t>擦桌子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26864" y="2395728"/>
            <a:ext cx="1993392" cy="10789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26864" y="2487168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A38"/>
                </a:solidFill>
                <a:latin typeface="KaiTi"/>
              </a:rPr>
              <a:t>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3035808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2A38"/>
                </a:solidFill>
                <a:latin typeface="Microsoft YaHei"/>
              </a:rPr>
              <a:t>浇花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48271" y="2395728"/>
            <a:ext cx="1993392" cy="10789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48271" y="2487168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242A38"/>
                </a:solidFill>
                <a:latin typeface="KaiTi"/>
              </a:rPr>
              <a:t>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1" y="3035808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2A38"/>
                </a:solidFill>
                <a:latin typeface="Microsoft YaHei"/>
              </a:rPr>
              <a:t>喂宠物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3749039"/>
            <a:ext cx="8375904" cy="566928"/>
          </a:xfrm>
          <a:prstGeom prst="roundRect">
            <a:avLst/>
          </a:prstGeom>
          <a:solidFill>
            <a:srgbClr val="FFF3DC"/>
          </a:solidFill>
          <a:ln w="3175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3831335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KaiTi"/>
              </a:rPr>
              <a:t>🙋 举手回答：你在家帮忙做过哪些家务？  Raise your hand!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407408"/>
            <a:ext cx="8375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A98F"/>
                </a:solidFill>
                <a:latin typeface="KaiTi"/>
              </a:rPr>
              <a:t>💬 我在家会______。  At home, I can ______.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4718304"/>
            <a:ext cx="8375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38A99"/>
                </a:solidFill>
                <a:latin typeface="KaiTi"/>
              </a:rPr>
              <a:t>🖼 建议插图：小朋友洗碗、叠衣服、浇花、喂宠物的彩色插画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📋 家务打卡表回顾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KaiTi"/>
              </a:rPr>
              <a:t>Chore Chart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70432"/>
            <a:ext cx="3931920" cy="2788920"/>
          </a:xfrm>
          <a:prstGeom prst="roundRect">
            <a:avLst/>
          </a:prstGeom>
          <a:solidFill>
            <a:srgbClr val="DFE9F7"/>
          </a:solidFill>
          <a:ln w="19050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316736"/>
            <a:ext cx="3675887" cy="2496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838A99"/>
                </a:solidFill>
                <a:latin typeface="KaiTi"/>
              </a:rPr>
              <a:t>🖼 展示一张家务打卡表样张（贴纸/星星格子）
Sample chore chart with stickers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170432"/>
            <a:ext cx="4261104" cy="84124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3350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A38"/>
                </a:solidFill>
                <a:latin typeface="KaiTi"/>
              </a:rPr>
              <a:t>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12618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Microsoft YaHei"/>
              </a:rPr>
              <a:t>谁坚持完成了很多家务？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8656" y="1627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38A99"/>
                </a:solidFill>
                <a:latin typeface="KaiTi"/>
              </a:rPr>
              <a:t>Who kept going all week?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130552"/>
            <a:ext cx="4261104" cy="84124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2951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A38"/>
                </a:solidFill>
                <a:latin typeface="KaiTi"/>
              </a:rPr>
              <a:t>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2219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Microsoft YaHei"/>
              </a:rPr>
              <a:t>哪一项最容易？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5877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38A99"/>
                </a:solidFill>
                <a:latin typeface="KaiTi"/>
              </a:rPr>
              <a:t>Which one was the easiest?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3090672"/>
            <a:ext cx="4261104" cy="84124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325526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242A38"/>
                </a:solidFill>
                <a:latin typeface="KaiTi"/>
              </a:rPr>
              <a:t>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318211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Microsoft YaHei"/>
              </a:rPr>
              <a:t>哪一项最难？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35478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838A99"/>
                </a:solidFill>
                <a:latin typeface="KaiTi"/>
              </a:rPr>
              <a:t>Which one was the hardest?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096512"/>
            <a:ext cx="8375904" cy="566928"/>
          </a:xfrm>
          <a:prstGeom prst="roundRect">
            <a:avLst/>
          </a:prstGeom>
          <a:solidFill>
            <a:srgbClr val="FFF3DC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178808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🌟 每一次帮助家人，都是在练习责任心。 Helping your family builds responsibility.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736592"/>
            <a:ext cx="8375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38A99"/>
                </a:solidFill>
                <a:latin typeface="KaiTi"/>
              </a:rPr>
              <a:t>👏 老师表扬「坚持」，不表扬「完美」  Celebrate effort, not perfection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Microsoft YaHei"/>
              </a:rPr>
              <a:t>🎉 给自己鼓鼓掌！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533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KaiTi"/>
              </a:rPr>
              <a:t>Celebrate Yourself!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1051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42A38"/>
                </a:solidFill>
                <a:latin typeface="KaiTi"/>
              </a:rPr>
              <a:t>🎊  👏  🎈  ⭐  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2670048"/>
            <a:ext cx="6309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2761488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B01F"/>
                </a:solidFill>
                <a:latin typeface="Microsoft YaHei"/>
              </a:rPr>
              <a:t>这一周，你们已经越来越像真正的小帮手了！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8211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38A99"/>
                </a:solidFill>
                <a:latin typeface="KaiTi"/>
              </a:rPr>
              <a:t>You are becoming real life helpers!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794760"/>
            <a:ext cx="2971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8760" y="3895344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FD6"/>
                </a:solidFill>
                <a:latin typeface="KaiTi"/>
              </a:rPr>
              <a:t>老师：「生活小帮手！」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261104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38A99"/>
                </a:solidFill>
                <a:latin typeface="KaiTi"/>
              </a:rPr>
              <a:t>Teacher calls…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3794760"/>
            <a:ext cx="2971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3895344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6C53"/>
                </a:solidFill>
                <a:latin typeface="KaiTi"/>
              </a:rPr>
              <a:t>学生：「我最棒！」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261104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38A99"/>
                </a:solidFill>
                <a:latin typeface="KaiTi"/>
              </a:rPr>
              <a:t>Students answer!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42A38"/>
                </a:solidFill>
                <a:latin typeface="Microsoft YaHei"/>
              </a:rPr>
              <a:t>🏠 家里有家务……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F6FD6"/>
                </a:solidFill>
                <a:latin typeface="Microsoft YaHei"/>
              </a:rPr>
              <a:t>那学校呢？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5681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B01F"/>
                </a:solidFill>
                <a:latin typeface="KaiTi"/>
              </a:rPr>
              <a:t>Who takes care of our school?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2304288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42A38"/>
                </a:solidFill>
                <a:latin typeface="KaiTi"/>
              </a:rPr>
              <a:t>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3401568"/>
            <a:ext cx="1993392" cy="117043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3511296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42A38"/>
                </a:solidFill>
                <a:latin typeface="KaiTi"/>
              </a:rPr>
              <a:t>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986784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F6FD6"/>
                </a:solidFill>
                <a:latin typeface="Microsoft YaHei"/>
              </a:rPr>
              <a:t>教室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297680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38A99"/>
                </a:solidFill>
                <a:latin typeface="KaiTi"/>
              </a:rPr>
              <a:t>Classroom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5456" y="3401568"/>
            <a:ext cx="1993392" cy="117043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05456" y="3511296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42A38"/>
                </a:solidFill>
                <a:latin typeface="KaiTi"/>
              </a:rPr>
              <a:t>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3986784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A98F"/>
                </a:solidFill>
                <a:latin typeface="Microsoft YaHei"/>
              </a:rPr>
              <a:t>卫生间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4297680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38A99"/>
                </a:solidFill>
                <a:latin typeface="KaiTi"/>
              </a:rPr>
              <a:t>Bathroom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3401568"/>
            <a:ext cx="1993392" cy="117043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26864" y="3511296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42A38"/>
                </a:solidFill>
                <a:latin typeface="KaiTi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3986784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8A5AC8"/>
                </a:solidFill>
                <a:latin typeface="Microsoft YaHei"/>
              </a:rPr>
              <a:t>图书角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4297680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38A99"/>
                </a:solidFill>
                <a:latin typeface="KaiTi"/>
              </a:rPr>
              <a:t>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8271" y="3401568"/>
            <a:ext cx="1993392" cy="117043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26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48271" y="3511296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42A38"/>
                </a:solidFill>
                <a:latin typeface="KaiTi"/>
              </a:rPr>
              <a:t>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3986784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26C53"/>
                </a:solidFill>
                <a:latin typeface="Microsoft YaHei"/>
              </a:rPr>
              <a:t>点心区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1" y="4297680"/>
            <a:ext cx="1993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38A99"/>
                </a:solidFill>
                <a:latin typeface="KaiTi"/>
              </a:rPr>
              <a:t>Snack area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8A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🧑‍🏫 老师每天都要做哪些工作？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KaiTi"/>
              </a:rPr>
              <a:t>What Do Teachers Do Every Day?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88720"/>
            <a:ext cx="1591056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28016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9222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整理书本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4832" y="1188720"/>
            <a:ext cx="1591056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4832" y="128016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2" y="179222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整理书包区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5616" y="1188720"/>
            <a:ext cx="1591056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85616" y="128016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✏️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6" y="179222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收好铅笔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188720"/>
            <a:ext cx="1591056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128016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79222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检查卫生间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87184" y="1188720"/>
            <a:ext cx="1591056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87184" y="128016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4" y="179222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清理点心区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2377440"/>
            <a:ext cx="1591056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246888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298094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擦桌子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84832" y="2377440"/>
            <a:ext cx="1591056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84832" y="246888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2" y="298094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浇花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85616" y="2377440"/>
            <a:ext cx="1591056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85616" y="246888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5616" y="298094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倒垃圾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2377440"/>
            <a:ext cx="1591056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0" y="246888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298094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帮助学生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87184" y="2377440"/>
            <a:ext cx="1591056" cy="106070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87184" y="246888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❤️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87184" y="298094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保证大家安全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3675887"/>
            <a:ext cx="8375904" cy="566928"/>
          </a:xfrm>
          <a:prstGeom prst="roundRect">
            <a:avLst/>
          </a:prstGeom>
          <a:solidFill>
            <a:srgbClr val="FFF3DC"/>
          </a:solidFill>
          <a:ln w="3175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3758183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👀 先猜一猜，再点击揭晓 —— 老师不只是上课，还每天照顾整个教室。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334256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38A99"/>
                </a:solidFill>
                <a:latin typeface="KaiTi"/>
              </a:rPr>
              <a:t>Teachers don't only teach. They take care of the classroom every single day.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4681728"/>
            <a:ext cx="8375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38A99"/>
                </a:solidFill>
                <a:latin typeface="KaiTi"/>
              </a:rPr>
              <a:t>🖼 建议插图：老师整理书架、擦桌子、检查卫生间的卡通图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F26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🤔 老师是不是也有很多「学校里的家务」？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KaiTi"/>
              </a:rPr>
              <a:t>Do Teachers Have School Chores Too?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70432"/>
            <a:ext cx="3931920" cy="2834640"/>
          </a:xfrm>
          <a:prstGeom prst="roundRect">
            <a:avLst/>
          </a:prstGeom>
          <a:solidFill>
            <a:srgbClr val="DFE9F7"/>
          </a:solidFill>
          <a:ln w="19050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316736"/>
            <a:ext cx="3675887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838A99"/>
                </a:solidFill>
                <a:latin typeface="KaiTi"/>
              </a:rPr>
              <a:t>🖼 搞笑插图：一间乱糟糟的教室 —— 书掉一地、
书包东倒西歪、桌上有点心屑、水杯倒了
Funny messy classroom illustration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170432"/>
            <a:ext cx="4261104" cy="1417320"/>
          </a:xfrm>
          <a:prstGeom prst="roundRect">
            <a:avLst/>
          </a:prstGeom>
          <a:solidFill>
            <a:srgbClr val="FFF3DC"/>
          </a:solidFill>
          <a:ln w="31750">
            <a:solidFill>
              <a:srgbClr val="F26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2801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26C53"/>
                </a:solidFill>
                <a:latin typeface="Microsoft YaHei"/>
              </a:rPr>
              <a:t>👯 同桌讨论 30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1700784"/>
            <a:ext cx="3931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8A99"/>
                </a:solidFill>
                <a:latin typeface="KaiTi"/>
              </a:rPr>
              <a:t>Partner talk · 30 seconds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11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如果老师一天都不整理，学校会变成什么样？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743200"/>
            <a:ext cx="4261104" cy="126187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5B01F"/>
                </a:solidFill>
                <a:latin typeface="KaiTi"/>
              </a:rPr>
              <a:t>💬 句子提示  Sentence frames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82112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2A38"/>
                </a:solidFill>
                <a:latin typeface="KaiTi"/>
              </a:rPr>
              <a:t>· 教室会变得______。</a:t>
            </a:r>
          </a:p>
          <a:p>
            <a:r>
              <a:rPr sz="1300" b="1">
                <a:solidFill>
                  <a:srgbClr val="242A38"/>
                </a:solidFill>
                <a:latin typeface="KaiTi"/>
              </a:rPr>
              <a:t>· 我们会找不到______。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133087"/>
            <a:ext cx="8375904" cy="548640"/>
          </a:xfrm>
          <a:prstGeom prst="roundRect">
            <a:avLst/>
          </a:prstGeom>
          <a:solidFill>
            <a:srgbClr val="FFF3DC"/>
          </a:solidFill>
          <a:ln w="31750">
            <a:solidFill>
              <a:srgbClr val="F26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206240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❤️ 学校是我们大家的 —— 每个人都可以出一份力！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今天……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5B01F"/>
                </a:solidFill>
                <a:latin typeface="Microsoft YaHei"/>
              </a:rPr>
              <a:t>👑 你们就是老师！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591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KaiTi"/>
              </a:rPr>
              <a:t>YOU are the teachers today!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880360"/>
            <a:ext cx="4114800" cy="1508760"/>
          </a:xfrm>
          <a:prstGeom prst="roundRect">
            <a:avLst/>
          </a:prstGeom>
          <a:solidFill>
            <a:srgbClr val="DFE9F7"/>
          </a:solidFill>
          <a:ln w="19050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42616" y="3026664"/>
            <a:ext cx="3858768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838A99"/>
                </a:solidFill>
                <a:latin typeface="KaiTi"/>
              </a:rPr>
              <a:t>🖼 大插图：小朋友戴着「小老师」徽章，神气地站成一排
Children proudly wearing teacher badges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FE0F8"/>
                </a:solidFill>
                <a:latin typeface="KaiTi"/>
              </a:rPr>
              <a:t>✨ 建议动画：皇冠从上方掉下来 + 掌声音效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🎯 一日小老师任务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KaiTi"/>
              </a:rPr>
              <a:t>Today's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115568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42A38"/>
                </a:solidFill>
                <a:latin typeface="KaiTi"/>
              </a:rPr>
              <a:t>今天的任务不是「把所有东西都打扫干净」，而是：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572768"/>
            <a:ext cx="1993392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7190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42A38"/>
                </a:solidFill>
                <a:latin typeface="KaiTi"/>
              </a:rPr>
              <a:t>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39572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F6FD6"/>
                </a:solidFill>
                <a:latin typeface="Microsoft YaHei"/>
              </a:rPr>
              <a:t>观察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7980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38A99"/>
                </a:solidFill>
                <a:latin typeface="KaiTi"/>
              </a:rP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12724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242A38"/>
                </a:solidFill>
                <a:latin typeface="KaiTi"/>
              </a:rPr>
              <a:t>看一看，哪里需要帮忙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456" y="1572768"/>
            <a:ext cx="1993392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05456" y="17190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42A38"/>
                </a:solidFill>
                <a:latin typeface="KaiTi"/>
              </a:rPr>
              <a:t>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239572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A98F"/>
                </a:solidFill>
                <a:latin typeface="Microsoft YaHei"/>
              </a:rPr>
              <a:t>有礼貌地提醒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5456" y="27980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38A99"/>
                </a:solidFill>
                <a:latin typeface="KaiTi"/>
              </a:rPr>
              <a:t>Politely remind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312724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242A38"/>
                </a:solidFill>
                <a:latin typeface="KaiTi"/>
              </a:rPr>
              <a:t>「请记得……谢谢你！」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26864" y="1572768"/>
            <a:ext cx="1993392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26864" y="17190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42A38"/>
                </a:solidFill>
                <a:latin typeface="KaiTi"/>
              </a:rPr>
              <a:t>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239572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B01F"/>
                </a:solidFill>
                <a:latin typeface="Microsoft YaHei"/>
              </a:rPr>
              <a:t>做好榜样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27980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38A99"/>
                </a:solidFill>
                <a:latin typeface="KaiTi"/>
              </a:rPr>
              <a:t>Be a role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312724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242A38"/>
                </a:solidFill>
                <a:latin typeface="KaiTi"/>
              </a:rPr>
              <a:t>自己先做到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48271" y="1572768"/>
            <a:ext cx="1993392" cy="2331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26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8271" y="17190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242A38"/>
                </a:solidFill>
                <a:latin typeface="KaiTi"/>
              </a:rPr>
              <a:t>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1" y="2395728"/>
            <a:ext cx="19933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6C53"/>
                </a:solidFill>
                <a:latin typeface="Microsoft YaHei"/>
              </a:rPr>
              <a:t>报告问题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1" y="2798064"/>
            <a:ext cx="1993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38A99"/>
                </a:solidFill>
                <a:latin typeface="KaiTi"/>
              </a:rPr>
              <a:t>Report problems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7" y="312724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242A38"/>
                </a:solidFill>
                <a:latin typeface="KaiTi"/>
              </a:rPr>
              <a:t>告诉老师，不自己处理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4069080"/>
            <a:ext cx="8375904" cy="566928"/>
          </a:xfrm>
          <a:prstGeom prst="roundRect">
            <a:avLst/>
          </a:prstGeom>
          <a:solidFill>
            <a:srgbClr val="FFF3DC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4151376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KaiTi"/>
              </a:rPr>
              <a:t>⭐ 用行动做榜样，不用大声命令。  Lead by example, not by yelling.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1F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Microsoft YaHei"/>
              </a:rPr>
              <a:t>第1组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KaiTi"/>
              </a:rPr>
              <a:t>Team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945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🚻 卫生间小管家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6583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KaiTi"/>
              </a:rPr>
              <a:t>Bathroom Managers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170432"/>
            <a:ext cx="3291840" cy="3246120"/>
          </a:xfrm>
          <a:prstGeom prst="roundRect">
            <a:avLst/>
          </a:prstGeom>
          <a:solidFill>
            <a:srgbClr val="DFE9F7"/>
          </a:solidFill>
          <a:ln w="19050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1316736"/>
            <a:ext cx="3035808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838A99"/>
                </a:solidFill>
                <a:latin typeface="KaiTi"/>
              </a:rPr>
              <a:t>🖼 插图：干净明亮的儿童卫生间 —— 洗手台、
垃圾桶、擦手纸，旁边有「请冲水」小标志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58768" y="1170432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05072" y="1271016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242A38"/>
                </a:solidFill>
                <a:latin typeface="KaiTi"/>
              </a:rPr>
              <a:t>✅ </a:t>
            </a:r>
            <a:r>
              <a:rPr sz="1400" b="1" dirty="0" err="1">
                <a:solidFill>
                  <a:srgbClr val="242A38"/>
                </a:solidFill>
                <a:latin typeface="KaiTi"/>
              </a:rPr>
              <a:t>提醒大家冲水</a:t>
            </a:r>
            <a:r>
              <a:rPr lang="zh-CN" altLang="en-US" sz="1400" b="1" dirty="0">
                <a:solidFill>
                  <a:srgbClr val="242A38"/>
                </a:solidFill>
                <a:latin typeface="KaiTi"/>
              </a:rPr>
              <a:t>、洗手</a:t>
            </a:r>
            <a:endParaRPr sz="1400" b="1" dirty="0">
              <a:solidFill>
                <a:srgbClr val="242A38"/>
              </a:solidFill>
              <a:latin typeface="KaiT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58768" y="1828800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05072" y="1929384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纸巾丢进垃圾桶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68" y="2487168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5072" y="2587751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242A38"/>
                </a:solidFill>
                <a:latin typeface="KaiTi"/>
              </a:rPr>
              <a:t>✅ </a:t>
            </a:r>
            <a:r>
              <a:rPr lang="en-US" sz="1400" b="1" dirty="0" err="1">
                <a:solidFill>
                  <a:srgbClr val="242A38"/>
                </a:solidFill>
                <a:latin typeface="KaiTi"/>
              </a:rPr>
              <a:t>提醒大家保持</a:t>
            </a:r>
            <a:r>
              <a:rPr sz="1400" b="1" dirty="0" err="1">
                <a:solidFill>
                  <a:srgbClr val="242A38"/>
                </a:solidFill>
                <a:latin typeface="KaiTi"/>
              </a:rPr>
              <a:t>台面</a:t>
            </a:r>
            <a:r>
              <a:rPr lang="en-US" sz="1400" b="1" dirty="0" err="1">
                <a:solidFill>
                  <a:srgbClr val="242A38"/>
                </a:solidFill>
                <a:latin typeface="KaiTi"/>
              </a:rPr>
              <a:t>干净整齐</a:t>
            </a:r>
            <a:r>
              <a:rPr lang="en-US" altLang="zh-CN" sz="1400" b="1" dirty="0">
                <a:solidFill>
                  <a:srgbClr val="242A38"/>
                </a:solidFill>
                <a:latin typeface="KaiTi"/>
              </a:rPr>
              <a:t>,</a:t>
            </a:r>
            <a:r>
              <a:rPr lang="zh-CN" altLang="en-US" sz="1400" b="1" dirty="0">
                <a:solidFill>
                  <a:srgbClr val="242A38"/>
                </a:solidFill>
                <a:latin typeface="KaiTi"/>
              </a:rPr>
              <a:t>随手把台面</a:t>
            </a:r>
            <a:r>
              <a:rPr sz="1400" b="1" dirty="0" err="1">
                <a:solidFill>
                  <a:srgbClr val="242A38"/>
                </a:solidFill>
                <a:latin typeface="KaiTi"/>
              </a:rPr>
              <a:t>上的水擦干</a:t>
            </a:r>
            <a:endParaRPr sz="1400" b="1" dirty="0">
              <a:solidFill>
                <a:srgbClr val="242A38"/>
              </a:solidFill>
              <a:latin typeface="KaiT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858768" y="3145536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05072" y="3246120"/>
            <a:ext cx="4617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242A38"/>
                </a:solidFill>
                <a:latin typeface="KaiTi"/>
              </a:rPr>
              <a:t>✅ </a:t>
            </a:r>
            <a:r>
              <a:rPr sz="1400" b="1" dirty="0" err="1">
                <a:solidFill>
                  <a:srgbClr val="242A38"/>
                </a:solidFill>
                <a:latin typeface="KaiTi"/>
              </a:rPr>
              <a:t>看到不</a:t>
            </a:r>
            <a:r>
              <a:rPr lang="en-US" sz="1400" b="1" dirty="0" err="1">
                <a:solidFill>
                  <a:srgbClr val="242A38"/>
                </a:solidFill>
                <a:latin typeface="KaiTi"/>
              </a:rPr>
              <a:t>文明</a:t>
            </a:r>
            <a:r>
              <a:rPr lang="zh-CN" altLang="en-US" sz="1400" b="1" dirty="0">
                <a:solidFill>
                  <a:srgbClr val="242A38"/>
                </a:solidFill>
                <a:latin typeface="KaiTi"/>
              </a:rPr>
              <a:t>、</a:t>
            </a:r>
            <a:r>
              <a:rPr sz="1400" b="1" dirty="0" err="1">
                <a:solidFill>
                  <a:srgbClr val="242A38"/>
                </a:solidFill>
                <a:latin typeface="KaiTi"/>
              </a:rPr>
              <a:t>安全的行为，报告老师</a:t>
            </a:r>
            <a:endParaRPr sz="1400" b="1" dirty="0">
              <a:solidFill>
                <a:srgbClr val="242A38"/>
              </a:solidFill>
              <a:latin typeface="KaiT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4048" y="4617720"/>
            <a:ext cx="8375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FA98F"/>
                </a:solidFill>
                <a:latin typeface="KaiTi"/>
              </a:rPr>
              <a:t>🙂 </a:t>
            </a:r>
            <a:r>
              <a:rPr sz="1200" b="1" dirty="0" err="1">
                <a:solidFill>
                  <a:srgbClr val="1FA98F"/>
                </a:solidFill>
                <a:latin typeface="KaiTi"/>
              </a:rPr>
              <a:t>只做「友善的提醒</a:t>
            </a:r>
            <a:r>
              <a:rPr sz="1200" b="1" dirty="0">
                <a:solidFill>
                  <a:srgbClr val="1FA98F"/>
                </a:solidFill>
                <a:latin typeface="KaiTi"/>
              </a:rPr>
              <a:t>」，</a:t>
            </a:r>
            <a:r>
              <a:rPr sz="1200" b="1" dirty="0" err="1">
                <a:solidFill>
                  <a:srgbClr val="1FA98F"/>
                </a:solidFill>
                <a:latin typeface="KaiTi"/>
              </a:rPr>
              <a:t>不当「小警察</a:t>
            </a:r>
            <a:r>
              <a:rPr sz="1200" b="1" dirty="0">
                <a:solidFill>
                  <a:srgbClr val="1FA98F"/>
                </a:solidFill>
                <a:latin typeface="KaiTi"/>
              </a:rPr>
              <a:t>」  Friendly reminders only — never bossy!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8A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Microsoft YaHei"/>
              </a:rPr>
              <a:t>第2组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KaiTi"/>
              </a:rPr>
              <a:t>Team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945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📚 图书角小管家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6583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KaiTi"/>
              </a:rPr>
              <a:t>Library Managers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170432"/>
            <a:ext cx="3291840" cy="3246120"/>
          </a:xfrm>
          <a:prstGeom prst="roundRect">
            <a:avLst/>
          </a:prstGeom>
          <a:solidFill>
            <a:srgbClr val="DFE9F7"/>
          </a:solidFill>
          <a:ln w="19050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1316736"/>
            <a:ext cx="3035808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838A99"/>
                </a:solidFill>
                <a:latin typeface="KaiTi"/>
              </a:rPr>
              <a:t>🖼 插图：整齐的儿童书架，书脊朝外排好，
旁边有小朋友把书放回原位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58768" y="1170432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05072" y="1271016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书要放整齐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1828800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05072" y="1929384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看完的书放回原位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68" y="2487168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5072" y="2587751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地上不能有书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58768" y="3145536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05072" y="324612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爱护图书，不折不画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617720"/>
            <a:ext cx="8375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A5AC8"/>
                </a:solidFill>
                <a:latin typeface="KaiTi"/>
              </a:rPr>
              <a:t>🙂 只做「友善的提醒」，不当「小警察」  Friendly reminders only — never bossy!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Microsoft YaHei"/>
              </a:rPr>
              <a:t>第3组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KaiTi"/>
              </a:rPr>
              <a:t>Team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945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🎒 书包文具小管家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6583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KaiTi"/>
              </a:rPr>
              <a:t>Backpack &amp; Stationery Managers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170432"/>
            <a:ext cx="3291840" cy="3246120"/>
          </a:xfrm>
          <a:prstGeom prst="roundRect">
            <a:avLst/>
          </a:prstGeom>
          <a:solidFill>
            <a:srgbClr val="DFE9F7"/>
          </a:solidFill>
          <a:ln w="19050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1316736"/>
            <a:ext cx="303580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dirty="0">
                <a:solidFill>
                  <a:srgbClr val="838A99"/>
                </a:solidFill>
                <a:latin typeface="KaiTi"/>
              </a:rPr>
              <a:t>🖼 </a:t>
            </a:r>
            <a:r>
              <a:rPr sz="1150" b="0" dirty="0" err="1">
                <a:solidFill>
                  <a:srgbClr val="838A99"/>
                </a:solidFill>
                <a:latin typeface="KaiTi"/>
              </a:rPr>
              <a:t>插图：整齐的书包柜，书包立好</a:t>
            </a:r>
            <a:r>
              <a:rPr sz="1150" b="0" dirty="0">
                <a:solidFill>
                  <a:srgbClr val="838A99"/>
                </a:solidFill>
                <a:latin typeface="KaiTi"/>
              </a:rPr>
              <a:t>，
</a:t>
            </a:r>
            <a:r>
              <a:rPr sz="1150" b="0" dirty="0" err="1">
                <a:solidFill>
                  <a:srgbClr val="838A99"/>
                </a:solidFill>
                <a:latin typeface="KaiTi"/>
              </a:rPr>
              <a:t>水杯直立，地上干干净净</a:t>
            </a:r>
            <a:endParaRPr sz="1150" b="0" dirty="0">
              <a:solidFill>
                <a:srgbClr val="838A99"/>
              </a:solidFill>
              <a:latin typeface="KaiT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858768" y="1170432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05072" y="1271016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书包站好，排整齐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1828800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05072" y="1929384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水杯要立起来，盖子拧紧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68" y="2487168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5072" y="2587751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零食不掉出来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58768" y="3145536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05072" y="324612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铅笔、彩笔用完放回原处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58768" y="3803904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05072" y="3904488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地上没有铅笔和橡皮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617720"/>
            <a:ext cx="8375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B01F"/>
                </a:solidFill>
                <a:latin typeface="KaiTi"/>
              </a:rPr>
              <a:t>🙂 只做「友善的提醒」，不当「小警察」  Friendly reminders only — never bossy!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F26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Microsoft YaHei"/>
              </a:rPr>
              <a:t>第4组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035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KaiTi"/>
              </a:rPr>
              <a:t>Team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945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🍎 点心区小管家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6583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KaiTi"/>
              </a:rPr>
              <a:t>Snack Area Managers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170432"/>
            <a:ext cx="3291840" cy="3246120"/>
          </a:xfrm>
          <a:prstGeom prst="roundRect">
            <a:avLst/>
          </a:prstGeom>
          <a:solidFill>
            <a:srgbClr val="DFE9F7"/>
          </a:solidFill>
          <a:ln w="19050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1316736"/>
            <a:ext cx="3035808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838A99"/>
                </a:solidFill>
                <a:latin typeface="KaiTi"/>
              </a:rPr>
              <a:t>🖼 插图：干净的点心桌 —— 桌面擦亮、
垃圾桶旁没有垃圾、小朋友在擦桌子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58768" y="1170432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6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05072" y="1271016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垃圾丢进垃圾桶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1828800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6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05072" y="1929384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桌面擦干净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68" y="2487168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6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5072" y="2587751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地上没有食物碎屑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58768" y="3145536"/>
            <a:ext cx="4901184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6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05072" y="324612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✅ 吃完自己收拾好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617720"/>
            <a:ext cx="8375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6C53"/>
                </a:solidFill>
                <a:latin typeface="KaiTi"/>
              </a:rPr>
              <a:t>🙂 只做「友善的提醒」，不当「小警察」  Friendly reminders only — never bossy!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2F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💬 小老师怎么说？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KaiTi"/>
              </a:rPr>
              <a:t>Use Polite Words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70432"/>
            <a:ext cx="4114800" cy="3017520"/>
          </a:xfrm>
          <a:prstGeom prst="roundRect">
            <a:avLst/>
          </a:prstGeom>
          <a:solidFill>
            <a:srgbClr val="FDECEC"/>
          </a:solidFill>
          <a:ln w="317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2618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D8453A"/>
                </a:solidFill>
                <a:latin typeface="Microsoft YaHei"/>
              </a:rPr>
              <a:t>❌ 不要这样说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68249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8A99"/>
                </a:solidFill>
                <a:latin typeface="KaiTi"/>
              </a:rPr>
              <a:t>Don't say…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29968"/>
            <a:ext cx="36118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1214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8453A"/>
                </a:solidFill>
                <a:latin typeface="Microsoft YaHei"/>
              </a:rPr>
              <a:t>「快点！」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88336"/>
            <a:ext cx="36118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7797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8453A"/>
                </a:solidFill>
                <a:latin typeface="Microsoft YaHei"/>
              </a:rPr>
              <a:t>「你怎么这样！」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46704"/>
            <a:ext cx="36118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343814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8453A"/>
                </a:solidFill>
                <a:latin typeface="Microsoft YaHei"/>
              </a:rPr>
              <a:t>「不许动！」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1170432"/>
            <a:ext cx="4114800" cy="3017520"/>
          </a:xfrm>
          <a:prstGeom prst="roundRect">
            <a:avLst/>
          </a:prstGeom>
          <a:solidFill>
            <a:srgbClr val="E9F7EF"/>
          </a:solidFill>
          <a:ln w="317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8032" y="12618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9E7A"/>
                </a:solidFill>
                <a:latin typeface="Microsoft YaHei"/>
              </a:rPr>
              <a:t>✅ 请这样说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68249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38A99"/>
                </a:solidFill>
                <a:latin typeface="KaiTi"/>
              </a:rPr>
              <a:t>Say this instead…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01184" y="2029968"/>
            <a:ext cx="36118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47488" y="206654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9E7A"/>
                </a:solidFill>
                <a:latin typeface="Microsoft YaHei"/>
              </a:rPr>
              <a:t>「请记得……」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01184" y="2532888"/>
            <a:ext cx="36118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7488" y="256946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9E7A"/>
                </a:solidFill>
                <a:latin typeface="Microsoft YaHei"/>
              </a:rPr>
              <a:t>「谢谢你的合作！」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1184" y="3035808"/>
            <a:ext cx="36118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47488" y="307238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9E7A"/>
                </a:solidFill>
                <a:latin typeface="Microsoft YaHei"/>
              </a:rPr>
              <a:t>「我来帮你。」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01184" y="3538728"/>
            <a:ext cx="361188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47488" y="357530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9E7A"/>
                </a:solidFill>
                <a:latin typeface="Microsoft YaHei"/>
              </a:rPr>
              <a:t>「请放回原位。」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315968"/>
            <a:ext cx="8375904" cy="502920"/>
          </a:xfrm>
          <a:prstGeom prst="roundRect">
            <a:avLst/>
          </a:prstGeom>
          <a:solidFill>
            <a:srgbClr val="FFF3DC"/>
          </a:solidFill>
          <a:ln w="31750">
            <a:solidFill>
              <a:srgbClr val="2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366259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🗣 全班跟老师读一遍：「请记得……谢谢你的合作！」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1FA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📜 小老师守则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KaiTi"/>
              </a:rPr>
              <a:t>Rules for Classroom Managers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70432"/>
            <a:ext cx="4114800" cy="3246120"/>
          </a:xfrm>
          <a:prstGeom prst="roundRect">
            <a:avLst/>
          </a:prstGeom>
          <a:solidFill>
            <a:srgbClr val="E9F7EF"/>
          </a:solidFill>
          <a:ln w="317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2618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9E7A"/>
                </a:solidFill>
                <a:latin typeface="Microsoft YaHei"/>
              </a:rPr>
              <a:t>😊 要这样做  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55648"/>
            <a:ext cx="36118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847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42A38"/>
                </a:solidFill>
                <a:latin typeface="KaiTi"/>
              </a:rPr>
              <a:t>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470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Microsoft YaHei"/>
              </a:rPr>
              <a:t>友善待人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95728"/>
            <a:ext cx="36118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42A38"/>
                </a:solidFill>
                <a:latin typeface="KaiTi"/>
              </a:rPr>
              <a:t>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87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Microsoft YaHei"/>
              </a:rPr>
              <a:t>鼓励别人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35808"/>
            <a:ext cx="36118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127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42A38"/>
                </a:solidFill>
                <a:latin typeface="KaiTi"/>
              </a:rPr>
              <a:t>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27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Microsoft YaHei"/>
              </a:rPr>
              <a:t>帮助同学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75887"/>
            <a:ext cx="36118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9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37673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42A38"/>
                </a:solidFill>
                <a:latin typeface="KaiTi"/>
              </a:rPr>
              <a:t>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67327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Microsoft YaHei"/>
              </a:rPr>
              <a:t>做好榜样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1170432"/>
            <a:ext cx="4114800" cy="3246120"/>
          </a:xfrm>
          <a:prstGeom prst="roundRect">
            <a:avLst/>
          </a:prstGeom>
          <a:solidFill>
            <a:srgbClr val="FDECEC"/>
          </a:solidFill>
          <a:ln w="317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28032" y="126187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D8453A"/>
                </a:solidFill>
                <a:latin typeface="Microsoft YaHei"/>
              </a:rPr>
              <a:t>❌ 不要这样做  DON'T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1184" y="1755648"/>
            <a:ext cx="36118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0" y="1847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42A38"/>
                </a:solidFill>
                <a:latin typeface="KaiTi"/>
              </a:rPr>
              <a:t>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41264" y="184708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Microsoft YaHei"/>
              </a:rPr>
              <a:t>大声吼叫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01184" y="2395728"/>
            <a:ext cx="36118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0" y="2487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42A38"/>
                </a:solidFill>
                <a:latin typeface="KaiTi"/>
              </a:rPr>
              <a:t>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1264" y="24871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Microsoft YaHei"/>
              </a:rPr>
              <a:t>命令别人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01184" y="3035808"/>
            <a:ext cx="36118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0" y="3127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42A38"/>
                </a:solidFill>
                <a:latin typeface="KaiTi"/>
              </a:rPr>
              <a:t>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41264" y="31272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Microsoft YaHei"/>
              </a:rPr>
              <a:t>嘲笑错误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01184" y="3675887"/>
            <a:ext cx="36118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37673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42A38"/>
                </a:solidFill>
                <a:latin typeface="KaiTi"/>
              </a:rPr>
              <a:t>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3767327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42A38"/>
                </a:solidFill>
                <a:latin typeface="Microsoft YaHei"/>
              </a:rPr>
              <a:t>和同学吵架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4526280"/>
            <a:ext cx="8375904" cy="475488"/>
          </a:xfrm>
          <a:prstGeom prst="roundRect">
            <a:avLst/>
          </a:prstGeom>
          <a:solidFill>
            <a:srgbClr val="FFF3DC"/>
          </a:solidFill>
          <a:ln w="3175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4562856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👑 好的小老师，先管好自己，再帮助别人。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F5B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🏆 下午 3:30 大检查！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KaiTi"/>
              </a:rPr>
              <a:t>Big Inspection at 3:30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115568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42A38"/>
                </a:solidFill>
                <a:latin typeface="KaiTi"/>
              </a:rPr>
              <a:t>老师会到每一个区域检查，四个组都有机会拿满星！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572768"/>
            <a:ext cx="1591056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682496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7627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干净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505456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38A99"/>
                </a:solidFill>
                <a:latin typeface="KaiTi"/>
              </a:rPr>
              <a:t>Cleanliness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76148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42A38"/>
                </a:solidFill>
                <a:latin typeface="KaiTi"/>
              </a:rPr>
              <a:t>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4832" y="1572768"/>
            <a:ext cx="1591056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84832" y="1682496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17627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整齐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9696" y="2505456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38A99"/>
                </a:solidFill>
                <a:latin typeface="KaiTi"/>
              </a:rPr>
              <a:t>Organization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4832" y="276148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42A38"/>
                </a:solidFill>
                <a:latin typeface="KaiTi"/>
              </a:rPr>
              <a:t>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85616" y="1572768"/>
            <a:ext cx="1591056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85616" y="1682496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5616" y="217627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责任心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505456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38A99"/>
                </a:solidFill>
                <a:latin typeface="KaiTi"/>
              </a:rPr>
              <a:t>Responsibility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6" y="276148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42A38"/>
                </a:solidFill>
                <a:latin typeface="KaiTi"/>
              </a:rPr>
              <a:t>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572768"/>
            <a:ext cx="1591056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0" y="1682496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17627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有礼貌的提醒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1264" y="2505456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38A99"/>
                </a:solidFill>
                <a:latin typeface="KaiTi"/>
              </a:rPr>
              <a:t>Polite reminders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76148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42A38"/>
                </a:solidFill>
                <a:latin typeface="KaiTi"/>
              </a:rPr>
              <a:t>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87184" y="1572768"/>
            <a:ext cx="1591056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87184" y="1682496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184" y="217627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Microsoft YaHei"/>
              </a:rPr>
              <a:t>团队合作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2505456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838A99"/>
                </a:solidFill>
                <a:latin typeface="KaiTi"/>
              </a:rPr>
              <a:t>Teamwork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4" y="276148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42A38"/>
                </a:solidFill>
                <a:latin typeface="KaiTi"/>
              </a:rPr>
              <a:t>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0" y="3218688"/>
            <a:ext cx="5120640" cy="1097280"/>
          </a:xfrm>
          <a:prstGeom prst="roundRect">
            <a:avLst/>
          </a:prstGeom>
          <a:solidFill>
            <a:srgbClr val="FFF3DC"/>
          </a:solidFill>
          <a:ln w="3810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48840" y="33101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B01F"/>
                </a:solidFill>
                <a:latin typeface="Microsoft YaHei"/>
              </a:rPr>
              <a:t>🏆 最佳小老师小组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3785615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KaiTi"/>
              </a:rPr>
              <a:t>Best Classroom Managers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434840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38A99"/>
                </a:solidFill>
                <a:latin typeface="KaiTi"/>
              </a:rPr>
              <a:t>🖼 建议插图：大奖杯 + 四个小组的小朋友一起欢呼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4320" y="164592"/>
            <a:ext cx="8595360" cy="841248"/>
          </a:xfrm>
          <a:prstGeom prst="roundRect">
            <a:avLst/>
          </a:prstGeom>
          <a:solidFill>
            <a:srgbClr val="8A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19456"/>
            <a:ext cx="8321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icrosoft YaHei"/>
              </a:rPr>
              <a:t>💭 今天你想成为什么样的小老师？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67665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KaiTi"/>
              </a:rPr>
              <a:t>What Kind of Little Teacher Will You Be?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70432"/>
            <a:ext cx="269748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2984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92224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F6FD6"/>
                </a:solidFill>
                <a:latin typeface="Microsoft YaHei"/>
              </a:rPr>
              <a:t>今天我要……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23113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38A99"/>
                </a:solidFill>
                <a:latin typeface="KaiTi"/>
              </a:rPr>
              <a:t>Today I will…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1170432"/>
            <a:ext cx="269748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FA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36976" y="12984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1792224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FA98F"/>
                </a:solidFill>
                <a:latin typeface="Microsoft YaHei"/>
              </a:rPr>
              <a:t>我会……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23113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38A99"/>
                </a:solidFill>
                <a:latin typeface="KaiTi"/>
              </a:rPr>
              <a:t>I can…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170432"/>
            <a:ext cx="269748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B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9904" y="12984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242A38"/>
                </a:solidFill>
                <a:latin typeface="KaiTi"/>
              </a:rPr>
              <a:t>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1792224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5B01F"/>
                </a:solidFill>
                <a:latin typeface="Microsoft YaHei"/>
              </a:rPr>
              <a:t>我希望……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23113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38A99"/>
                </a:solidFill>
                <a:latin typeface="KaiTi"/>
              </a:rPr>
              <a:t>I hope…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724912"/>
            <a:ext cx="8375904" cy="530352"/>
          </a:xfrm>
          <a:prstGeom prst="roundRect">
            <a:avLst/>
          </a:prstGeom>
          <a:solidFill>
            <a:srgbClr val="FFF3DC"/>
          </a:solidFill>
          <a:ln w="31750">
            <a:solidFill>
              <a:srgbClr val="8A5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2788920"/>
            <a:ext cx="8046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2A38"/>
                </a:solidFill>
                <a:latin typeface="KaiTi"/>
              </a:rPr>
              <a:t>👯 先和同桌说一说（30 秒），再请 3–4 位小老师分享。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401568"/>
            <a:ext cx="8375904" cy="1170432"/>
          </a:xfrm>
          <a:prstGeom prst="roundRect">
            <a:avLst/>
          </a:prstGeom>
          <a:solidFill>
            <a:srgbClr val="FFF3DC"/>
          </a:solidFill>
          <a:ln w="38100">
            <a:solidFill>
              <a:srgbClr val="E85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49300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85B81"/>
                </a:solidFill>
                <a:latin typeface="Microsoft YaHei"/>
              </a:rPr>
              <a:t>❤️ 一个干净、整齐、友善的学校，需要每一个人的努力！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986784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42A38"/>
                </a:solidFill>
                <a:latin typeface="KaiTi"/>
              </a:rPr>
              <a:t>Together we make our school a better place.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645152"/>
            <a:ext cx="8375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F6FD6"/>
                </a:solidFill>
                <a:latin typeface="KaiTi"/>
              </a:rPr>
              <a:t>👑 老师：「小老师们，出发！」   学生：「我们准备好了！」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94192" y="4828032"/>
            <a:ext cx="457200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3C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4846320"/>
            <a:ext cx="4572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00">
                <a:solidFill>
                  <a:srgbClr val="838A99"/>
                </a:solidFill>
                <a:latin typeface="KaiT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2402</Words>
  <Application>Microsoft Macintosh PowerPoint</Application>
  <PresentationFormat>On-screen Show (16:9)</PresentationFormat>
  <Paragraphs>481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KaiTi</vt:lpstr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Huan Li</cp:lastModifiedBy>
  <cp:revision>2</cp:revision>
  <dcterms:created xsi:type="dcterms:W3CDTF">2013-01-27T09:14:16Z</dcterms:created>
  <dcterms:modified xsi:type="dcterms:W3CDTF">2026-07-29T15:05:42Z</dcterms:modified>
  <cp:category/>
</cp:coreProperties>
</file>