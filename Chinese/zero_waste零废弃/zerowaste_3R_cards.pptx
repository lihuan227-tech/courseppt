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704088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KaiTi"/>
              </a:rPr>
              <a:t>🏷️ 3R 区标牌  Sorting Zone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打印 → 剪开 → 贴在墙上或桌上 3 个区  ·  Print, cut, post 3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25295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BBBBB"/>
                </a:solidFill>
                <a:latin typeface="KaiTi"/>
              </a:rPr>
              <a:t>✂ - - - - - - - - - - - - - - - - - - - - - - - - - - - - - - - - - - - - - - - - - - - - - - 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6766560" cy="2423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6766560" cy="7772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KaiTi"/>
              </a:rPr>
              <a:t>⬇️  Reduce · 减少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⬇️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8E5"/>
                </a:solidFill>
                <a:latin typeface="KaiTi"/>
              </a:rPr>
              <a:t>用得少一点  Use 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922776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BBBBB"/>
                </a:solidFill>
                <a:latin typeface="KaiTi"/>
              </a:rPr>
              <a:t>✂ - - - - - - - - - - - - - - - - - - - - - - - - - - - - - - - - - - - - - - - - - - - - - - 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6766560" cy="2423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6766560" cy="7772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7024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KaiTi"/>
              </a:rPr>
              <a:t>🔁  Reuse · 重复使用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8C00"/>
                </a:solidFill>
                <a:latin typeface="KaiTi"/>
              </a:rPr>
              <a:t>再用一次  Use again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620256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BBBBB"/>
                </a:solidFill>
                <a:latin typeface="KaiTi"/>
              </a:rPr>
              <a:t>✂ - - - - - - - - - - - - - - - - - - - - - - - - - - - - - - - - - - - - - - - - - - - - - - 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858000"/>
            <a:ext cx="6766560" cy="2423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6858000"/>
            <a:ext cx="6766560" cy="7772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96772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KaiTi"/>
              </a:rPr>
              <a:t>♻️  Recycle · 回收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781812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8732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3A047"/>
                </a:solidFill>
                <a:latin typeface="KaiTi"/>
              </a:rPr>
              <a:t>变成新东西  Make new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7040880" cy="64008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KaiTi"/>
              </a:rPr>
              <a:t>🃏 3R 分类卡 (1/2)  Sorting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剪开, 学生抽卡放进对的 R 区  ·  Cut apart — sort into the right R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一直流的水龙头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Running tap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40" y="141732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只写一面的纸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611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Paper, one side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97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塑料袋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09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Plastic bag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40" y="411480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44348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897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塑料吸管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6309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Plastic straw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1228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7132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8595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空塑料瓶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9006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Empty bottle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681228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7132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8595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小了的衣服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9006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Outgrown clothes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7040880" cy="64008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KaiTi"/>
              </a:rPr>
              <a:t>🃏 3R 分类卡 (2/2)  Sorting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剪开, 学生抽卡放进对的 R 区  ·  Cut apart — sort into the right R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快递纸箱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Cardboard 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40" y="141732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玻璃罐子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611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Glass jar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97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喝完的易拉罐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09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Empty can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40" y="411480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44348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897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旧报纸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6309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Old newspaper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1228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7132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8595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玻璃瓶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9006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Glass bottle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6812280"/>
            <a:ext cx="32918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7132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2C2C2C"/>
                </a:solidFill>
                <a:latin typeface="KaiTi"/>
              </a:rPr>
              <a:t>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8595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洗发水瓶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9006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Shampoo bottle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7040880" cy="6400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KaiTi"/>
              </a:rPr>
              <a:t>🕵️ 大侦探场景卡 (1/2)  Detective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找问题 → 说更好的做法  ·  Spot the problem → say a better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水龙头一直开着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Tap left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4805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49377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977640" y="141732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155448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🍽️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2918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用一次就扔的餐具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Single-use 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44805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60520" y="49377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539496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0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269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没有人却开着灯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7266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Lights on, nobody there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8092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84582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8549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89154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977640" y="539496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14800" y="553212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6080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7269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纸只用了一面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77266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Paper used one side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8092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60520" y="84582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160520" y="8549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60520" y="89154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7040880" cy="6400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KaiTi"/>
              </a:rPr>
              <a:t>🕵️ 大侦探场景卡 (2/2)  Detective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找问题 → 说更好的做法  ·  Spot the problem → say a better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买东西用好多塑料袋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Too many plastic bags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4805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49377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977640" y="141732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155448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2918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喝饮料用塑料吸管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Plastic straw + cup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44805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60520" y="493776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539496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0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🗑️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269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可回收的扔进垃圾桶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7266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Recyclables in trash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8092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84582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8549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89154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977640" y="5394960"/>
            <a:ext cx="32918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14800" y="553212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6080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7269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充完电还插着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77266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Charger left plugged 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8092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04A3C"/>
                </a:solidFill>
                <a:latin typeface="KaiTi"/>
              </a:rPr>
              <a:t>问题 Problem: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60520" y="84582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160520" y="8549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KaiTi"/>
              </a:rPr>
              <a:t>更好 Better: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60520" y="8915400"/>
            <a:ext cx="2926080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7040880" cy="6400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KaiTi"/>
              </a:rPr>
              <a:t>📝 我是 Zero Waste 大侦探  Detective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名字 Name: __________________    日期 Date: 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看图片, 找出问题, 写下更好的做法!  Find the problem, write a better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676656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47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问题是什么?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更好的做法? Better way + 哪个 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6766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569463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15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331720"/>
            <a:ext cx="0" cy="841248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3172968"/>
            <a:ext cx="6766560" cy="841248"/>
          </a:xfrm>
          <a:prstGeom prst="rect">
            <a:avLst/>
          </a:prstGeom>
          <a:solidFill>
            <a:srgbClr val="F1F8E9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3410711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456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172968"/>
            <a:ext cx="0" cy="841247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4014215"/>
            <a:ext cx="6766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4251959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297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4014215"/>
            <a:ext cx="0" cy="841249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" y="4855464"/>
            <a:ext cx="6766560" cy="841248"/>
          </a:xfrm>
          <a:prstGeom prst="rect">
            <a:avLst/>
          </a:prstGeom>
          <a:solidFill>
            <a:srgbClr val="F1F8E9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5093208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389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0" y="4855464"/>
            <a:ext cx="0" cy="841248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5696712"/>
            <a:ext cx="6766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5934456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80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5696712"/>
            <a:ext cx="0" cy="841248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02920" y="6537960"/>
            <a:ext cx="6766560" cy="841248"/>
          </a:xfrm>
          <a:prstGeom prst="rect">
            <a:avLst/>
          </a:prstGeom>
          <a:solidFill>
            <a:srgbClr val="F1F8E9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368" y="6775704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8214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0" y="6537960"/>
            <a:ext cx="0" cy="841248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2920" y="7379208"/>
            <a:ext cx="6766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" y="7616952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7662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0" y="7379208"/>
            <a:ext cx="0" cy="841248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02920" y="8220456"/>
            <a:ext cx="6766560" cy="841248"/>
          </a:xfrm>
          <a:prstGeom prst="rect">
            <a:avLst/>
          </a:prstGeom>
          <a:solidFill>
            <a:srgbClr val="F1F8E9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" y="8458200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8503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14800" y="8220456"/>
            <a:ext cx="0" cy="841248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20040"/>
            <a:ext cx="7040880" cy="64008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KaiTi"/>
              </a:rPr>
              <a:t>✅ 老师参考答案  Answer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答案不唯一 — 学生能说出理由即可  ·  Answers may vary; reasoning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KaiTi"/>
              </a:rPr>
              <a:t>🃏 3R 分类卡 (蓝=Reduce · 橙=Reuse · 绿=Recycle)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78308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💧 一直流的水龙头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Reduce · 用完就关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258568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2128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📄 只写一面的纸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50591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Reduce · 两面都用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734056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8833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🛍️ 塑料袋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92608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Reduce · 自带布袋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209544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163824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🥤 塑料吸管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40156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Reduce · 自带水杯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685032"/>
            <a:ext cx="201168" cy="201168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3931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🍶 空塑料瓶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877056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Reuse/Recycle · 花盆或回收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160520"/>
            <a:ext cx="201168" cy="201168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1148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👕 小了的衣服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352544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Reuse · 传给弟妹</a:t>
            </a:r>
          </a:p>
        </p:txBody>
      </p:sp>
      <p:sp>
        <p:nvSpPr>
          <p:cNvPr id="25" name="Oval 24"/>
          <p:cNvSpPr/>
          <p:nvPr/>
        </p:nvSpPr>
        <p:spPr>
          <a:xfrm>
            <a:off x="4023360" y="1783080"/>
            <a:ext cx="201168" cy="201168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7373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📦 快递纸箱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975104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Reuse/Recycle · 做手工或回收</a:t>
            </a:r>
          </a:p>
        </p:txBody>
      </p:sp>
      <p:sp>
        <p:nvSpPr>
          <p:cNvPr id="28" name="Oval 27"/>
          <p:cNvSpPr/>
          <p:nvPr/>
        </p:nvSpPr>
        <p:spPr>
          <a:xfrm>
            <a:off x="4023360" y="2258568"/>
            <a:ext cx="201168" cy="201168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22128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🫙 玻璃罐子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450591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Reuse · 当笔筒</a:t>
            </a:r>
          </a:p>
        </p:txBody>
      </p:sp>
      <p:sp>
        <p:nvSpPr>
          <p:cNvPr id="31" name="Oval 30"/>
          <p:cNvSpPr/>
          <p:nvPr/>
        </p:nvSpPr>
        <p:spPr>
          <a:xfrm>
            <a:off x="4023360" y="2734056"/>
            <a:ext cx="201168" cy="20116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268833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🥫 喝完的易拉罐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292608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Recycle · 金属回收</a:t>
            </a:r>
          </a:p>
        </p:txBody>
      </p:sp>
      <p:sp>
        <p:nvSpPr>
          <p:cNvPr id="34" name="Oval 33"/>
          <p:cNvSpPr/>
          <p:nvPr/>
        </p:nvSpPr>
        <p:spPr>
          <a:xfrm>
            <a:off x="4023360" y="3209544"/>
            <a:ext cx="201168" cy="20116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5968" y="3163824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📰 旧报纸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340156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Recycle · 纸类回收</a:t>
            </a:r>
          </a:p>
        </p:txBody>
      </p:sp>
      <p:sp>
        <p:nvSpPr>
          <p:cNvPr id="37" name="Oval 36"/>
          <p:cNvSpPr/>
          <p:nvPr/>
        </p:nvSpPr>
        <p:spPr>
          <a:xfrm>
            <a:off x="4023360" y="3685032"/>
            <a:ext cx="201168" cy="20116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363931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🍾 玻璃瓶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3877056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Recycle · 玻璃回收</a:t>
            </a:r>
          </a:p>
        </p:txBody>
      </p:sp>
      <p:sp>
        <p:nvSpPr>
          <p:cNvPr id="40" name="Oval 39"/>
          <p:cNvSpPr/>
          <p:nvPr/>
        </p:nvSpPr>
        <p:spPr>
          <a:xfrm>
            <a:off x="4023360" y="4160520"/>
            <a:ext cx="201168" cy="20116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41148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🧴 洗发水瓶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4352544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KaiTi"/>
              </a:rPr>
              <a:t>Recycle · 塑料回收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548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88E5"/>
                </a:solidFill>
                <a:latin typeface="KaiTi"/>
              </a:rPr>
              <a:t>🕵️ 大侦探场景 — 问题 → 更好的做法 (R)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212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🚰 水龙头一直开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4498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关掉水龙头 (Reduce)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779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🍽️ 一次性餐具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016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用可洗的餐具 (Reduce/Reuse)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3459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💡 没人还开灯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83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离开就关灯 (Reduce)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9128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📄 纸只用一面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71506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两面用 / 回收 (Reduce/Recycle)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5212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🛍️ 好多塑料袋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54498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自带布袋 (Reduce/Reuse)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5779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🥤 塑料吸管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23360" y="6016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自带水杯 (Reduce)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63459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🗑️ 可回收扔垃圾桶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60" y="6583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放进回收箱 (Recycle)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0" y="69128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🔌 充完还插着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71506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7D32"/>
                </a:solidFill>
                <a:latin typeface="KaiTi"/>
              </a:rPr>
              <a:t>→ 拔掉充电器 (Reduce)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7772400"/>
            <a:ext cx="6766560" cy="777240"/>
          </a:xfrm>
          <a:prstGeom prst="roundRect">
            <a:avLst/>
          </a:prstGeom>
          <a:solidFill>
            <a:srgbClr val="F1F8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786384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KaiTi"/>
              </a:rPr>
              <a:t>💡 教学优先级: 能 Reduce 就 Reduce → 不能才 Reuse → 最后才 Recycle。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818387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KaiTi"/>
              </a:rPr>
              <a:t>Priority: Reduce first, then Reuse, Recycle last.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