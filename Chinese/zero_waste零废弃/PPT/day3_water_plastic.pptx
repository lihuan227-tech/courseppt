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watch?v=LHY2XcCiBSw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sea+turtle+straw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baamboozle.com/games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C242"/>
                </a:solidFill>
                <a:latin typeface="KaiTi"/>
              </a:rPr>
              <a:t>♻️  零 废 弃 与 可 持 续 发 展  Zero Waste &amp; Sustainability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KaiTi"/>
              </a:rPr>
              <a:t>Day 3 · 水 与 塑 料 · 海 洋 小 卫 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BBBBB"/>
                </a:solidFill>
                <a:latin typeface="KaiTi"/>
              </a:rPr>
              <a:t>Water &amp; Plastic — Little Ocean Guardians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0B5C8C"/>
                </a:solidFill>
                <a:latin typeface="KaiTi"/>
              </a:rPr>
              <a:t>💧  🌊  🐢  🥤  🛍️  ♻️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200400"/>
            <a:ext cx="6949440" cy="1417320"/>
          </a:xfrm>
          <a:prstGeom prst="roundRect">
            <a:avLst/>
          </a:prstGeom>
          <a:solidFill>
            <a:srgbClr val="0B5C8C"/>
          </a:solidFill>
          <a:ln w="38100">
            <a:solidFill>
              <a:srgbClr val="F5C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291840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5C242"/>
                </a:solidFill>
                <a:latin typeface="KaiTi"/>
              </a:rPr>
              <a:t>🤔 今 天 的 探 究 问 题  Today's Inquiry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657600"/>
            <a:ext cx="6766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KaiTi"/>
              </a:rPr>
              <a:t>我 们 怎 样 节 约 用 水、减 少 塑 料, 保 护 海 洋?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160520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3E0"/>
                </a:solidFill>
                <a:latin typeface="KaiTi"/>
              </a:rPr>
              <a:t>How can we save water and cut plastic to protect the ocean?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⏰ 今 日 时 间 安 排  Today's Schedule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8229600" cy="114300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6128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KaiTi"/>
              </a:rPr>
              <a:t>Session 1 · 上午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7335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5C242"/>
                </a:solidFill>
                <a:latin typeface="KaiTi"/>
              </a:rPr>
              <a:t>10:00–11:45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3258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KaiTi"/>
              </a:rPr>
              <a:t>水 很 重 要 + 塑 料 污 染 (故 事/视 频)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58568"/>
            <a:ext cx="8229600" cy="1143000"/>
          </a:xfrm>
          <a:prstGeom prst="roundRect">
            <a:avLst/>
          </a:prstGeom>
          <a:solidFill>
            <a:srgbClr val="006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459736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KaiTi"/>
              </a:rPr>
              <a:t>Session 2 · 下午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9718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5C242"/>
                </a:solidFill>
                <a:latin typeface="KaiTi"/>
              </a:rPr>
              <a:t>2:00–2:45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624327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KaiTi"/>
              </a:rPr>
              <a:t>复 习 + 语 言 (我 会 认 6 / 我 会 写 3)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57015"/>
            <a:ext cx="8229600" cy="114300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758183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KaiTi"/>
              </a:rPr>
              <a:t>Session 3 · 下午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7024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5C242"/>
                </a:solidFill>
                <a:latin typeface="KaiTi"/>
              </a:rPr>
              <a:t>3:00–4:30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3922776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KaiTi"/>
              </a:rPr>
              <a:t>练 习 册 + 动 手 (海 洋 拼 贴 / 承 诺)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🎯 今 天 的 学 习 目 标  Today's Learning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8412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C2C2C"/>
                </a:solidFill>
                <a:latin typeface="KaiTi"/>
              </a:rPr>
              <a:t>上 完 这 节 课, 你 会……  By the end, you'll be able to…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7315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B5C8C"/>
                </a:solidFill>
                <a:latin typeface="KaiT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26187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理 解 水 资 源 的 重 要 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58191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88"/>
                </a:solidFill>
                <a:latin typeface="KaiTi"/>
              </a:rPr>
              <a:t>Understand why water matters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57400"/>
            <a:ext cx="8229600" cy="7315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13055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6970"/>
                </a:solidFill>
                <a:latin typeface="KaiT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305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认 识 塑 料 对 海 洋 动 物 的 影 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450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88"/>
                </a:solidFill>
                <a:latin typeface="KaiTi"/>
              </a:rPr>
              <a:t>Plastic harms ocean animals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26080"/>
            <a:ext cx="8229600" cy="7315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99923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A9D8F"/>
                </a:solidFill>
                <a:latin typeface="KaiT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9992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理 解 一 次 性 塑 料 的 问 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31927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88"/>
                </a:solidFill>
                <a:latin typeface="KaiTi"/>
              </a:rPr>
              <a:t>The problem with single-use plastic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94759"/>
            <a:ext cx="8229600" cy="7315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867911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C8253E"/>
                </a:solidFill>
                <a:latin typeface="KaiT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867911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提 出 减 少 塑 料 的 方 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187951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88"/>
                </a:solidFill>
                <a:latin typeface="KaiTi"/>
              </a:rPr>
              <a:t>Propose ways to reduce plastic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0"/>
            <a:ext cx="8595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KaiTi"/>
              </a:rPr>
              <a:t>🌊 Session 1 · 上 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46888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C242"/>
                </a:solidFill>
                <a:latin typeface="KaiTi"/>
              </a:rPr>
              <a:t>水 很 重 要 + 塑 料 污 染</a:t>
            </a:r>
          </a:p>
        </p:txBody>
      </p:sp>
      <p:sp>
        <p:nvSpPr>
          <p:cNvPr id="4" name="5-Point Star 3"/>
          <p:cNvSpPr/>
          <p:nvPr/>
        </p:nvSpPr>
        <p:spPr>
          <a:xfrm>
            <a:off x="731520" y="4297680"/>
            <a:ext cx="320040" cy="320040"/>
          </a:xfrm>
          <a:prstGeom prst="star5">
            <a:avLst/>
          </a:prstGeom>
          <a:solidFill>
            <a:srgbClr val="F5C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1645920" y="4114800"/>
            <a:ext cx="320040" cy="320040"/>
          </a:xfrm>
          <a:prstGeom prst="star5">
            <a:avLst/>
          </a:prstGeom>
          <a:solidFill>
            <a:srgbClr val="F5C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5-Point Star 5"/>
          <p:cNvSpPr/>
          <p:nvPr/>
        </p:nvSpPr>
        <p:spPr>
          <a:xfrm>
            <a:off x="7132320" y="4114800"/>
            <a:ext cx="320040" cy="320040"/>
          </a:xfrm>
          <a:prstGeom prst="star5">
            <a:avLst/>
          </a:prstGeom>
          <a:solidFill>
            <a:srgbClr val="F5C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7863840" y="4297680"/>
            <a:ext cx="320040" cy="320040"/>
          </a:xfrm>
          <a:prstGeom prst="star5">
            <a:avLst/>
          </a:prstGeom>
          <a:solidFill>
            <a:srgbClr val="F5C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🧭 你 是 海 洋 小 卫 士!  Little Ocean Guardian!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822960"/>
            <a:ext cx="8412480" cy="777240"/>
          </a:xfrm>
          <a:prstGeom prst="roundRect">
            <a:avLst/>
          </a:prstGeom>
          <a:solidFill>
            <a:srgbClr val="0B5C8C"/>
          </a:solidFill>
          <a:ln w="31750">
            <a:solidFill>
              <a:srgbClr val="F5C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9611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5C242"/>
                </a:solidFill>
                <a:latin typeface="KaiTi"/>
              </a:rPr>
              <a:t>🌊 今 天 你 是 海 洋 小 卫 士!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KaiTi"/>
              </a:rPr>
              <a:t>Today you're a Little Ocean Guardian — save water, cut plastic!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" y="1874519"/>
            <a:ext cx="1335024" cy="16916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1B6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" y="1993392"/>
            <a:ext cx="133502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>
                <a:solidFill>
                  <a:srgbClr val="2C2C2C"/>
                </a:solidFill>
                <a:latin typeface="KaiTi"/>
              </a:rPr>
              <a:t>🛍️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2670048"/>
            <a:ext cx="133502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塑料袋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" y="3145536"/>
            <a:ext cx="1335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88888"/>
                </a:solidFill>
                <a:latin typeface="KaiTi"/>
              </a:rPr>
              <a:t>Plastic Bag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64792" y="1874519"/>
            <a:ext cx="1335024" cy="16916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64792" y="1993392"/>
            <a:ext cx="133502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>
                <a:solidFill>
                  <a:srgbClr val="2C2C2C"/>
                </a:solidFill>
                <a:latin typeface="KaiTi"/>
              </a:rPr>
              <a:t>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4792" y="2670048"/>
            <a:ext cx="133502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吸管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4792" y="3145536"/>
            <a:ext cx="1335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88888"/>
                </a:solidFill>
                <a:latin typeface="KaiTi"/>
              </a:rPr>
              <a:t>Straw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91256" y="1874519"/>
            <a:ext cx="1335024" cy="16916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91256" y="1993392"/>
            <a:ext cx="133502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>
                <a:solidFill>
                  <a:srgbClr val="2C2C2C"/>
                </a:solidFill>
                <a:latin typeface="KaiTi"/>
              </a:rPr>
              <a:t>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91256" y="2670048"/>
            <a:ext cx="133502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塑料瓶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91256" y="3145536"/>
            <a:ext cx="1335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88888"/>
                </a:solidFill>
                <a:latin typeface="KaiTi"/>
              </a:rPr>
              <a:t>Plastic Bottle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1874519"/>
            <a:ext cx="1335024" cy="16916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1993392"/>
            <a:ext cx="133502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>
                <a:solidFill>
                  <a:srgbClr val="2C2C2C"/>
                </a:solidFill>
                <a:latin typeface="KaiTi"/>
              </a:rPr>
              <a:t>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2670048"/>
            <a:ext cx="133502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餐具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3145536"/>
            <a:ext cx="1335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88888"/>
                </a:solidFill>
                <a:latin typeface="KaiTi"/>
              </a:rPr>
              <a:t>Disposable Utensils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44184" y="1874519"/>
            <a:ext cx="1335024" cy="16916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05A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44184" y="1993392"/>
            <a:ext cx="133502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>
                <a:solidFill>
                  <a:srgbClr val="2C2C2C"/>
                </a:solidFill>
                <a:latin typeface="KaiTi"/>
              </a:rPr>
              <a:t>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44184" y="2670048"/>
            <a:ext cx="133502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包装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44184" y="3145536"/>
            <a:ext cx="1335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88888"/>
                </a:solidFill>
                <a:latin typeface="KaiTi"/>
              </a:rPr>
              <a:t>Plastic Packaging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70648" y="1874519"/>
            <a:ext cx="1335024" cy="16916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70648" y="1993392"/>
            <a:ext cx="133502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>
                <a:solidFill>
                  <a:srgbClr val="2C2C2C"/>
                </a:solidFill>
                <a:latin typeface="KaiTi"/>
              </a:rPr>
              <a:t>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0648" y="2670048"/>
            <a:ext cx="133502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杯子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70648" y="3145536"/>
            <a:ext cx="1335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88888"/>
                </a:solidFill>
                <a:latin typeface="KaiTi"/>
              </a:rPr>
              <a:t>Disposable Cup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4160520"/>
            <a:ext cx="8595360" cy="502920"/>
          </a:xfrm>
          <a:prstGeom prst="roundRect">
            <a:avLst/>
          </a:prstGeom>
          <a:solidFill>
            <a:srgbClr val="0F1A3A"/>
          </a:solidFill>
          <a:ln w="25400">
            <a:solidFill>
              <a:srgbClr val="F5C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206240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💬 句 型: 我 是 海 洋 小 卫 士, 我 要 减 少 ______。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46227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3E0"/>
                </a:solidFill>
                <a:latin typeface="KaiTi"/>
              </a:rPr>
              <a:t>I'm an Ocean Guardian. I'll cut down on ___.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💬 说 一 说 · 水  Let's Talk About Water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14400"/>
            <a:ext cx="8229600" cy="7772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42416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C2C2C"/>
                </a:solidFill>
                <a:latin typeface="KaiTi"/>
              </a:rPr>
              <a:t>1. 你 在 哪 里 见 过 水? (河、海、雨、水 龙 头)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0817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88"/>
                </a:solidFill>
                <a:latin typeface="KaiTi"/>
              </a:rPr>
              <a:t>Where have you seen water?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8229600" cy="7772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56816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C2C2C"/>
                </a:solidFill>
                <a:latin typeface="KaiTi"/>
              </a:rPr>
              <a:t>2. 我 们 为 什 么 需 要 水?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2257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88"/>
                </a:solidFill>
                <a:latin typeface="KaiTi"/>
              </a:rPr>
              <a:t>Why do we need water?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2788920"/>
            <a:ext cx="8595360" cy="502920"/>
          </a:xfrm>
          <a:prstGeom prst="roundRect">
            <a:avLst/>
          </a:prstGeom>
          <a:solidFill>
            <a:srgbClr val="0F1A3A"/>
          </a:solidFill>
          <a:ln w="25400">
            <a:solidFill>
              <a:srgbClr val="F5C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834639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💬 句 型: 我 们 需 要 水 来 ______。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09067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3E0"/>
                </a:solidFill>
                <a:latin typeface="KaiTi"/>
              </a:rPr>
              <a:t>We need water to ___.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29000"/>
            <a:ext cx="8229600" cy="868680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483864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B5C8C"/>
                </a:solidFill>
                <a:latin typeface="KaiTi"/>
              </a:rPr>
              <a:t>👩‍🏫 老师 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685032"/>
            <a:ext cx="7178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C2C2C"/>
                </a:solidFill>
                <a:latin typeface="KaiTi"/>
              </a:rPr>
              <a:t>引 导 说 出: 喝、洗、种 植 物、动 物 也 要 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959352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B5C8C"/>
                </a:solidFill>
                <a:latin typeface="KaiTi"/>
              </a:rPr>
              <a:t>👧 学生 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087368"/>
            <a:ext cx="7040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C2C2C"/>
                </a:solidFill>
                <a:latin typeface="KaiTi"/>
              </a:rPr>
              <a:t>学 生 抢 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3520440"/>
            <a:ext cx="777240" cy="292608"/>
          </a:xfrm>
          <a:prstGeom prst="roundRect">
            <a:avLst/>
          </a:prstGeom>
          <a:solidFill>
            <a:srgbClr val="F5C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18120" y="3547872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A3A"/>
                </a:solidFill>
                <a:latin typeface="KaiTi"/>
              </a:rPr>
              <a:t>⏱️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💧 水 很 重 要  Water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888888"/>
                </a:solidFill>
                <a:latin typeface="KaiTi"/>
              </a:rPr>
              <a:t>我 们 每 天 都 要 用 水!  We use water every day!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188720"/>
            <a:ext cx="3566160" cy="1325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35024"/>
            <a:ext cx="3566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0">
                <a:solidFill>
                  <a:srgbClr val="2C2C2C"/>
                </a:solidFill>
                <a:latin typeface="KaiTi"/>
              </a:rPr>
              <a:t>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299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B5C8C"/>
                </a:solidFill>
                <a:latin typeface="KaiTi"/>
              </a:rPr>
              <a:t>喝 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188720"/>
            <a:ext cx="3566160" cy="1325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335024"/>
            <a:ext cx="3566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0">
                <a:solidFill>
                  <a:srgbClr val="2C2C2C"/>
                </a:solidFill>
                <a:latin typeface="KaiTi"/>
              </a:rPr>
              <a:t>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0299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B5C8C"/>
                </a:solidFill>
                <a:latin typeface="KaiTi"/>
              </a:rPr>
              <a:t>洗 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97480"/>
            <a:ext cx="3566160" cy="1325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843784"/>
            <a:ext cx="3566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0">
                <a:solidFill>
                  <a:srgbClr val="2C2C2C"/>
                </a:solidFill>
                <a:latin typeface="KaiTi"/>
              </a:rPr>
              <a:t>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3872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B5C8C"/>
                </a:solidFill>
                <a:latin typeface="KaiTi"/>
              </a:rPr>
              <a:t>种 植 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2697480"/>
            <a:ext cx="3566160" cy="1325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843784"/>
            <a:ext cx="3566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0">
                <a:solidFill>
                  <a:srgbClr val="2C2C2C"/>
                </a:solidFill>
                <a:latin typeface="KaiTi"/>
              </a:rPr>
              <a:t>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53872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B5C8C"/>
                </a:solidFill>
                <a:latin typeface="KaiTi"/>
              </a:rPr>
              <a:t>动 物 也 要 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06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🌍 地 球 的 水 很 珍 贵 · 节 约 用 水  Save Water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914400"/>
            <a:ext cx="4114800" cy="3108960"/>
          </a:xfrm>
          <a:prstGeom prst="roundRect">
            <a:avLst/>
          </a:prstGeom>
          <a:solidFill>
            <a:srgbClr val="FFF3E0"/>
          </a:solidFill>
          <a:ln w="3175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0">
                <a:solidFill>
                  <a:srgbClr val="2C2C2C"/>
                </a:solidFill>
                <a:latin typeface="KaiTi"/>
              </a:rPr>
              <a:t>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974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06970"/>
                </a:solidFill>
                <a:latin typeface="KaiTi"/>
              </a:rPr>
              <a:t>能 喝 的 淡 水 很 少!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8888"/>
                </a:solidFill>
                <a:latin typeface="KaiTi"/>
              </a:rPr>
              <a:t>Only a little water is drinkable.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914400"/>
            <a:ext cx="4114800" cy="310896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914400"/>
            <a:ext cx="4114800" cy="457200"/>
          </a:xfrm>
          <a:prstGeom prst="roundRect">
            <a:avLst/>
          </a:prstGeom>
          <a:solidFill>
            <a:srgbClr val="006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97840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KaiTi"/>
              </a:rPr>
              <a:t>✅ 节 约 用 水 小 妙 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508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2C2C2C"/>
                </a:solidFill>
                <a:latin typeface="KaiTi"/>
              </a:rPr>
              <a:t>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56362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关 好 水 龙 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084831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2C2C2C"/>
                </a:solidFill>
                <a:latin typeface="KaiTi"/>
              </a:rPr>
              <a:t>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13969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刷 牙 时 关 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26609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2C2C2C"/>
                </a:solidFill>
                <a:latin typeface="KaiTi"/>
              </a:rPr>
              <a:t>♻️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27157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洗 菜 水 浇 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32369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2C2C2C"/>
                </a:solidFill>
                <a:latin typeface="KaiTi"/>
              </a:rPr>
              <a:t>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291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洗 澡 快 一 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📖 绘 本 时 间 · 谁 吞 掉 了 斯 坦 利?  Storybook Time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868680"/>
            <a:ext cx="4023360" cy="3611880"/>
          </a:xfrm>
          <a:prstGeom prst="roundRect">
            <a:avLst/>
          </a:prstGeom>
          <a:solidFill>
            <a:srgbClr val="0F1A3A"/>
          </a:solidFill>
          <a:ln w="381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800" b="0">
                <a:solidFill>
                  <a:srgbClr val="2C2C2C"/>
                </a:solidFill>
                <a:latin typeface="KaiTi"/>
              </a:rPr>
              <a:t>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84831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C242"/>
                </a:solidFill>
                <a:latin typeface="KaiTi"/>
              </a:rPr>
              <a:t>谁 吞 掉 了 斯 坦 利?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5146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3E0"/>
                </a:solidFill>
                <a:latin typeface="KaiTi"/>
              </a:rPr>
              <a:t>Somebody Swallowed Stanley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788920"/>
            <a:ext cx="4023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BBBBB"/>
                </a:solidFill>
                <a:latin typeface="KaiTi"/>
              </a:rPr>
              <a:t>中 文 绘 本 · 拯 救 海 洋</a:t>
            </a:r>
          </a:p>
        </p:txBody>
      </p:sp>
      <p:sp>
        <p:nvSpPr>
          <p:cNvPr id="9" name="Rounded Rectangle 8">
            <a:hlinkClick r:id="rId2"/>
          </p:cNvPr>
          <p:cNvSpPr/>
          <p:nvPr/>
        </p:nvSpPr>
        <p:spPr>
          <a:xfrm>
            <a:off x="1097280" y="3200400"/>
            <a:ext cx="2560320" cy="54864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KaiTi"/>
              </a:rPr>
              <a:t>▶️  读 绘 本  Read Aloud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950208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C242"/>
                </a:solidFill>
                <a:latin typeface="KaiTi"/>
              </a:rPr>
              <a:t>🛍️ 斯 坦 利 是 一 个 塑 料 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868680"/>
            <a:ext cx="4114800" cy="3611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868680"/>
            <a:ext cx="41148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93268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KaiTi"/>
              </a:rPr>
              <a:t>🎬 读 之 前 — 想 一 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14630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solidFill>
                  <a:srgbClr val="2C2C2C"/>
                </a:solidFill>
                <a:latin typeface="KaiTi"/>
              </a:rPr>
              <a:t>🛍️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153619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斯 坦 利 是 什 么?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190195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8888"/>
                </a:solidFill>
                <a:latin typeface="KaiTi"/>
              </a:rPr>
              <a:t>What is Stanley?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23774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solidFill>
                  <a:srgbClr val="2C2C2C"/>
                </a:solidFill>
                <a:latin typeface="KaiTi"/>
              </a:rPr>
              <a:t>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45059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它 掉 进 海 里 会 怎 样?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81635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8888"/>
                </a:solidFill>
                <a:latin typeface="KaiTi"/>
              </a:rPr>
              <a:t>What happens in the sea?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32918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solidFill>
                  <a:srgbClr val="2C2C2C"/>
                </a:solidFill>
                <a:latin typeface="KaiTi"/>
              </a:rPr>
              <a:t>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336499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谁 会 把 它 当 成 食 物?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373075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8888"/>
                </a:solidFill>
                <a:latin typeface="KaiTi"/>
              </a:rPr>
              <a:t>Who thinks it's food?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572000"/>
            <a:ext cx="8412480" cy="41148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63600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5C242"/>
                </a:solidFill>
                <a:latin typeface="KaiTi"/>
              </a:rPr>
              <a:t>📖 一 边 读, 一 边 想: 塑 料 袋 给 海 洋 带 来 什 么 麻 烦?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C8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💬 绘 本 讨 论 · 塑 料 也 会 伤 害 我 们  Let's Talk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914400"/>
            <a:ext cx="4069080" cy="27889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914400"/>
            <a:ext cx="4069080" cy="45720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78408"/>
            <a:ext cx="3794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KaiTi"/>
              </a:rPr>
              <a:t>🤔 想 一 想 · 绘 本 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48132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2C2C2C"/>
                </a:solidFill>
                <a:latin typeface="KaiTi"/>
              </a:rPr>
              <a:t>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536192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斯 坦 利 让 哪 些 动 物 受 伤?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17627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2C2C2C"/>
                </a:solidFill>
                <a:latin typeface="KaiTi"/>
              </a:rPr>
              <a:t>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231136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海 龟 为 什 么 会 吃 塑 料 袋?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71216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2C2C2C"/>
                </a:solidFill>
                <a:latin typeface="KaiTi"/>
              </a:rPr>
              <a:t>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26080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最 后 谁 救 了 海 龟?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914400"/>
            <a:ext cx="4114800" cy="2788920"/>
          </a:xfrm>
          <a:prstGeom prst="roundRect">
            <a:avLst/>
          </a:prstGeom>
          <a:solidFill>
            <a:srgbClr val="FFF3E0"/>
          </a:solidFill>
          <a:ln w="3175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63440" y="914400"/>
            <a:ext cx="4114800" cy="457200"/>
          </a:xfrm>
          <a:prstGeom prst="roundRect">
            <a:avLst/>
          </a:prstGeom>
          <a:solidFill>
            <a:srgbClr val="C8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97840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KaiTi"/>
              </a:rPr>
              <a:t>🍽️ 塑 料 会 回 到 我 们 身 上!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14173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2C2C2C"/>
                </a:solidFill>
                <a:latin typeface="KaiTi"/>
              </a:rPr>
              <a:t>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45389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塑 料 碎 成 小 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189280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2C2C2C"/>
                </a:solidFill>
                <a:latin typeface="KaiTi"/>
              </a:rPr>
              <a:t>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13248" y="1929384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小 鱼 吃 塑 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36829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2C2C2C"/>
                </a:solidFill>
                <a:latin typeface="KaiTi"/>
              </a:rPr>
              <a:t>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3248" y="240487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大 鱼 吃 小 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84378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2C2C2C"/>
                </a:solidFill>
                <a:latin typeface="KaiTi"/>
              </a:rPr>
              <a:t>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13248" y="28803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我 们 吃 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3346704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8253E"/>
                </a:solidFill>
                <a:latin typeface="KaiTi"/>
              </a:rPr>
              <a:t>→ 海 洋 垃 圾 也 伤 害 人!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886200"/>
            <a:ext cx="8595360" cy="502920"/>
          </a:xfrm>
          <a:prstGeom prst="roundRect">
            <a:avLst/>
          </a:prstGeom>
          <a:solidFill>
            <a:srgbClr val="0F1A3A"/>
          </a:solidFill>
          <a:ln w="25400">
            <a:solidFill>
              <a:srgbClr val="F5C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931920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💬 句 型: 塑 料 伤 害 ______, 也 伤 害 我 们。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18795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3E0"/>
                </a:solidFill>
                <a:latin typeface="KaiTi"/>
              </a:rPr>
              <a:t>Plastic hurts ___ and us too.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498848"/>
            <a:ext cx="8595360" cy="438912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4572000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C2C2C"/>
                </a:solidFill>
                <a:latin typeface="KaiTi"/>
              </a:rPr>
              <a:t>👩‍🏫 先 读 绘 本, 再 讨 论 — 强 调: 塑 料 → 鱼 → 我 们  (⏱️ 8 分)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🥤 什 么 是 一 次 性 塑 料?  Single-Use Plastic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C8253E"/>
                </a:solidFill>
                <a:latin typeface="KaiTi"/>
              </a:rPr>
              <a:t>用 一 次 就 扔 掉 的 塑 料 = 一 次 性 塑 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88888"/>
                </a:solidFill>
                <a:latin typeface="KaiTi"/>
              </a:rPr>
              <a:t>Used once, then thrown away.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256032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6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7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>
                <a:solidFill>
                  <a:srgbClr val="2C2C2C"/>
                </a:solidFill>
                <a:latin typeface="KaiTi"/>
              </a:rPr>
              <a:t>🛍️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B6FBA"/>
                </a:solidFill>
                <a:latin typeface="KaiTi"/>
              </a:rPr>
              <a:t>塑 料 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874519"/>
            <a:ext cx="256032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201167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>
                <a:solidFill>
                  <a:srgbClr val="2C2C2C"/>
                </a:solidFill>
                <a:latin typeface="KaiTi"/>
              </a:rPr>
              <a:t>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6517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6970"/>
                </a:solidFill>
                <a:latin typeface="KaiTi"/>
              </a:rPr>
              <a:t>吸 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74519"/>
            <a:ext cx="256032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201167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>
                <a:solidFill>
                  <a:srgbClr val="2C2C2C"/>
                </a:solidFill>
                <a:latin typeface="KaiTi"/>
              </a:rPr>
              <a:t>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6517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A9D8F"/>
                </a:solidFill>
                <a:latin typeface="KaiTi"/>
              </a:rPr>
              <a:t>塑 料 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46120"/>
            <a:ext cx="256032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38327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>
                <a:solidFill>
                  <a:srgbClr val="2C2C2C"/>
                </a:solidFill>
                <a:latin typeface="KaiTi"/>
              </a:rPr>
              <a:t>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02335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3A7CA5"/>
                </a:solidFill>
                <a:latin typeface="KaiTi"/>
              </a:rPr>
              <a:t>一 次 性 餐 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3280" y="3246120"/>
            <a:ext cx="256032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5A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38327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>
                <a:solidFill>
                  <a:srgbClr val="2C2C2C"/>
                </a:solidFill>
                <a:latin typeface="KaiTi"/>
              </a:rPr>
              <a:t>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402335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C05A17"/>
                </a:solidFill>
                <a:latin typeface="KaiTi"/>
              </a:rPr>
              <a:t>塑 料 包 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3246120"/>
            <a:ext cx="256032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338327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>
                <a:solidFill>
                  <a:srgbClr val="2C2C2C"/>
                </a:solidFill>
                <a:latin typeface="KaiTi"/>
              </a:rPr>
              <a:t>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402335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C8253E"/>
                </a:solidFill>
                <a:latin typeface="KaiTi"/>
              </a:rPr>
              <a:t>一 次 性 杯 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🗺️ 今 天 的 6 种 一 次 性 塑 料  Today's 6 Single-Use Plastics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888888"/>
                </a:solidFill>
                <a:latin typeface="KaiTi"/>
              </a:rPr>
              <a:t>先 认 一 认, 再 一 个 一 个 来!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" y="1170432"/>
            <a:ext cx="2651760" cy="1600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1B6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1335024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0">
                <a:solidFill>
                  <a:srgbClr val="2C2C2C"/>
                </a:solidFill>
                <a:latin typeface="KaiTi"/>
              </a:rPr>
              <a:t>🛍️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2066543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1B6FBA"/>
                </a:solidFill>
                <a:latin typeface="KaiTi"/>
              </a:rPr>
              <a:t>塑 料 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246888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8888"/>
                </a:solidFill>
                <a:latin typeface="KaiTi"/>
              </a:rPr>
              <a:t>Plastic Bag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170432"/>
            <a:ext cx="2651760" cy="1600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335024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0">
                <a:solidFill>
                  <a:srgbClr val="2C2C2C"/>
                </a:solidFill>
                <a:latin typeface="KaiTi"/>
              </a:rPr>
              <a:t>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066543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006970"/>
                </a:solidFill>
                <a:latin typeface="KaiTi"/>
              </a:rPr>
              <a:t>吸 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246888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8888"/>
                </a:solidFill>
                <a:latin typeface="KaiTi"/>
              </a:rPr>
              <a:t>Straw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9048" y="1170432"/>
            <a:ext cx="2651760" cy="1600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9048" y="1335024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0">
                <a:solidFill>
                  <a:srgbClr val="2C2C2C"/>
                </a:solidFill>
                <a:latin typeface="KaiTi"/>
              </a:rPr>
              <a:t>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8" y="2066543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2A9D8F"/>
                </a:solidFill>
                <a:latin typeface="KaiTi"/>
              </a:rPr>
              <a:t>塑 料 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9048" y="246888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8888"/>
                </a:solidFill>
                <a:latin typeface="KaiTi"/>
              </a:rPr>
              <a:t>Plastic Bottle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3192" y="2935224"/>
            <a:ext cx="2651760" cy="1600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" y="3099816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0">
                <a:solidFill>
                  <a:srgbClr val="2C2C2C"/>
                </a:solidFill>
                <a:latin typeface="KaiTi"/>
              </a:rPr>
              <a:t>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" y="3831335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3A7CA5"/>
                </a:solidFill>
                <a:latin typeface="KaiTi"/>
              </a:rPr>
              <a:t>一 次 性 餐 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" y="423367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8888"/>
                </a:solidFill>
                <a:latin typeface="KaiTi"/>
              </a:rPr>
              <a:t>Disposable Utensils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46120" y="2935224"/>
            <a:ext cx="2651760" cy="1600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05A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46120" y="3099816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0">
                <a:solidFill>
                  <a:srgbClr val="2C2C2C"/>
                </a:solidFill>
                <a:latin typeface="KaiTi"/>
              </a:rPr>
              <a:t>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3831335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C05A17"/>
                </a:solidFill>
                <a:latin typeface="KaiTi"/>
              </a:rPr>
              <a:t>塑 料 包 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6120" y="423367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8888"/>
                </a:solidFill>
                <a:latin typeface="KaiTi"/>
              </a:rPr>
              <a:t>Plastic Packaging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9048" y="2935224"/>
            <a:ext cx="2651760" cy="1600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9048" y="3099816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0">
                <a:solidFill>
                  <a:srgbClr val="2C2C2C"/>
                </a:solidFill>
                <a:latin typeface="KaiTi"/>
              </a:rPr>
              <a:t>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9048" y="3831335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C8253E"/>
                </a:solidFill>
                <a:latin typeface="KaiTi"/>
              </a:rPr>
              <a:t>一 次 性 杯 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9048" y="423367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8888"/>
                </a:solidFill>
                <a:latin typeface="KaiTi"/>
              </a:rPr>
              <a:t>Disposable Cup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1B6F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🛍️ 塑 料 袋 · Plastic Bag  ①看+②想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3977639" cy="2788920"/>
          </a:xfrm>
          <a:prstGeom prst="rect">
            <a:avLst/>
          </a:prstGeom>
          <a:solidFill>
            <a:srgbClr val="E8EEE0"/>
          </a:solidFill>
          <a:ln w="25400">
            <a:solidFill>
              <a:srgbClr val="1B6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3977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B6FBA"/>
                </a:solidFill>
                <a:latin typeface="KaiTi"/>
              </a:rPr>
              <a:t>📷 真 实 照 片 · Real Photo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988819"/>
            <a:ext cx="39776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6FBA"/>
                </a:solidFill>
                <a:latin typeface="KaiTi"/>
              </a:rPr>
              <a:t>👇 在 这 里 插 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354579"/>
            <a:ext cx="37947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C2C2C"/>
                </a:solidFill>
                <a:latin typeface="KaiTi"/>
              </a:rPr>
              <a:t>塑料袋 的 真 实 照 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857500"/>
            <a:ext cx="37947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KaiTi"/>
              </a:rPr>
              <a:t>Real photo of Plastic Bag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868680"/>
            <a:ext cx="4480560" cy="27889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1B6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868680"/>
            <a:ext cx="4480560" cy="457200"/>
          </a:xfrm>
          <a:prstGeom prst="roundRect">
            <a:avLst/>
          </a:prstGeom>
          <a:solidFill>
            <a:srgbClr val="1B6F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93268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KaiTi"/>
              </a:rPr>
              <a:t>1️⃣ 👀 看 — 你 看 到 / 想 到 什 么?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3716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2C2C2C"/>
                </a:solidFill>
                <a:latin typeface="KaiTi"/>
              </a:rPr>
              <a:t>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1426464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薄 薄 的, 会 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9385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2C2C2C"/>
                </a:solidFill>
                <a:latin typeface="KaiTi"/>
              </a:rPr>
              <a:t>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1993392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在 水 里 像 水 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50545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2C2C2C"/>
                </a:solidFill>
                <a:latin typeface="KaiTi"/>
              </a:rPr>
              <a:t>🗑️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560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用 一 次 就 扔?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767328"/>
            <a:ext cx="8595360" cy="347472"/>
          </a:xfrm>
          <a:prstGeom prst="roundRect">
            <a:avLst/>
          </a:prstGeom>
          <a:solidFill>
            <a:srgbClr val="C8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813048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2️⃣ 🤔 想 — 它 到 了 海 里, 会 伤 害 谁?  我 觉 得……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5176" y="4206240"/>
            <a:ext cx="2084831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6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" y="4288536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C2C2C"/>
                </a:solidFill>
                <a:latin typeface="KaiTi"/>
              </a:rPr>
              <a:t>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" y="4306824"/>
            <a:ext cx="1444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海龟?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41448" y="4206240"/>
            <a:ext cx="2084831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6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32888" y="4288536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C2C2C"/>
                </a:solidFill>
                <a:latin typeface="KaiTi"/>
              </a:rPr>
              <a:t>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08376" y="4306824"/>
            <a:ext cx="1444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鱼?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7720" y="4206240"/>
            <a:ext cx="2084831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6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59" y="4288536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C2C2C"/>
                </a:solidFill>
                <a:latin typeface="KaiTi"/>
              </a:rPr>
              <a:t>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84648" y="4306824"/>
            <a:ext cx="1444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海鸟?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93992" y="4206240"/>
            <a:ext cx="2084831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6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85431" y="4288536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C2C2C"/>
                </a:solidFill>
                <a:latin typeface="KaiTi"/>
              </a:rPr>
              <a:t>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19" y="4306824"/>
            <a:ext cx="1444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漂到海里?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1B6F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🛍️ 塑 料 袋 · ⚖️ 你 觉 得 呢?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⚖️ 判 — 你 觉 得 呢? A 还 是 B?  (先 选, 再 看!)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23444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6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20624" y="1344168"/>
            <a:ext cx="365760" cy="365760"/>
          </a:xfrm>
          <a:prstGeom prst="ellipse">
            <a:avLst/>
          </a:prstGeom>
          <a:solidFill>
            <a:srgbClr val="1B6F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" y="13533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258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去 买 东 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135331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6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79" y="14173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6FBA"/>
                </a:solidFill>
                <a:latin typeface="KaiT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1" y="1417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要 塑 料 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5331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6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173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6FBA"/>
                </a:solidFill>
                <a:latin typeface="KaiT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31152" y="1417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带 布 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201168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6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0624" y="2121408"/>
            <a:ext cx="365760" cy="365760"/>
          </a:xfrm>
          <a:prstGeom prst="ellipse">
            <a:avLst/>
          </a:prstGeom>
          <a:solidFill>
            <a:srgbClr val="1B6F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13055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1031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袋 子 破 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39" y="213055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6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79" y="21945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6FBA"/>
                </a:solidFill>
                <a:latin typeface="KaiTi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1" y="21945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再 拿 一 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213055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6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1945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6FBA"/>
                </a:solidFill>
                <a:latin typeface="KaiTi"/>
              </a:rPr>
              <a:t>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1945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重 复 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278892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6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20624" y="2898648"/>
            <a:ext cx="365760" cy="365760"/>
          </a:xfrm>
          <a:prstGeom prst="ellipse">
            <a:avLst/>
          </a:prstGeom>
          <a:solidFill>
            <a:srgbClr val="1B6F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2907791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88036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买 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49039" y="2907791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6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79" y="2971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6FBA"/>
                </a:solidFill>
                <a:latin typeface="KaiT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0831" y="29718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很 多 小 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2907791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6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971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6FBA"/>
                </a:solidFill>
                <a:latin typeface="KaiTi"/>
              </a:rPr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9718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一 个 布 袋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639312"/>
            <a:ext cx="8412480" cy="365760"/>
          </a:xfrm>
          <a:prstGeom prst="roundRect">
            <a:avLst/>
          </a:prstGeom>
          <a:solidFill>
            <a:srgbClr val="1B6F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6850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👉 A → 举 左 手 · B → 举 右 手   🤔 3… 2… 1…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4320" y="4187952"/>
            <a:ext cx="8595360" cy="502920"/>
          </a:xfrm>
          <a:prstGeom prst="roundRect">
            <a:avLst/>
          </a:prstGeom>
          <a:solidFill>
            <a:srgbClr val="0F1A3A"/>
          </a:solidFill>
          <a:ln w="25400">
            <a:solidFill>
              <a:srgbClr val="F5C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3367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💬 句 型: K-G1: 我 选 A / B。   G2-G3: 我 选 __, 因 为 __。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4489704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3E0"/>
                </a:solidFill>
                <a:latin typeface="KaiTi"/>
              </a:rPr>
              <a:t>I choose A/B. (…because…)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C8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🛍️ 塑 料 袋 · 💡 答 案 揭 晓!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💡 答 案 揭 晓!  绿 色 ✓ = 保 护 海 洋 的 选 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23444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6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20624" y="1344168"/>
            <a:ext cx="365760" cy="365760"/>
          </a:xfrm>
          <a:prstGeom prst="ellipse">
            <a:avLst/>
          </a:prstGeom>
          <a:solidFill>
            <a:srgbClr val="1B6F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" y="13533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258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去 买 东 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135331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6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79" y="14173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6FBA"/>
                </a:solidFill>
                <a:latin typeface="KaiT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1" y="1417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要 塑 料 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53312"/>
            <a:ext cx="2423160" cy="420623"/>
          </a:xfrm>
          <a:prstGeom prst="roundRect">
            <a:avLst/>
          </a:prstGeom>
          <a:solidFill>
            <a:srgbClr val="EFF7EE"/>
          </a:solidFill>
          <a:ln w="381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173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KaiTi"/>
              </a:rPr>
              <a:t>✓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31152" y="1417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带 布 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201168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6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0624" y="2121408"/>
            <a:ext cx="365760" cy="365760"/>
          </a:xfrm>
          <a:prstGeom prst="ellipse">
            <a:avLst/>
          </a:prstGeom>
          <a:solidFill>
            <a:srgbClr val="1B6F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13055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1031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袋 子 破 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39" y="213055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6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79" y="21945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6FBA"/>
                </a:solidFill>
                <a:latin typeface="KaiTi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1" y="21945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再 拿 一 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2130552"/>
            <a:ext cx="2423160" cy="420623"/>
          </a:xfrm>
          <a:prstGeom prst="roundRect">
            <a:avLst/>
          </a:prstGeom>
          <a:solidFill>
            <a:srgbClr val="EFF7EE"/>
          </a:solidFill>
          <a:ln w="381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1945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KaiTi"/>
              </a:rPr>
              <a:t>✓ 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1945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重 复 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278892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6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20624" y="2898648"/>
            <a:ext cx="365760" cy="365760"/>
          </a:xfrm>
          <a:prstGeom prst="ellipse">
            <a:avLst/>
          </a:prstGeom>
          <a:solidFill>
            <a:srgbClr val="1B6F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2907791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88036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买 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49039" y="2907791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6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79" y="2971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6FBA"/>
                </a:solidFill>
                <a:latin typeface="KaiT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0831" y="29718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很 多 小 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2907791"/>
            <a:ext cx="2423160" cy="420623"/>
          </a:xfrm>
          <a:prstGeom prst="roundRect">
            <a:avLst/>
          </a:prstGeom>
          <a:solidFill>
            <a:srgbClr val="EFF7EE"/>
          </a:solidFill>
          <a:ln w="381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971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KaiTi"/>
              </a:rPr>
              <a:t>✓ 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9718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一 个 布 袋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639312"/>
            <a:ext cx="841248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675887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KaiTi"/>
              </a:rPr>
              <a:t>🙆 做: 假 装 把 布 袋 挂 手 上, 去 买 东 西!   🛍️ 换 成: 布 袋 / 可 重 复 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4320" y="4187952"/>
            <a:ext cx="8595360" cy="502920"/>
          </a:xfrm>
          <a:prstGeom prst="roundRect">
            <a:avLst/>
          </a:prstGeom>
          <a:solidFill>
            <a:srgbClr val="0F1A3A"/>
          </a:solidFill>
          <a:ln w="25400">
            <a:solidFill>
              <a:srgbClr val="F5C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3367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💬 句 型: ____ 不 好, 我 应 该 ____。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4489704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3E0"/>
                </a:solidFill>
                <a:latin typeface="KaiTi"/>
              </a:rPr>
              <a:t>___ is bad; I should ___.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06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🥤 吸 管 · Straw  ①看+②想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3977639" cy="2788920"/>
          </a:xfrm>
          <a:prstGeom prst="rect">
            <a:avLst/>
          </a:prstGeom>
          <a:solidFill>
            <a:srgbClr val="E8EEE0"/>
          </a:solidFill>
          <a:ln w="2540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3977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6970"/>
                </a:solidFill>
                <a:latin typeface="KaiTi"/>
              </a:rPr>
              <a:t>📷 真 实 照 片 · Real Photo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988819"/>
            <a:ext cx="39776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6970"/>
                </a:solidFill>
                <a:latin typeface="KaiTi"/>
              </a:rPr>
              <a:t>👇 在 这 里 插 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354579"/>
            <a:ext cx="37947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C2C2C"/>
                </a:solidFill>
                <a:latin typeface="KaiTi"/>
              </a:rPr>
              <a:t>吸管 的 真 实 照 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857500"/>
            <a:ext cx="37947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KaiTi"/>
              </a:rPr>
              <a:t>Real photo of Straw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868680"/>
            <a:ext cx="4480560" cy="27889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868680"/>
            <a:ext cx="4480560" cy="457200"/>
          </a:xfrm>
          <a:prstGeom prst="roundRect">
            <a:avLst/>
          </a:prstGeom>
          <a:solidFill>
            <a:srgbClr val="006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93268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KaiTi"/>
              </a:rPr>
              <a:t>1️⃣ 👀 看 — 你 看 到 / 想 到 什 么?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3716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2C2C2C"/>
                </a:solidFill>
                <a:latin typeface="KaiTi"/>
              </a:rPr>
              <a:t>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1426464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细 细 的, 一 次 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9385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2C2C2C"/>
                </a:solidFill>
                <a:latin typeface="KaiTi"/>
              </a:rPr>
              <a:t>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1993392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会 掉 进 海 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50545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2C2C2C"/>
                </a:solidFill>
                <a:latin typeface="KaiTi"/>
              </a:rPr>
              <a:t>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560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卡 在 海 龟 鼻 子 里?</a:t>
            </a:r>
          </a:p>
        </p:txBody>
      </p:sp>
      <p:sp>
        <p:nvSpPr>
          <p:cNvPr id="18" name="Rounded Rectangle 17">
            <a:hlinkClick r:id="rId2"/>
          </p:cNvPr>
          <p:cNvSpPr/>
          <p:nvPr/>
        </p:nvSpPr>
        <p:spPr>
          <a:xfrm>
            <a:off x="4480560" y="3035808"/>
            <a:ext cx="4297680" cy="502920"/>
          </a:xfrm>
          <a:prstGeom prst="roundRect">
            <a:avLst/>
          </a:prstGeom>
          <a:solidFill>
            <a:srgbClr val="0F1A3A"/>
          </a:solidFill>
          <a:ln w="19050">
            <a:solidFill>
              <a:srgbClr val="F5C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3072384"/>
            <a:ext cx="4206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5C242"/>
                </a:solidFill>
                <a:latin typeface="KaiTi"/>
              </a:rPr>
              <a:t>▶️ 看 海 龟 与 吸 管 视 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3291840"/>
            <a:ext cx="4206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BBBBBB"/>
                </a:solidFill>
                <a:latin typeface="KaiTi"/>
              </a:rPr>
              <a:t>https://www.youtube.com/results?search_query=sea+turtle+straw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3767328"/>
            <a:ext cx="8595360" cy="347472"/>
          </a:xfrm>
          <a:prstGeom prst="roundRect">
            <a:avLst/>
          </a:prstGeom>
          <a:solidFill>
            <a:srgbClr val="C8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813048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2️⃣ 🤔 想 — 它 到 了 海 里, 会 伤 害 谁?  我 觉 得……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" y="4206240"/>
            <a:ext cx="2084831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" y="4288536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C2C2C"/>
                </a:solidFill>
                <a:latin typeface="KaiTi"/>
              </a:rPr>
              <a:t>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" y="4306824"/>
            <a:ext cx="1444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海龟?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441448" y="4206240"/>
            <a:ext cx="2084831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32888" y="4288536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C2C2C"/>
                </a:solidFill>
                <a:latin typeface="KaiTi"/>
              </a:rPr>
              <a:t>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08376" y="4306824"/>
            <a:ext cx="1444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海豚?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17720" y="4206240"/>
            <a:ext cx="2084831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09159" y="4288536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C2C2C"/>
                </a:solidFill>
                <a:latin typeface="KaiTi"/>
              </a:rPr>
              <a:t>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84648" y="4306824"/>
            <a:ext cx="1444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鱼?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93992" y="4206240"/>
            <a:ext cx="2084831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85431" y="4288536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C2C2C"/>
                </a:solidFill>
                <a:latin typeface="KaiTi"/>
              </a:rPr>
              <a:t>🗑️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19" y="4306824"/>
            <a:ext cx="1444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变垃圾?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06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🥤 吸 管 · ⚖️ 你 觉 得 呢?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⚖️ 判 — 你 觉 得 呢? A 还 是 B?  (先 选, 再 看!)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23444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20624" y="1344168"/>
            <a:ext cx="365760" cy="365760"/>
          </a:xfrm>
          <a:prstGeom prst="ellipse">
            <a:avLst/>
          </a:prstGeom>
          <a:solidFill>
            <a:srgbClr val="006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" y="13533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258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喝 果 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135331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79" y="14173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6970"/>
                </a:solidFill>
                <a:latin typeface="KaiT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1" y="1417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用 塑 料 吸 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5331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173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6970"/>
                </a:solidFill>
                <a:latin typeface="KaiT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31152" y="1417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不 用, 直 接 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201168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0624" y="2121408"/>
            <a:ext cx="365760" cy="365760"/>
          </a:xfrm>
          <a:prstGeom prst="ellipse">
            <a:avLst/>
          </a:prstGeom>
          <a:solidFill>
            <a:srgbClr val="006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13055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1031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店 里 给 吸 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39" y="213055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79" y="21945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6970"/>
                </a:solidFill>
                <a:latin typeface="KaiTi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1" y="21945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收 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213055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1945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6970"/>
                </a:solidFill>
                <a:latin typeface="KaiTi"/>
              </a:rPr>
              <a:t>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1945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说 不 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278892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20624" y="2898648"/>
            <a:ext cx="365760" cy="365760"/>
          </a:xfrm>
          <a:prstGeom prst="ellipse">
            <a:avLst/>
          </a:prstGeom>
          <a:solidFill>
            <a:srgbClr val="006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2907791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88036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想 要 吸 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49039" y="2907791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79" y="2971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6970"/>
                </a:solidFill>
                <a:latin typeface="KaiT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0831" y="29718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塑 料 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2907791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971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6970"/>
                </a:solidFill>
                <a:latin typeface="KaiTi"/>
              </a:rPr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9718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纸 的 / 钢 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639312"/>
            <a:ext cx="8412480" cy="365760"/>
          </a:xfrm>
          <a:prstGeom prst="roundRect">
            <a:avLst/>
          </a:prstGeom>
          <a:solidFill>
            <a:srgbClr val="006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6850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👉 A → 举 左 手 · B → 举 右 手   🤔 3… 2… 1…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4320" y="4187952"/>
            <a:ext cx="8595360" cy="502920"/>
          </a:xfrm>
          <a:prstGeom prst="roundRect">
            <a:avLst/>
          </a:prstGeom>
          <a:solidFill>
            <a:srgbClr val="0F1A3A"/>
          </a:solidFill>
          <a:ln w="25400">
            <a:solidFill>
              <a:srgbClr val="F5C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3367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💬 句 型: K-G1: 我 选 A / B。   G2-G3: 我 选 __, 因 为 __。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4489704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3E0"/>
                </a:solidFill>
                <a:latin typeface="KaiTi"/>
              </a:rPr>
              <a:t>I choose A/B. (…because…)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C8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🥤 吸 管 · 💡 答 案 揭 晓!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💡 答 案 揭 晓!  绿 色 ✓ = 保 护 海 洋 的 选 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23444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20624" y="1344168"/>
            <a:ext cx="365760" cy="365760"/>
          </a:xfrm>
          <a:prstGeom prst="ellipse">
            <a:avLst/>
          </a:prstGeom>
          <a:solidFill>
            <a:srgbClr val="006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" y="13533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258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喝 果 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135331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79" y="14173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6970"/>
                </a:solidFill>
                <a:latin typeface="KaiT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1" y="1417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用 塑 料 吸 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53312"/>
            <a:ext cx="2423160" cy="420623"/>
          </a:xfrm>
          <a:prstGeom prst="roundRect">
            <a:avLst/>
          </a:prstGeom>
          <a:solidFill>
            <a:srgbClr val="EFF7EE"/>
          </a:solidFill>
          <a:ln w="381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173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KaiTi"/>
              </a:rPr>
              <a:t>✓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31152" y="1417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不 用, 直 接 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201168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0624" y="2121408"/>
            <a:ext cx="365760" cy="365760"/>
          </a:xfrm>
          <a:prstGeom prst="ellipse">
            <a:avLst/>
          </a:prstGeom>
          <a:solidFill>
            <a:srgbClr val="006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13055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1031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店 里 给 吸 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39" y="213055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79" y="21945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6970"/>
                </a:solidFill>
                <a:latin typeface="KaiTi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1" y="21945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收 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2130552"/>
            <a:ext cx="2423160" cy="420623"/>
          </a:xfrm>
          <a:prstGeom prst="roundRect">
            <a:avLst/>
          </a:prstGeom>
          <a:solidFill>
            <a:srgbClr val="EFF7EE"/>
          </a:solidFill>
          <a:ln w="381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1945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KaiTi"/>
              </a:rPr>
              <a:t>✓ 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1945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说 不 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278892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20624" y="2898648"/>
            <a:ext cx="365760" cy="365760"/>
          </a:xfrm>
          <a:prstGeom prst="ellipse">
            <a:avLst/>
          </a:prstGeom>
          <a:solidFill>
            <a:srgbClr val="006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2907791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88036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想 要 吸 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49039" y="2907791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79" y="2971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6970"/>
                </a:solidFill>
                <a:latin typeface="KaiT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0831" y="29718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塑 料 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2907791"/>
            <a:ext cx="2423160" cy="420623"/>
          </a:xfrm>
          <a:prstGeom prst="roundRect">
            <a:avLst/>
          </a:prstGeom>
          <a:solidFill>
            <a:srgbClr val="EFF7EE"/>
          </a:solidFill>
          <a:ln w="381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971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KaiTi"/>
              </a:rPr>
              <a:t>✓ 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9718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纸 的 / 钢 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639312"/>
            <a:ext cx="841248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675887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KaiTi"/>
              </a:rPr>
              <a:t>🙆 做: 做 喝 水 动 作 — 不 用 吸 管!   🚫 不 用 · 钢 吸 管 / 纸 吸 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4320" y="4187952"/>
            <a:ext cx="8595360" cy="502920"/>
          </a:xfrm>
          <a:prstGeom prst="roundRect">
            <a:avLst/>
          </a:prstGeom>
          <a:solidFill>
            <a:srgbClr val="0F1A3A"/>
          </a:solidFill>
          <a:ln w="25400">
            <a:solidFill>
              <a:srgbClr val="F5C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3367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💬 句 型: ____ 不 好, 我 应 该 ____。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4489704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3E0"/>
                </a:solidFill>
                <a:latin typeface="KaiTi"/>
              </a:rPr>
              <a:t>___ is bad; I should ___.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🧴 塑 料 瓶 · Plastic Bottle  ①看+②想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3977639" cy="2788920"/>
          </a:xfrm>
          <a:prstGeom prst="rect">
            <a:avLst/>
          </a:prstGeom>
          <a:solidFill>
            <a:srgbClr val="E8EEE0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3977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2A9D8F"/>
                </a:solidFill>
                <a:latin typeface="KaiTi"/>
              </a:rPr>
              <a:t>📷 真 实 照 片 · Real Photo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988819"/>
            <a:ext cx="39776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A9D8F"/>
                </a:solidFill>
                <a:latin typeface="KaiTi"/>
              </a:rPr>
              <a:t>👇 在 这 里 插 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354579"/>
            <a:ext cx="37947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C2C2C"/>
                </a:solidFill>
                <a:latin typeface="KaiTi"/>
              </a:rPr>
              <a:t>塑料瓶 的 真 实 照 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857500"/>
            <a:ext cx="37947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KaiTi"/>
              </a:rPr>
              <a:t>Real photo of Plastic Bottle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868680"/>
            <a:ext cx="4480560" cy="27889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868680"/>
            <a:ext cx="4480560" cy="45720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93268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KaiTi"/>
              </a:rPr>
              <a:t>1️⃣ 👀 看 — 你 看 到 / 想 到 什 么?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3716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2C2C2C"/>
                </a:solidFill>
                <a:latin typeface="KaiTi"/>
              </a:rPr>
              <a:t>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1426464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透 明, 很 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9385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2C2C2C"/>
                </a:solidFill>
                <a:latin typeface="KaiTi"/>
              </a:rPr>
              <a:t>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1993392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会 碎 成 小 塑 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50545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2C2C2C"/>
                </a:solidFill>
                <a:latin typeface="KaiTi"/>
              </a:rPr>
              <a:t>🗑️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560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喝 完 就 扔?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767328"/>
            <a:ext cx="8595360" cy="347472"/>
          </a:xfrm>
          <a:prstGeom prst="roundRect">
            <a:avLst/>
          </a:prstGeom>
          <a:solidFill>
            <a:srgbClr val="C8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813048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2️⃣ 🤔 想 — 它 到 了 海 里, 会 伤 害 谁?  我 觉 得……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5176" y="4206240"/>
            <a:ext cx="2084831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" y="4288536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C2C2C"/>
                </a:solidFill>
                <a:latin typeface="KaiTi"/>
              </a:rPr>
              <a:t>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" y="4306824"/>
            <a:ext cx="1444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海鸟?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41448" y="4206240"/>
            <a:ext cx="2084831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32888" y="4288536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C2C2C"/>
                </a:solidFill>
                <a:latin typeface="KaiTi"/>
              </a:rPr>
              <a:t>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08376" y="4306824"/>
            <a:ext cx="1444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鱼?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7720" y="4206240"/>
            <a:ext cx="2084831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59" y="4288536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C2C2C"/>
                </a:solidFill>
                <a:latin typeface="KaiTi"/>
              </a:rPr>
              <a:t>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84648" y="4306824"/>
            <a:ext cx="1444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鲸鱼?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93992" y="4206240"/>
            <a:ext cx="2084831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85431" y="4288536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C2C2C"/>
                </a:solidFill>
                <a:latin typeface="KaiTi"/>
              </a:rPr>
              <a:t>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19" y="4306824"/>
            <a:ext cx="1444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海洋垃圾?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🧴 塑 料 瓶 · ⚖️ 你 觉 得 呢?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⚖️ 判 — 你 觉 得 呢? A 还 是 B?  (先 选, 再 看!)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23444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20624" y="1344168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" y="13533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258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口 渴 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135331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79" y="14173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KaiT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1" y="1417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买 瓶 装 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5331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173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KaiT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31152" y="1417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带 水 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201168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0624" y="2121408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13055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1031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水 喝 完 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39" y="213055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79" y="21945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KaiTi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1" y="21945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再 买 一 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213055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1945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KaiTi"/>
              </a:rPr>
              <a:t>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1945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装 满 水 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278892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20624" y="2898648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2907791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88036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出 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49039" y="2907791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79" y="2971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KaiT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0831" y="29718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买 饮 料 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2907791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971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KaiTi"/>
              </a:rPr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9718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自 己 水 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639312"/>
            <a:ext cx="8412480" cy="36576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6850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👉 A → 举 左 手 · B → 举 右 手   🤔 3… 2… 1…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4320" y="4187952"/>
            <a:ext cx="8595360" cy="502920"/>
          </a:xfrm>
          <a:prstGeom prst="roundRect">
            <a:avLst/>
          </a:prstGeom>
          <a:solidFill>
            <a:srgbClr val="0F1A3A"/>
          </a:solidFill>
          <a:ln w="25400">
            <a:solidFill>
              <a:srgbClr val="F5C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3367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💬 句 型: K-G1: 我 选 A / B。   G2-G3: 我 选 __, 因 为 __。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4489704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3E0"/>
                </a:solidFill>
                <a:latin typeface="KaiTi"/>
              </a:rPr>
              <a:t>I choose A/B. (…because…)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C8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🧴 塑 料 瓶 · 💡 答 案 揭 晓!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💡 答 案 揭 晓!  绿 色 ✓ = 保 护 海 洋 的 选 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23444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20624" y="1344168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" y="13533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258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口 渴 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135331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79" y="14173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KaiT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1" y="1417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买 瓶 装 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53312"/>
            <a:ext cx="2423160" cy="420623"/>
          </a:xfrm>
          <a:prstGeom prst="roundRect">
            <a:avLst/>
          </a:prstGeom>
          <a:solidFill>
            <a:srgbClr val="EFF7EE"/>
          </a:solidFill>
          <a:ln w="381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173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KaiTi"/>
              </a:rPr>
              <a:t>✓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31152" y="1417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带 水 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201168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0624" y="2121408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13055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1031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水 喝 完 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39" y="213055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79" y="21945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KaiTi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1" y="21945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再 买 一 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2130552"/>
            <a:ext cx="2423160" cy="420623"/>
          </a:xfrm>
          <a:prstGeom prst="roundRect">
            <a:avLst/>
          </a:prstGeom>
          <a:solidFill>
            <a:srgbClr val="EFF7EE"/>
          </a:solidFill>
          <a:ln w="381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1945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KaiTi"/>
              </a:rPr>
              <a:t>✓ 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1945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装 满 水 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278892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20624" y="2898648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2907791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88036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出 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49039" y="2907791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79" y="2971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KaiT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0831" y="29718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买 饮 料 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2907791"/>
            <a:ext cx="2423160" cy="420623"/>
          </a:xfrm>
          <a:prstGeom prst="roundRect">
            <a:avLst/>
          </a:prstGeom>
          <a:solidFill>
            <a:srgbClr val="EFF7EE"/>
          </a:solidFill>
          <a:ln w="381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971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KaiTi"/>
              </a:rPr>
              <a:t>✓ 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9718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自 己 水 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639312"/>
            <a:ext cx="841248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675887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KaiTi"/>
              </a:rPr>
              <a:t>🙆 做: 举 起 水 壶, 咕 嘟 咕 嘟 喝 水!   💧 换 成: 水 壶 (装 满 再 用)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4320" y="4187952"/>
            <a:ext cx="8595360" cy="502920"/>
          </a:xfrm>
          <a:prstGeom prst="roundRect">
            <a:avLst/>
          </a:prstGeom>
          <a:solidFill>
            <a:srgbClr val="0F1A3A"/>
          </a:solidFill>
          <a:ln w="25400">
            <a:solidFill>
              <a:srgbClr val="F5C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3367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💬 句 型: ____ 不 好, 我 应 该 ____。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4489704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3E0"/>
                </a:solidFill>
                <a:latin typeface="KaiTi"/>
              </a:rPr>
              <a:t>___ is bad; I should ___.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🍴 一 次 性 餐 具 · Disposable Utensils  ①看+②想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3977639" cy="2788920"/>
          </a:xfrm>
          <a:prstGeom prst="rect">
            <a:avLst/>
          </a:prstGeom>
          <a:solidFill>
            <a:srgbClr val="E8EEE0"/>
          </a:solidFill>
          <a:ln w="254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3977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A7CA5"/>
                </a:solidFill>
                <a:latin typeface="KaiTi"/>
              </a:rPr>
              <a:t>📷 真 实 照 片 · Real Photo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988819"/>
            <a:ext cx="39776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A7CA5"/>
                </a:solidFill>
                <a:latin typeface="KaiTi"/>
              </a:rPr>
              <a:t>👇 在 这 里 插 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354579"/>
            <a:ext cx="37947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C2C2C"/>
                </a:solidFill>
                <a:latin typeface="KaiTi"/>
              </a:rPr>
              <a:t>一次性餐具 的 真 实 照 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857500"/>
            <a:ext cx="37947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KaiTi"/>
              </a:rPr>
              <a:t>Real photo of Disposable Utensils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868680"/>
            <a:ext cx="4480560" cy="27889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868680"/>
            <a:ext cx="4480560" cy="457200"/>
          </a:xfrm>
          <a:prstGeom prst="roundRect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93268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KaiTi"/>
              </a:rPr>
              <a:t>1️⃣ 👀 看 — 你 看 到 / 想 到 什 么?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3716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2C2C2C"/>
                </a:solidFill>
                <a:latin typeface="KaiTi"/>
              </a:rPr>
              <a:t>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1426464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塑 料 叉 / 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9385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2C2C2C"/>
                </a:solidFill>
                <a:latin typeface="KaiTi"/>
              </a:rPr>
              <a:t>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1993392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会 断 成 小 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50545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2C2C2C"/>
                </a:solidFill>
                <a:latin typeface="KaiTi"/>
              </a:rPr>
              <a:t>🗑️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560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吃 完 就 扔?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767328"/>
            <a:ext cx="8595360" cy="347472"/>
          </a:xfrm>
          <a:prstGeom prst="roundRect">
            <a:avLst/>
          </a:prstGeom>
          <a:solidFill>
            <a:srgbClr val="C8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813048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2️⃣ 🤔 想 — 它 到 了 海 里, 会 伤 害 谁?  我 觉 得……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5176" y="4206240"/>
            <a:ext cx="2084831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" y="4288536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C2C2C"/>
                </a:solidFill>
                <a:latin typeface="KaiTi"/>
              </a:rPr>
              <a:t>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" y="4306824"/>
            <a:ext cx="1444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鱼?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41448" y="4206240"/>
            <a:ext cx="2084831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32888" y="4288536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C2C2C"/>
                </a:solidFill>
                <a:latin typeface="KaiTi"/>
              </a:rPr>
              <a:t>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08376" y="4306824"/>
            <a:ext cx="1444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螃蟹?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7720" y="4206240"/>
            <a:ext cx="2084831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59" y="4288536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C2C2C"/>
                </a:solidFill>
                <a:latin typeface="KaiTi"/>
              </a:rPr>
              <a:t>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84648" y="4306824"/>
            <a:ext cx="1444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海龟?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93992" y="4206240"/>
            <a:ext cx="2084831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85431" y="4288536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C2C2C"/>
                </a:solidFill>
                <a:latin typeface="KaiTi"/>
              </a:rPr>
              <a:t>🗑️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19" y="4306824"/>
            <a:ext cx="1444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变垃圾?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🍴 一 次 性 餐 具 · ⚖️ 你 觉 得 呢?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⚖️ 判 — 你 觉 得 呢? A 还 是 B?  (先 选, 再 看!)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23444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20624" y="1344168"/>
            <a:ext cx="365760" cy="365760"/>
          </a:xfrm>
          <a:prstGeom prst="ellipse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" y="13533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258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吃 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135331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79" y="14173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A7CA5"/>
                </a:solidFill>
                <a:latin typeface="KaiT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1" y="1417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一 次 性 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5331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173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A7CA5"/>
                </a:solidFill>
                <a:latin typeface="KaiT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31152" y="1417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自 带 勺 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201168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0624" y="2121408"/>
            <a:ext cx="365760" cy="365760"/>
          </a:xfrm>
          <a:prstGeom prst="ellipse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13055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1031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外 卖 给 餐 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39" y="213055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79" y="21945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A7CA5"/>
                </a:solidFill>
                <a:latin typeface="KaiTi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1" y="21945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都 收 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213055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1945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A7CA5"/>
                </a:solidFill>
                <a:latin typeface="KaiTi"/>
              </a:rPr>
              <a:t>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1945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说 不 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278892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20624" y="2898648"/>
            <a:ext cx="365760" cy="365760"/>
          </a:xfrm>
          <a:prstGeom prst="ellipse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2907791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88036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野 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49039" y="2907791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79" y="2971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A7CA5"/>
                </a:solidFill>
                <a:latin typeface="KaiT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0831" y="29718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塑 料 餐 具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2907791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971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A7CA5"/>
                </a:solidFill>
                <a:latin typeface="KaiTi"/>
              </a:rPr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9718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自 己 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639312"/>
            <a:ext cx="8412480" cy="365760"/>
          </a:xfrm>
          <a:prstGeom prst="roundRect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6850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👉 A → 举 左 手 · B → 举 右 手   🤔 3… 2… 1…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4320" y="4187952"/>
            <a:ext cx="8595360" cy="502920"/>
          </a:xfrm>
          <a:prstGeom prst="roundRect">
            <a:avLst/>
          </a:prstGeom>
          <a:solidFill>
            <a:srgbClr val="0F1A3A"/>
          </a:solidFill>
          <a:ln w="25400">
            <a:solidFill>
              <a:srgbClr val="F5C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3367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💬 句 型: K-G1: 我 选 A / B。   G2-G3: 我 选 __, 因 为 __。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4489704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3E0"/>
                </a:solidFill>
                <a:latin typeface="KaiTi"/>
              </a:rPr>
              <a:t>I choose A/B. (…because…)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C8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🍴 一 次 性 餐 具 · 💡 答 案 揭 晓!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💡 答 案 揭 晓!  绿 色 ✓ = 保 护 海 洋 的 选 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23444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20624" y="1344168"/>
            <a:ext cx="365760" cy="365760"/>
          </a:xfrm>
          <a:prstGeom prst="ellipse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" y="13533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258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吃 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135331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79" y="14173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A7CA5"/>
                </a:solidFill>
                <a:latin typeface="KaiT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1" y="1417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一 次 性 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53312"/>
            <a:ext cx="2423160" cy="420623"/>
          </a:xfrm>
          <a:prstGeom prst="roundRect">
            <a:avLst/>
          </a:prstGeom>
          <a:solidFill>
            <a:srgbClr val="EFF7EE"/>
          </a:solidFill>
          <a:ln w="381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173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KaiTi"/>
              </a:rPr>
              <a:t>✓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31152" y="1417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自 带 勺 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201168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0624" y="2121408"/>
            <a:ext cx="365760" cy="365760"/>
          </a:xfrm>
          <a:prstGeom prst="ellipse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13055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1031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外 卖 给 餐 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39" y="213055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79" y="21945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A7CA5"/>
                </a:solidFill>
                <a:latin typeface="KaiTi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1" y="21945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都 收 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2130552"/>
            <a:ext cx="2423160" cy="420623"/>
          </a:xfrm>
          <a:prstGeom prst="roundRect">
            <a:avLst/>
          </a:prstGeom>
          <a:solidFill>
            <a:srgbClr val="EFF7EE"/>
          </a:solidFill>
          <a:ln w="381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1945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KaiTi"/>
              </a:rPr>
              <a:t>✓ 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1945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说 不 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278892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20624" y="2898648"/>
            <a:ext cx="365760" cy="365760"/>
          </a:xfrm>
          <a:prstGeom prst="ellipse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2907791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88036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野 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49039" y="2907791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79" y="2971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A7CA5"/>
                </a:solidFill>
                <a:latin typeface="KaiT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0831" y="29718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塑 料 餐 具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2907791"/>
            <a:ext cx="2423160" cy="420623"/>
          </a:xfrm>
          <a:prstGeom prst="roundRect">
            <a:avLst/>
          </a:prstGeom>
          <a:solidFill>
            <a:srgbClr val="EFF7EE"/>
          </a:solidFill>
          <a:ln w="381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971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KaiTi"/>
              </a:rPr>
              <a:t>✓ 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9718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自 己 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639312"/>
            <a:ext cx="841248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675887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KaiTi"/>
              </a:rPr>
              <a:t>🙆 做: 假 装 从 书 包 拿 出 勺 子 吃 饭!   🍴 换 成: 自 带 餐 具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4320" y="4187952"/>
            <a:ext cx="8595360" cy="502920"/>
          </a:xfrm>
          <a:prstGeom prst="roundRect">
            <a:avLst/>
          </a:prstGeom>
          <a:solidFill>
            <a:srgbClr val="0F1A3A"/>
          </a:solidFill>
          <a:ln w="25400">
            <a:solidFill>
              <a:srgbClr val="F5C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3367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💬 句 型: ____ 不 好, 我 应 该 ____。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4489704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3E0"/>
                </a:solidFill>
                <a:latin typeface="KaiTi"/>
              </a:rPr>
              <a:t>___ is bad; I should ___.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C05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📦 塑 料 包 装 · Plastic Packaging  ①看+②想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3977639" cy="2788920"/>
          </a:xfrm>
          <a:prstGeom prst="rect">
            <a:avLst/>
          </a:prstGeom>
          <a:solidFill>
            <a:srgbClr val="E8EEE0"/>
          </a:solidFill>
          <a:ln w="25400">
            <a:solidFill>
              <a:srgbClr val="C05A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3977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C05A17"/>
                </a:solidFill>
                <a:latin typeface="KaiTi"/>
              </a:rPr>
              <a:t>📷 真 实 照 片 · Real Photo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988819"/>
            <a:ext cx="39776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05A17"/>
                </a:solidFill>
                <a:latin typeface="KaiTi"/>
              </a:rPr>
              <a:t>👇 在 这 里 插 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354579"/>
            <a:ext cx="37947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C2C2C"/>
                </a:solidFill>
                <a:latin typeface="KaiTi"/>
              </a:rPr>
              <a:t>塑料包装 的 真 实 照 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857500"/>
            <a:ext cx="37947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KaiTi"/>
              </a:rPr>
              <a:t>Real photo of Plastic Packaging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868680"/>
            <a:ext cx="4480560" cy="27889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05A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868680"/>
            <a:ext cx="4480560" cy="457200"/>
          </a:xfrm>
          <a:prstGeom prst="roundRect">
            <a:avLst/>
          </a:prstGeom>
          <a:solidFill>
            <a:srgbClr val="C05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93268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KaiTi"/>
              </a:rPr>
              <a:t>1️⃣ 👀 看 — 你 看 到 / 想 到 什 么?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3716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2C2C2C"/>
                </a:solidFill>
                <a:latin typeface="KaiTi"/>
              </a:rPr>
              <a:t>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1426464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一 层 层 包 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9385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2C2C2C"/>
                </a:solidFill>
                <a:latin typeface="KaiTi"/>
              </a:rPr>
              <a:t>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1993392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会 缠 住 动 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50545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2C2C2C"/>
                </a:solidFill>
                <a:latin typeface="KaiTi"/>
              </a:rPr>
              <a:t>🗑️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560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拆 完 就 扔?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767328"/>
            <a:ext cx="8595360" cy="347472"/>
          </a:xfrm>
          <a:prstGeom prst="roundRect">
            <a:avLst/>
          </a:prstGeom>
          <a:solidFill>
            <a:srgbClr val="C8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813048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2️⃣ 🤔 想 — 它 到 了 海 里, 会 伤 害 谁?  我 觉 得……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5176" y="4206240"/>
            <a:ext cx="2084831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5A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" y="4288536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C2C2C"/>
                </a:solidFill>
                <a:latin typeface="KaiTi"/>
              </a:rPr>
              <a:t>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" y="4306824"/>
            <a:ext cx="1444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海豹?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41448" y="4206240"/>
            <a:ext cx="2084831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5A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32888" y="4288536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C2C2C"/>
                </a:solidFill>
                <a:latin typeface="KaiTi"/>
              </a:rPr>
              <a:t>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08376" y="4306824"/>
            <a:ext cx="1444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海龟?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7720" y="4206240"/>
            <a:ext cx="2084831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5A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59" y="4288536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C2C2C"/>
                </a:solidFill>
                <a:latin typeface="KaiTi"/>
              </a:rPr>
              <a:t>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84648" y="4306824"/>
            <a:ext cx="1444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鱼?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93992" y="4206240"/>
            <a:ext cx="2084831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5A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85431" y="4288536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C2C2C"/>
                </a:solidFill>
                <a:latin typeface="KaiTi"/>
              </a:rPr>
              <a:t>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19" y="4306824"/>
            <a:ext cx="1444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漂到海里?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C05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📦 塑 料 包 装 · ⚖️ 你 觉 得 呢?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⚖️ 判 — 你 觉 得 呢? A 还 是 B?  (先 选, 再 看!)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23444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5A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20624" y="1344168"/>
            <a:ext cx="365760" cy="365760"/>
          </a:xfrm>
          <a:prstGeom prst="ellipse">
            <a:avLst/>
          </a:prstGeom>
          <a:solidFill>
            <a:srgbClr val="C05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" y="13533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258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买 零 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135331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5A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79" y="14173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5A17"/>
                </a:solidFill>
                <a:latin typeface="KaiT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1" y="1417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很 多 小 包 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5331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5A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173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5A17"/>
                </a:solidFill>
                <a:latin typeface="KaiT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31152" y="1417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大 包 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201168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5A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0624" y="2121408"/>
            <a:ext cx="365760" cy="365760"/>
          </a:xfrm>
          <a:prstGeom prst="ellipse">
            <a:avLst/>
          </a:prstGeom>
          <a:solidFill>
            <a:srgbClr val="C05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13055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1031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买 水 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39" y="213055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5A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79" y="21945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5A17"/>
                </a:solidFill>
                <a:latin typeface="KaiTi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1" y="21945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塑 料 盒 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213055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5A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1945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5A17"/>
                </a:solidFill>
                <a:latin typeface="KaiTi"/>
              </a:rPr>
              <a:t>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1945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散 装 自 己 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278892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5A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20624" y="2898648"/>
            <a:ext cx="365760" cy="365760"/>
          </a:xfrm>
          <a:prstGeom prst="ellipse">
            <a:avLst/>
          </a:prstGeom>
          <a:solidFill>
            <a:srgbClr val="C05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2907791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88036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包 装 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49039" y="2907791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5A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79" y="2971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5A17"/>
                </a:solidFill>
                <a:latin typeface="KaiT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0831" y="29718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套 着 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2907791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5A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971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5A17"/>
                </a:solidFill>
                <a:latin typeface="KaiTi"/>
              </a:rPr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9718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剪 开 再 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639312"/>
            <a:ext cx="8412480" cy="365760"/>
          </a:xfrm>
          <a:prstGeom prst="roundRect">
            <a:avLst/>
          </a:prstGeom>
          <a:solidFill>
            <a:srgbClr val="C05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6850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👉 A → 举 左 手 · B → 举 右 手   🤔 3… 2… 1…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4320" y="4187952"/>
            <a:ext cx="8595360" cy="502920"/>
          </a:xfrm>
          <a:prstGeom prst="roundRect">
            <a:avLst/>
          </a:prstGeom>
          <a:solidFill>
            <a:srgbClr val="0F1A3A"/>
          </a:solidFill>
          <a:ln w="25400">
            <a:solidFill>
              <a:srgbClr val="F5C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3367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💬 句 型: K-G1: 我 选 A / B。   G2-G3: 我 选 __, 因 为 __。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4489704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3E0"/>
                </a:solidFill>
                <a:latin typeface="KaiTi"/>
              </a:rPr>
              <a:t>I choose A/B. (…because…)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C8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📦 塑 料 包 装 · 💡 答 案 揭 晓!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💡 答 案 揭 晓!  绿 色 ✓ = 保 护 海 洋 的 选 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23444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5A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20624" y="1344168"/>
            <a:ext cx="365760" cy="365760"/>
          </a:xfrm>
          <a:prstGeom prst="ellipse">
            <a:avLst/>
          </a:prstGeom>
          <a:solidFill>
            <a:srgbClr val="C05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" y="13533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258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买 零 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135331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5A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79" y="14173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5A17"/>
                </a:solidFill>
                <a:latin typeface="KaiT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1" y="1417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很 多 小 包 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53312"/>
            <a:ext cx="2423160" cy="420623"/>
          </a:xfrm>
          <a:prstGeom prst="roundRect">
            <a:avLst/>
          </a:prstGeom>
          <a:solidFill>
            <a:srgbClr val="EFF7EE"/>
          </a:solidFill>
          <a:ln w="381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173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KaiTi"/>
              </a:rPr>
              <a:t>✓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31152" y="1417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大 包 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201168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5A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0624" y="2121408"/>
            <a:ext cx="365760" cy="365760"/>
          </a:xfrm>
          <a:prstGeom prst="ellipse">
            <a:avLst/>
          </a:prstGeom>
          <a:solidFill>
            <a:srgbClr val="C05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13055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1031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买 水 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39" y="213055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5A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79" y="21945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5A17"/>
                </a:solidFill>
                <a:latin typeface="KaiTi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1" y="21945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塑 料 盒 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2130552"/>
            <a:ext cx="2423160" cy="420623"/>
          </a:xfrm>
          <a:prstGeom prst="roundRect">
            <a:avLst/>
          </a:prstGeom>
          <a:solidFill>
            <a:srgbClr val="EFF7EE"/>
          </a:solidFill>
          <a:ln w="381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1945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KaiTi"/>
              </a:rPr>
              <a:t>✓ 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1945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散 装 自 己 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278892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5A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20624" y="2898648"/>
            <a:ext cx="365760" cy="365760"/>
          </a:xfrm>
          <a:prstGeom prst="ellipse">
            <a:avLst/>
          </a:prstGeom>
          <a:solidFill>
            <a:srgbClr val="C05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2907791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88036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包 装 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49039" y="2907791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5A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79" y="2971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5A17"/>
                </a:solidFill>
                <a:latin typeface="KaiT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0831" y="29718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套 着 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2907791"/>
            <a:ext cx="2423160" cy="420623"/>
          </a:xfrm>
          <a:prstGeom prst="roundRect">
            <a:avLst/>
          </a:prstGeom>
          <a:solidFill>
            <a:srgbClr val="EFF7EE"/>
          </a:solidFill>
          <a:ln w="381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971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KaiTi"/>
              </a:rPr>
              <a:t>✓ 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9718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剪 开 再 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639312"/>
            <a:ext cx="841248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675887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KaiTi"/>
              </a:rPr>
              <a:t>🙆 做: 用 手 比 一 比 — 剪 开 包 装 再 扔!   📦 换 成: 少 包 装 / 散 装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4320" y="4187952"/>
            <a:ext cx="8595360" cy="502920"/>
          </a:xfrm>
          <a:prstGeom prst="roundRect">
            <a:avLst/>
          </a:prstGeom>
          <a:solidFill>
            <a:srgbClr val="0F1A3A"/>
          </a:solidFill>
          <a:ln w="25400">
            <a:solidFill>
              <a:srgbClr val="F5C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3367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💬 句 型: ____ 不 好, 我 应 该 ____。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4489704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3E0"/>
                </a:solidFill>
                <a:latin typeface="KaiTi"/>
              </a:rPr>
              <a:t>___ is bad; I should ___.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C8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🥤 一 次 性 杯 子 · Disposable Cup  ①看+②想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3977639" cy="2788920"/>
          </a:xfrm>
          <a:prstGeom prst="rect">
            <a:avLst/>
          </a:prstGeom>
          <a:solidFill>
            <a:srgbClr val="E8EEE0"/>
          </a:solidFill>
          <a:ln w="2540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3977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C8253E"/>
                </a:solidFill>
                <a:latin typeface="KaiTi"/>
              </a:rPr>
              <a:t>📷 真 实 照 片 · Real Photo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988819"/>
            <a:ext cx="39776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8253E"/>
                </a:solidFill>
                <a:latin typeface="KaiTi"/>
              </a:rPr>
              <a:t>👇 在 这 里 插 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354579"/>
            <a:ext cx="37947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C2C2C"/>
                </a:solidFill>
                <a:latin typeface="KaiTi"/>
              </a:rPr>
              <a:t>一次性杯子 的 真 实 照 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857500"/>
            <a:ext cx="37947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KaiTi"/>
              </a:rPr>
              <a:t>Real photo of Disposable Cup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868680"/>
            <a:ext cx="4480560" cy="27889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868680"/>
            <a:ext cx="4480560" cy="457200"/>
          </a:xfrm>
          <a:prstGeom prst="roundRect">
            <a:avLst/>
          </a:prstGeom>
          <a:solidFill>
            <a:srgbClr val="C8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93268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KaiTi"/>
              </a:rPr>
              <a:t>1️⃣ 👀 看 — 你 看 到 / 想 到 什 么?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3716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2C2C2C"/>
                </a:solidFill>
                <a:latin typeface="KaiTi"/>
              </a:rPr>
              <a:t>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1426464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纸 / 塑 料 杯 + 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9385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2C2C2C"/>
                </a:solidFill>
                <a:latin typeface="KaiTi"/>
              </a:rPr>
              <a:t>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1993392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会 变 海 洋 垃 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50545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2C2C2C"/>
                </a:solidFill>
                <a:latin typeface="KaiTi"/>
              </a:rPr>
              <a:t>🗑️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560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喝 完 就 扔?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767328"/>
            <a:ext cx="8595360" cy="347472"/>
          </a:xfrm>
          <a:prstGeom prst="roundRect">
            <a:avLst/>
          </a:prstGeom>
          <a:solidFill>
            <a:srgbClr val="C8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813048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2️⃣ 🤔 想 — 它 到 了 海 里, 会 伤 害 谁?  我 觉 得……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5176" y="4206240"/>
            <a:ext cx="2084831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" y="4288536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C2C2C"/>
                </a:solidFill>
                <a:latin typeface="KaiTi"/>
              </a:rPr>
              <a:t>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" y="4306824"/>
            <a:ext cx="1444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海洋垃圾?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41448" y="4206240"/>
            <a:ext cx="2084831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32888" y="4288536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C2C2C"/>
                </a:solidFill>
                <a:latin typeface="KaiTi"/>
              </a:rPr>
              <a:t>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08376" y="4306824"/>
            <a:ext cx="1444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海鸟?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7720" y="4206240"/>
            <a:ext cx="2084831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59" y="4288536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C2C2C"/>
                </a:solidFill>
                <a:latin typeface="KaiTi"/>
              </a:rPr>
              <a:t>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84648" y="4306824"/>
            <a:ext cx="1444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鱼?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93992" y="4206240"/>
            <a:ext cx="2084831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85431" y="4288536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C2C2C"/>
                </a:solidFill>
                <a:latin typeface="KaiTi"/>
              </a:rPr>
              <a:t>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19" y="4306824"/>
            <a:ext cx="1444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海龟?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C8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🥤 一 次 性 杯 子 · ⚖️ 你 觉 得 呢?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⚖️ 判 — 你 觉 得 呢? A 还 是 B?  (先 选, 再 看!)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23444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20624" y="1344168"/>
            <a:ext cx="365760" cy="365760"/>
          </a:xfrm>
          <a:prstGeom prst="ellipse">
            <a:avLst/>
          </a:prstGeom>
          <a:solidFill>
            <a:srgbClr val="C8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" y="13533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258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买 饮 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135331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79" y="14173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253E"/>
                </a:solidFill>
                <a:latin typeface="KaiT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1" y="1417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一 次 性 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5331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173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253E"/>
                </a:solidFill>
                <a:latin typeface="KaiT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31152" y="1417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自 己 的 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201168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0624" y="2121408"/>
            <a:ext cx="365760" cy="365760"/>
          </a:xfrm>
          <a:prstGeom prst="ellipse">
            <a:avLst/>
          </a:prstGeom>
          <a:solidFill>
            <a:srgbClr val="C8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13055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1031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喝 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39" y="213055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79" y="21945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253E"/>
                </a:solidFill>
                <a:latin typeface="KaiTi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1" y="21945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拿 纸 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213055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1945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253E"/>
                </a:solidFill>
                <a:latin typeface="KaiTi"/>
              </a:rPr>
              <a:t>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1945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用 自 己 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278892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20624" y="2898648"/>
            <a:ext cx="365760" cy="365760"/>
          </a:xfrm>
          <a:prstGeom prst="ellipse">
            <a:avLst/>
          </a:prstGeom>
          <a:solidFill>
            <a:srgbClr val="C8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2907791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88036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咖 啡 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49039" y="2907791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79" y="2971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253E"/>
                </a:solidFill>
                <a:latin typeface="KaiT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0831" y="29718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要 一 次 性 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2907791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971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253E"/>
                </a:solidFill>
                <a:latin typeface="KaiTi"/>
              </a:rPr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9718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带 随 行 杯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639312"/>
            <a:ext cx="8412480" cy="365760"/>
          </a:xfrm>
          <a:prstGeom prst="roundRect">
            <a:avLst/>
          </a:prstGeom>
          <a:solidFill>
            <a:srgbClr val="C8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6850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👉 A → 举 左 手 · B → 举 右 手   🤔 3… 2… 1…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4320" y="4187952"/>
            <a:ext cx="8595360" cy="502920"/>
          </a:xfrm>
          <a:prstGeom prst="roundRect">
            <a:avLst/>
          </a:prstGeom>
          <a:solidFill>
            <a:srgbClr val="0F1A3A"/>
          </a:solidFill>
          <a:ln w="25400">
            <a:solidFill>
              <a:srgbClr val="F5C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3367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💬 句 型: K-G1: 我 选 A / B。   G2-G3: 我 选 __, 因 为 __。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4489704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3E0"/>
                </a:solidFill>
                <a:latin typeface="KaiTi"/>
              </a:rPr>
              <a:t>I choose A/B. (…because…)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C8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🥤 一 次 性 杯 子 · 💡 答 案 揭 晓!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💡 答 案 揭 晓!  绿 色 ✓ = 保 护 海 洋 的 选 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23444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20624" y="1344168"/>
            <a:ext cx="365760" cy="365760"/>
          </a:xfrm>
          <a:prstGeom prst="ellipse">
            <a:avLst/>
          </a:prstGeom>
          <a:solidFill>
            <a:srgbClr val="C8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" y="13533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258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买 饮 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135331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79" y="14173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253E"/>
                </a:solidFill>
                <a:latin typeface="KaiT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1" y="1417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一 次 性 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53312"/>
            <a:ext cx="2423160" cy="420623"/>
          </a:xfrm>
          <a:prstGeom prst="roundRect">
            <a:avLst/>
          </a:prstGeom>
          <a:solidFill>
            <a:srgbClr val="EFF7EE"/>
          </a:solidFill>
          <a:ln w="381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173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KaiTi"/>
              </a:rPr>
              <a:t>✓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31152" y="1417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自 己 的 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201168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0624" y="2121408"/>
            <a:ext cx="365760" cy="365760"/>
          </a:xfrm>
          <a:prstGeom prst="ellipse">
            <a:avLst/>
          </a:prstGeom>
          <a:solidFill>
            <a:srgbClr val="C8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13055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1031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喝 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39" y="2130552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79" y="21945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253E"/>
                </a:solidFill>
                <a:latin typeface="KaiTi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1" y="21945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拿 纸 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2130552"/>
            <a:ext cx="2423160" cy="420623"/>
          </a:xfrm>
          <a:prstGeom prst="roundRect">
            <a:avLst/>
          </a:prstGeom>
          <a:solidFill>
            <a:srgbClr val="EFF7EE"/>
          </a:solidFill>
          <a:ln w="381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1945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KaiTi"/>
              </a:rPr>
              <a:t>✓ 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1945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用 自 己 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2788920"/>
            <a:ext cx="850392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20624" y="2898648"/>
            <a:ext cx="365760" cy="365760"/>
          </a:xfrm>
          <a:prstGeom prst="ellipse">
            <a:avLst/>
          </a:prstGeom>
          <a:solidFill>
            <a:srgbClr val="C8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2907791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88036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2C2C"/>
                </a:solidFill>
                <a:latin typeface="KaiTi"/>
              </a:rPr>
              <a:t>咖 啡 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49039" y="2907791"/>
            <a:ext cx="2423160" cy="42062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79" y="2971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253E"/>
                </a:solidFill>
                <a:latin typeface="KaiT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0831" y="29718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要 一 次 性 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2907791"/>
            <a:ext cx="2423160" cy="420623"/>
          </a:xfrm>
          <a:prstGeom prst="roundRect">
            <a:avLst/>
          </a:prstGeom>
          <a:solidFill>
            <a:srgbClr val="EFF7EE"/>
          </a:solidFill>
          <a:ln w="381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971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KaiTi"/>
              </a:rPr>
              <a:t>✓ 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9718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2C2C"/>
                </a:solidFill>
                <a:latin typeface="KaiTi"/>
              </a:rPr>
              <a:t>带 随 行 杯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639312"/>
            <a:ext cx="841248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675887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KaiTi"/>
              </a:rPr>
              <a:t>🙆 做: 举 起 自 己 的 杯 子, 干 杯!   🥤 换 成: 自 带 杯 子 / 随 行 杯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4320" y="4187952"/>
            <a:ext cx="8595360" cy="502920"/>
          </a:xfrm>
          <a:prstGeom prst="roundRect">
            <a:avLst/>
          </a:prstGeom>
          <a:solidFill>
            <a:srgbClr val="0F1A3A"/>
          </a:solidFill>
          <a:ln w="25400">
            <a:solidFill>
              <a:srgbClr val="F5C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3367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💬 句 型: ____ 不 好, 我 应 该 ____。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4489704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3E0"/>
                </a:solidFill>
                <a:latin typeface="KaiTi"/>
              </a:rPr>
              <a:t>___ is bad; I should ___.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📋 6 种 塑 料 对 比  Compare 6 Plastics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888888"/>
                </a:solidFill>
                <a:latin typeface="KaiTi"/>
              </a:rPr>
              <a:t>每 种 塑 料 伤 害 谁? 换 成 什 么?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417320"/>
            <a:ext cx="1051560" cy="9601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728216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KaiTi"/>
              </a:rPr>
              <a:t>塑 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417320"/>
            <a:ext cx="11430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691640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C2C2C"/>
                </a:solidFill>
                <a:latin typeface="KaiTi"/>
              </a:rPr>
              <a:t>🛍️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79192" y="1417320"/>
            <a:ext cx="11430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79192" y="1691640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C2C2C"/>
                </a:solidFill>
                <a:latin typeface="KaiTi"/>
              </a:rPr>
              <a:t>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95344" y="1417320"/>
            <a:ext cx="11430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95344" y="1691640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C2C2C"/>
                </a:solidFill>
                <a:latin typeface="KaiTi"/>
              </a:rPr>
              <a:t>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1496" y="1417320"/>
            <a:ext cx="11430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11496" y="1691640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C2C2C"/>
                </a:solidFill>
                <a:latin typeface="KaiTi"/>
              </a:rPr>
              <a:t>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8" y="1417320"/>
            <a:ext cx="11430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1691640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C2C2C"/>
                </a:solidFill>
                <a:latin typeface="KaiTi"/>
              </a:rPr>
              <a:t>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43800" y="1417320"/>
            <a:ext cx="11430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1691640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C2C2C"/>
                </a:solidFill>
                <a:latin typeface="KaiTi"/>
              </a:rPr>
              <a:t>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2560320"/>
            <a:ext cx="1051560" cy="9601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2871215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KaiTi"/>
              </a:rPr>
              <a:t>动 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63040" y="2560320"/>
            <a:ext cx="11430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63040" y="2834639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C2C2C"/>
                </a:solidFill>
                <a:latin typeface="KaiTi"/>
              </a:rPr>
              <a:t>🐢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79192" y="2560320"/>
            <a:ext cx="11430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79192" y="2834639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C2C2C"/>
                </a:solidFill>
                <a:latin typeface="KaiTi"/>
              </a:rPr>
              <a:t>🐢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95344" y="2560320"/>
            <a:ext cx="11430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95344" y="2834639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C2C2C"/>
                </a:solidFill>
                <a:latin typeface="KaiTi"/>
              </a:rPr>
              <a:t>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11496" y="2560320"/>
            <a:ext cx="11430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11496" y="2834639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C2C2C"/>
                </a:solidFill>
                <a:latin typeface="KaiTi"/>
              </a:rPr>
              <a:t>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27648" y="2560320"/>
            <a:ext cx="11430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27648" y="2834639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C2C2C"/>
                </a:solidFill>
                <a:latin typeface="KaiTi"/>
              </a:rPr>
              <a:t>🦭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43800" y="2560320"/>
            <a:ext cx="11430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3800" y="2834639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C2C2C"/>
                </a:solidFill>
                <a:latin typeface="KaiTi"/>
              </a:rPr>
              <a:t>🌊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" y="3703320"/>
            <a:ext cx="1051560" cy="9601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4014215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KaiTi"/>
              </a:rPr>
              <a:t>换 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63040" y="3703320"/>
            <a:ext cx="11430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63040" y="3977639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C2C2C"/>
                </a:solidFill>
                <a:latin typeface="KaiTi"/>
              </a:rPr>
              <a:t>🛍️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79192" y="3703320"/>
            <a:ext cx="11430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679192" y="3977639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C2C2C"/>
                </a:solidFill>
                <a:latin typeface="KaiTi"/>
              </a:rPr>
              <a:t>🚫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895344" y="3703320"/>
            <a:ext cx="11430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95344" y="3977639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C2C2C"/>
                </a:solidFill>
                <a:latin typeface="KaiTi"/>
              </a:rPr>
              <a:t>💧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111496" y="3703320"/>
            <a:ext cx="11430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11496" y="3977639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C2C2C"/>
                </a:solidFill>
                <a:latin typeface="KaiTi"/>
              </a:rPr>
              <a:t>🍴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27648" y="3703320"/>
            <a:ext cx="11430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27648" y="3977639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C2C2C"/>
                </a:solidFill>
                <a:latin typeface="KaiTi"/>
              </a:rPr>
              <a:t>📦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543800" y="3703320"/>
            <a:ext cx="11430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43800" y="3977639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C2C2C"/>
                </a:solidFill>
                <a:latin typeface="KaiTi"/>
              </a:rPr>
              <a:t>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🛡️ 好 vs 不 好!  🤔 你 觉 得 呢?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老 师 说 一 件 事 — 学 生 做 动 作!  ✅ 好 = 举 手 · ❌ 不 好 = 交 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9319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2763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2C2C2C"/>
                </a:solidFill>
                <a:latin typeface="KaiTi"/>
              </a:rPr>
              <a:t>🛍️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6459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买 东 西 不 用 塑 料 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59105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C8C"/>
                </a:solidFill>
                <a:latin typeface="KaiTi"/>
              </a:rPr>
              <a:t>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371600"/>
            <a:ext cx="39319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162763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2C2C2C"/>
                </a:solidFill>
                <a:latin typeface="KaiTi"/>
              </a:rPr>
              <a:t>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76672" y="16459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喝 水 用 自 己 的 水 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159105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C8C"/>
                </a:solidFill>
                <a:latin typeface="KaiTi"/>
              </a:rPr>
              <a:t>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23160"/>
            <a:ext cx="39319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679191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2C2C2C"/>
                </a:solidFill>
                <a:latin typeface="KaiTi"/>
              </a:rPr>
              <a:t>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2697479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塑 料 扔 进 海 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2642615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C8C"/>
                </a:solidFill>
                <a:latin typeface="KaiTi"/>
              </a:rPr>
              <a:t>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2423160"/>
            <a:ext cx="39319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679191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2C2C2C"/>
                </a:solidFill>
                <a:latin typeface="KaiTi"/>
              </a:rPr>
              <a:t>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6672" y="2697479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刷 牙 一 直 开 着 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642615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C8C"/>
                </a:solidFill>
                <a:latin typeface="KaiTi"/>
              </a:rPr>
              <a:t>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474720"/>
            <a:ext cx="39319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73075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2C2C2C"/>
                </a:solidFill>
                <a:latin typeface="KaiTi"/>
              </a:rPr>
              <a:t>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3749039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自 带 勺 子 吃 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36941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C8C"/>
                </a:solidFill>
                <a:latin typeface="KaiTi"/>
              </a:rPr>
              <a:t>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63440" y="3474720"/>
            <a:ext cx="39319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73168" y="373075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2C2C2C"/>
                </a:solidFill>
                <a:latin typeface="KaiTi"/>
              </a:rPr>
              <a:t>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76672" y="3749039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洗 菜 水 浇 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36941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C8C"/>
                </a:solidFill>
                <a:latin typeface="KaiTi"/>
              </a:rPr>
              <a:t>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C8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🛡️ 好 vs 不 好!  💡 答 案 揭 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931920" cy="9144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4475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2C2C2C"/>
                </a:solidFill>
                <a:latin typeface="KaiTi"/>
              </a:rPr>
              <a:t>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1463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买 东 西 不 用 塑 料 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67328" y="138988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2E7D32"/>
                </a:solidFill>
                <a:latin typeface="KaiTi"/>
              </a:rPr>
              <a:t>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188720"/>
            <a:ext cx="3931920" cy="9144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73168" y="144475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2C2C2C"/>
                </a:solidFill>
                <a:latin typeface="KaiTi"/>
              </a:rPr>
              <a:t>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76672" y="1463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喝 水 用 自 己 的 水 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73567" y="138988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2E7D32"/>
                </a:solidFill>
                <a:latin typeface="KaiTi"/>
              </a:rPr>
              <a:t>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21991"/>
            <a:ext cx="3931920" cy="9144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478024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2C2C2C"/>
                </a:solidFill>
                <a:latin typeface="KaiTi"/>
              </a:rPr>
              <a:t>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2496311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塑 料 扔 进 海 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7328" y="242316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C8253E"/>
                </a:solidFill>
                <a:latin typeface="KaiTi"/>
              </a:rPr>
              <a:t>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2221991"/>
            <a:ext cx="3931920" cy="9144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478024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2C2C2C"/>
                </a:solidFill>
                <a:latin typeface="KaiTi"/>
              </a:rPr>
              <a:t>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76672" y="2496311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刷 牙 一 直 开 着 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7" y="242316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C8253E"/>
                </a:solidFill>
                <a:latin typeface="KaiTi"/>
              </a:rPr>
              <a:t>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255263"/>
            <a:ext cx="3931920" cy="9144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511296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2C2C2C"/>
                </a:solidFill>
                <a:latin typeface="KaiTi"/>
              </a:rPr>
              <a:t>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3529583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自 带 勺 子 吃 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67328" y="3456432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2E7D32"/>
                </a:solidFill>
                <a:latin typeface="KaiTi"/>
              </a:rPr>
              <a:t>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0" y="3255263"/>
            <a:ext cx="3931920" cy="9144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73168" y="3511296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2C2C2C"/>
                </a:solidFill>
                <a:latin typeface="KaiTi"/>
              </a:rPr>
              <a:t>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76672" y="3529583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洗 菜 水 浇 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73567" y="3456432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2E7D32"/>
                </a:solidFill>
                <a:latin typeface="KaiTi"/>
              </a:rPr>
              <a:t>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572000"/>
            <a:ext cx="8595360" cy="502920"/>
          </a:xfrm>
          <a:prstGeom prst="roundRect">
            <a:avLst/>
          </a:prstGeom>
          <a:solidFill>
            <a:srgbClr val="0F1A3A"/>
          </a:solidFill>
          <a:ln w="25400">
            <a:solidFill>
              <a:srgbClr val="F5C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4617720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💬 句 型: ____ 不 好, 因 为 ____。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487375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3E0"/>
                </a:solidFill>
                <a:latin typeface="KaiTi"/>
              </a:rPr>
              <a:t>___ is bad, because ___.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🔍 我 演 你 猜  Act &amp; Guess!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888888"/>
                </a:solidFill>
                <a:latin typeface="KaiTi"/>
              </a:rPr>
              <a:t>老 师 演 一 个 动 作 — 学 生 猜 是 哪 个 塑 料 / 替 代 品!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" y="1234440"/>
            <a:ext cx="26517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6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1362456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2C2C2C"/>
                </a:solidFill>
                <a:latin typeface="KaiTi"/>
              </a:rPr>
              <a:t>🛍️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92808"/>
            <a:ext cx="24323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C2C2C"/>
                </a:solidFill>
                <a:latin typeface="KaiTi"/>
              </a:rPr>
              <a:t>挂 布 袋 去 买 东 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1234440"/>
            <a:ext cx="26517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46120" y="1362456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2C2C2C"/>
                </a:solidFill>
                <a:latin typeface="KaiTi"/>
              </a:rPr>
              <a:t>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5848" y="1892808"/>
            <a:ext cx="24323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C2C2C"/>
                </a:solidFill>
                <a:latin typeface="KaiTi"/>
              </a:rPr>
              <a:t>咕 嘟 咕 嘟 喝 水 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9048" y="1234440"/>
            <a:ext cx="26517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9048" y="1362456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2C2C2C"/>
                </a:solidFill>
                <a:latin typeface="KaiTi"/>
              </a:rPr>
              <a:t>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892808"/>
            <a:ext cx="24323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C2C2C"/>
                </a:solidFill>
                <a:latin typeface="KaiTi"/>
              </a:rPr>
              <a:t>从 书 包 拿 勺 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3192" y="2761488"/>
            <a:ext cx="26517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3192" y="288950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2C2C2C"/>
                </a:solidFill>
                <a:latin typeface="KaiTi"/>
              </a:rPr>
              <a:t>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419856"/>
            <a:ext cx="24323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C2C2C"/>
                </a:solidFill>
                <a:latin typeface="KaiTi"/>
              </a:rPr>
              <a:t>摆 手 说 不 用 吸 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6120" y="2761488"/>
            <a:ext cx="26517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5A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46120" y="288950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2C2C2C"/>
                </a:solidFill>
                <a:latin typeface="KaiTi"/>
              </a:rPr>
              <a:t>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55848" y="3419856"/>
            <a:ext cx="24323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C2C2C"/>
                </a:solidFill>
                <a:latin typeface="KaiTi"/>
              </a:rPr>
              <a:t>剪 开 包 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9048" y="2761488"/>
            <a:ext cx="26517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9048" y="288950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2C2C2C"/>
                </a:solidFill>
                <a:latin typeface="KaiTi"/>
              </a:rPr>
              <a:t>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8776" y="3419856"/>
            <a:ext cx="24323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C2C2C"/>
                </a:solidFill>
                <a:latin typeface="KaiTi"/>
              </a:rPr>
              <a:t>举 杯 干 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4224528"/>
            <a:ext cx="8595360" cy="502920"/>
          </a:xfrm>
          <a:prstGeom prst="roundRect">
            <a:avLst/>
          </a:prstGeom>
          <a:solidFill>
            <a:srgbClr val="0F1A3A"/>
          </a:solidFill>
          <a:ln w="25400">
            <a:solidFill>
              <a:srgbClr val="F5C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4270248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💬 句 型: 我 猜 是 ______!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52628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3E0"/>
                </a:solidFill>
                <a:latin typeface="KaiTi"/>
              </a:rPr>
              <a:t>I guess it's ___!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9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0"/>
            <a:ext cx="8595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KaiTi"/>
              </a:rPr>
              <a:t>📖 Session 2 · 下 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46888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C242"/>
                </a:solidFill>
                <a:latin typeface="KaiTi"/>
              </a:rPr>
              <a:t>复 习 + 语 言 (我 会 认 6 · 我 会 写 3)</a:t>
            </a:r>
          </a:p>
        </p:txBody>
      </p:sp>
      <p:sp>
        <p:nvSpPr>
          <p:cNvPr id="4" name="5-Point Star 3"/>
          <p:cNvSpPr/>
          <p:nvPr/>
        </p:nvSpPr>
        <p:spPr>
          <a:xfrm>
            <a:off x="731520" y="4297680"/>
            <a:ext cx="320040" cy="320040"/>
          </a:xfrm>
          <a:prstGeom prst="star5">
            <a:avLst/>
          </a:prstGeom>
          <a:solidFill>
            <a:srgbClr val="F5C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1645920" y="4114800"/>
            <a:ext cx="320040" cy="320040"/>
          </a:xfrm>
          <a:prstGeom prst="star5">
            <a:avLst/>
          </a:prstGeom>
          <a:solidFill>
            <a:srgbClr val="F5C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5-Point Star 5"/>
          <p:cNvSpPr/>
          <p:nvPr/>
        </p:nvSpPr>
        <p:spPr>
          <a:xfrm>
            <a:off x="7132320" y="4114800"/>
            <a:ext cx="320040" cy="320040"/>
          </a:xfrm>
          <a:prstGeom prst="star5">
            <a:avLst/>
          </a:prstGeom>
          <a:solidFill>
            <a:srgbClr val="F5C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7863840" y="4297680"/>
            <a:ext cx="320040" cy="320040"/>
          </a:xfrm>
          <a:prstGeom prst="star5">
            <a:avLst/>
          </a:prstGeom>
          <a:solidFill>
            <a:srgbClr val="F5C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06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🔁 快 速 复 习 — 塑 料 伤 害 谁?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888888"/>
                </a:solidFill>
                <a:latin typeface="KaiTi"/>
              </a:rPr>
              <a:t>把 塑 料 和 它 伤 害 的 动 物 连 起 来 (口 头)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1143000"/>
            <a:ext cx="2926080" cy="475488"/>
          </a:xfrm>
          <a:prstGeom prst="roundRect">
            <a:avLst/>
          </a:prstGeom>
          <a:solidFill>
            <a:srgbClr val="1B6F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1234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KaiTi"/>
              </a:rPr>
              <a:t>🛍️ 塑 料 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1143000"/>
            <a:ext cx="2926080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66360" y="1234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C2C2C"/>
                </a:solidFill>
                <a:latin typeface="KaiTi"/>
              </a:rPr>
              <a:t>🐢  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709928"/>
            <a:ext cx="2926080" cy="475488"/>
          </a:xfrm>
          <a:prstGeom prst="roundRect">
            <a:avLst/>
          </a:prstGeom>
          <a:solidFill>
            <a:srgbClr val="006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18013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KaiTi"/>
              </a:rPr>
              <a:t>🥤 吸 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1709928"/>
            <a:ext cx="2926080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60" y="18013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C2C2C"/>
                </a:solidFill>
                <a:latin typeface="KaiTi"/>
              </a:rPr>
              <a:t>🐢  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2276856"/>
            <a:ext cx="2926080" cy="475488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236829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KaiTi"/>
              </a:rPr>
              <a:t>🧴 塑 料 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2276856"/>
            <a:ext cx="2926080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60" y="236829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C2C2C"/>
                </a:solidFill>
                <a:latin typeface="KaiTi"/>
              </a:rPr>
              <a:t>🐦  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88720" y="2843784"/>
            <a:ext cx="2926080" cy="475488"/>
          </a:xfrm>
          <a:prstGeom prst="roundRect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293522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KaiTi"/>
              </a:rPr>
              <a:t>🍴 一 次 性 餐 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0" y="2843784"/>
            <a:ext cx="2926080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66360" y="293522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C2C2C"/>
                </a:solidFill>
                <a:latin typeface="KaiTi"/>
              </a:rPr>
              <a:t>🐟  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88720" y="3410712"/>
            <a:ext cx="2926080" cy="475488"/>
          </a:xfrm>
          <a:prstGeom prst="roundRect">
            <a:avLst/>
          </a:prstGeom>
          <a:solidFill>
            <a:srgbClr val="C05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35021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KaiTi"/>
              </a:rPr>
              <a:t>📦 塑 料 包 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3410712"/>
            <a:ext cx="2926080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6360" y="35021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C2C2C"/>
                </a:solidFill>
                <a:latin typeface="KaiTi"/>
              </a:rPr>
              <a:t>🦭  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88720" y="3977639"/>
            <a:ext cx="2926080" cy="475488"/>
          </a:xfrm>
          <a:prstGeom prst="roundRect">
            <a:avLst/>
          </a:prstGeom>
          <a:solidFill>
            <a:srgbClr val="C8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25880" y="406907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KaiTi"/>
              </a:rPr>
              <a:t>🥤 一 次 性 杯 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0" y="3977639"/>
            <a:ext cx="2926080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6360" y="406907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C2C2C"/>
                </a:solidFill>
                <a:latin typeface="KaiTi"/>
              </a:rPr>
              <a:t>🌊  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0520" y="219456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2C2C2C"/>
                </a:solidFill>
                <a:latin typeface="KaiTi"/>
              </a:rPr>
              <a:t>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06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🎮 复 习 游 戏 · Baamboozle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005840"/>
            <a:ext cx="6400800" cy="2377440"/>
          </a:xfrm>
          <a:prstGeom prst="roundRect">
            <a:avLst/>
          </a:prstGeom>
          <a:solidFill>
            <a:srgbClr val="0F1A3A"/>
          </a:solidFill>
          <a:ln w="3810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69164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0">
                <a:solidFill>
                  <a:srgbClr val="2C2C2C"/>
                </a:solidFill>
                <a:latin typeface="KaiTi"/>
              </a:rPr>
              <a:t>🎮</a:t>
            </a:r>
          </a:p>
        </p:txBody>
      </p:sp>
      <p:sp>
        <p:nvSpPr>
          <p:cNvPr id="6" name="Rounded Rectangle 5">
            <a:hlinkClick r:id="rId2"/>
          </p:cNvPr>
          <p:cNvSpPr/>
          <p:nvPr/>
        </p:nvSpPr>
        <p:spPr>
          <a:xfrm>
            <a:off x="2743200" y="3611880"/>
            <a:ext cx="3657600" cy="54864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3703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KaiTi"/>
              </a:rPr>
              <a:t>▶️ 点 击 开 始  Play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34340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KaiTi"/>
              </a:rPr>
              <a:t>🔗 https://www.baamboozle.com/games  (老 师: 换 成 真 实 游 戏 链 接)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👀 我 会 认 · 水  I Can Read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868680"/>
            <a:ext cx="4160520" cy="3017520"/>
          </a:xfrm>
          <a:prstGeom prst="roundRect">
            <a:avLst/>
          </a:prstGeom>
          <a:solidFill>
            <a:srgbClr val="FFF3E0"/>
          </a:solidFill>
          <a:ln w="317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9776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0">
                <a:solidFill>
                  <a:srgbClr val="2C2C2C"/>
                </a:solidFill>
                <a:latin typeface="KaiTi"/>
              </a:rPr>
              <a:t>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39776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C8C"/>
                </a:solidFill>
                <a:latin typeface="KaiTi"/>
              </a:rPr>
              <a:t>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3977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shuǐ  ·  water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39776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5C8C"/>
                </a:solidFill>
                <a:latin typeface="KaiTi"/>
              </a:rPr>
              <a:t>👉 跟 我 读!  Read after me!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868680"/>
            <a:ext cx="4114800" cy="3017520"/>
          </a:xfrm>
          <a:prstGeom prst="rect">
            <a:avLst/>
          </a:prstGeom>
          <a:solidFill>
            <a:srgbClr val="E8EEE0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96012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B5C8C"/>
                </a:solidFill>
                <a:latin typeface="KaiTi"/>
              </a:rPr>
              <a:t>📷 真 实 照 片 · Real Photo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0312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5C8C"/>
                </a:solidFill>
                <a:latin typeface="KaiTi"/>
              </a:rPr>
              <a:t>👇 在 这 里 插 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468879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C2C2C"/>
                </a:solidFill>
                <a:latin typeface="KaiTi"/>
              </a:rPr>
              <a:t>💧 一 杯 干 净 的 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971800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KaiTi"/>
              </a:rPr>
              <a:t>Image placeholder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023360"/>
            <a:ext cx="841248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09651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B5C8C"/>
                </a:solidFill>
                <a:latin typeface="KaiTi"/>
              </a:rPr>
              <a:t>📌 例 句  Example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3708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C2C2C"/>
                </a:solidFill>
                <a:latin typeface="KaiTi"/>
              </a:rPr>
              <a:t>水 是 生 命 之 源, 每 天 都 要 喝 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69087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88"/>
                </a:solidFill>
                <a:latin typeface="KaiTi"/>
              </a:rPr>
              <a:t>Water is the source of life.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👀 我 会 认 · 海 洋  I Can Read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868680"/>
            <a:ext cx="4160520" cy="3017520"/>
          </a:xfrm>
          <a:prstGeom prst="roundRect">
            <a:avLst/>
          </a:prstGeom>
          <a:solidFill>
            <a:srgbClr val="FFF3E0"/>
          </a:solidFill>
          <a:ln w="317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9776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0">
                <a:solidFill>
                  <a:srgbClr val="2C2C2C"/>
                </a:solidFill>
                <a:latin typeface="KaiTi"/>
              </a:rPr>
              <a:t>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39776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C8C"/>
                </a:solidFill>
                <a:latin typeface="KaiTi"/>
              </a:rPr>
              <a:t>海 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3977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hǎi yáng  ·  ocean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39776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5C8C"/>
                </a:solidFill>
                <a:latin typeface="KaiTi"/>
              </a:rPr>
              <a:t>👉 跟 我 读!  Read after me!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868680"/>
            <a:ext cx="4114800" cy="3017520"/>
          </a:xfrm>
          <a:prstGeom prst="rect">
            <a:avLst/>
          </a:prstGeom>
          <a:solidFill>
            <a:srgbClr val="E8EEE0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96012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B5C8C"/>
                </a:solidFill>
                <a:latin typeface="KaiTi"/>
              </a:rPr>
              <a:t>📷 真 实 照 片 · Real Photo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0312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5C8C"/>
                </a:solidFill>
                <a:latin typeface="KaiTi"/>
              </a:rPr>
              <a:t>👇 在 这 里 插 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468879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C2C2C"/>
                </a:solidFill>
                <a:latin typeface="KaiTi"/>
              </a:rPr>
              <a:t>🌊 蓝 色 的 大 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971800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KaiTi"/>
              </a:rPr>
              <a:t>Image placeholder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023360"/>
            <a:ext cx="841248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09651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B5C8C"/>
                </a:solidFill>
                <a:latin typeface="KaiTi"/>
              </a:rPr>
              <a:t>📌 例 句  Example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3708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C2C2C"/>
                </a:solidFill>
                <a:latin typeface="KaiTi"/>
              </a:rPr>
              <a:t>海 洋 里 有 很 多 动 物。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69087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88"/>
                </a:solidFill>
                <a:latin typeface="KaiTi"/>
              </a:rPr>
              <a:t>The ocean has many animals.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👀 我 会 认 · 塑 料  I Can Read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868680"/>
            <a:ext cx="4160520" cy="3017520"/>
          </a:xfrm>
          <a:prstGeom prst="roundRect">
            <a:avLst/>
          </a:prstGeom>
          <a:solidFill>
            <a:srgbClr val="FFF3E0"/>
          </a:solidFill>
          <a:ln w="317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9776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0">
                <a:solidFill>
                  <a:srgbClr val="2C2C2C"/>
                </a:solidFill>
                <a:latin typeface="KaiTi"/>
              </a:rPr>
              <a:t>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39776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C8C"/>
                </a:solidFill>
                <a:latin typeface="KaiTi"/>
              </a:rPr>
              <a:t>塑 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3977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sù liào  ·  plastic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39776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5C8C"/>
                </a:solidFill>
                <a:latin typeface="KaiTi"/>
              </a:rPr>
              <a:t>👉 跟 我 读!  Read after me!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868680"/>
            <a:ext cx="4114800" cy="3017520"/>
          </a:xfrm>
          <a:prstGeom prst="rect">
            <a:avLst/>
          </a:prstGeom>
          <a:solidFill>
            <a:srgbClr val="E8EEE0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96012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B5C8C"/>
                </a:solidFill>
                <a:latin typeface="KaiTi"/>
              </a:rPr>
              <a:t>📷 真 实 照 片 · Real Photo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0312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5C8C"/>
                </a:solidFill>
                <a:latin typeface="KaiTi"/>
              </a:rPr>
              <a:t>👇 在 这 里 插 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468879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C2C2C"/>
                </a:solidFill>
                <a:latin typeface="KaiTi"/>
              </a:rPr>
              <a:t>🥤 塑 料 瓶 和 塑 料 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971800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KaiTi"/>
              </a:rPr>
              <a:t>Image placeholder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023360"/>
            <a:ext cx="841248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09651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B5C8C"/>
                </a:solidFill>
                <a:latin typeface="KaiTi"/>
              </a:rPr>
              <a:t>📌 例 句  Example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3708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C2C2C"/>
                </a:solidFill>
                <a:latin typeface="KaiTi"/>
              </a:rPr>
              <a:t>塑 料 用 一 次 就 扔, 很 浪 费。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69087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88"/>
                </a:solidFill>
                <a:latin typeface="KaiTi"/>
              </a:rPr>
              <a:t>Single-use plastic is wasteful.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👀 我 会 认 · 污 染  I Can Read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868680"/>
            <a:ext cx="4160520" cy="3017520"/>
          </a:xfrm>
          <a:prstGeom prst="roundRect">
            <a:avLst/>
          </a:prstGeom>
          <a:solidFill>
            <a:srgbClr val="FFF3E0"/>
          </a:solidFill>
          <a:ln w="317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9776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0">
                <a:solidFill>
                  <a:srgbClr val="2C2C2C"/>
                </a:solidFill>
                <a:latin typeface="KaiTi"/>
              </a:rPr>
              <a:t>🛢️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39776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C8C"/>
                </a:solidFill>
                <a:latin typeface="KaiTi"/>
              </a:rPr>
              <a:t>污 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3977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wū rǎn  ·  pollution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39776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5C8C"/>
                </a:solidFill>
                <a:latin typeface="KaiTi"/>
              </a:rPr>
              <a:t>👉 跟 我 读!  Read after me!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868680"/>
            <a:ext cx="4114800" cy="3017520"/>
          </a:xfrm>
          <a:prstGeom prst="rect">
            <a:avLst/>
          </a:prstGeom>
          <a:solidFill>
            <a:srgbClr val="E8EEE0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96012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B5C8C"/>
                </a:solidFill>
                <a:latin typeface="KaiTi"/>
              </a:rPr>
              <a:t>📷 真 实 照 片 · Real Photo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0312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5C8C"/>
                </a:solidFill>
                <a:latin typeface="KaiTi"/>
              </a:rPr>
              <a:t>👇 在 这 里 插 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468879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C2C2C"/>
                </a:solidFill>
                <a:latin typeface="KaiTi"/>
              </a:rPr>
              <a:t>🛢️ 海 面 上 的 塑 料 垃 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971800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KaiTi"/>
              </a:rPr>
              <a:t>Image placeholder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023360"/>
            <a:ext cx="841248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09651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B5C8C"/>
                </a:solidFill>
                <a:latin typeface="KaiTi"/>
              </a:rPr>
              <a:t>📌 例 句  Example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3708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C2C2C"/>
                </a:solidFill>
                <a:latin typeface="KaiTi"/>
              </a:rPr>
              <a:t>塑 料 让 海 洋 污 染。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69087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88"/>
                </a:solidFill>
                <a:latin typeface="KaiTi"/>
              </a:rPr>
              <a:t>Plastic pollutes the ocean.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👀 我 会 认 · 保 护  I Can Read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868680"/>
            <a:ext cx="4160520" cy="3017520"/>
          </a:xfrm>
          <a:prstGeom prst="roundRect">
            <a:avLst/>
          </a:prstGeom>
          <a:solidFill>
            <a:srgbClr val="FFF3E0"/>
          </a:solidFill>
          <a:ln w="317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9776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0">
                <a:solidFill>
                  <a:srgbClr val="2C2C2C"/>
                </a:solidFill>
                <a:latin typeface="KaiTi"/>
              </a:rPr>
              <a:t>🛡️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39776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C8C"/>
                </a:solidFill>
                <a:latin typeface="KaiTi"/>
              </a:rPr>
              <a:t>保 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3977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bǎo hù  ·  protect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39776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5C8C"/>
                </a:solidFill>
                <a:latin typeface="KaiTi"/>
              </a:rPr>
              <a:t>👉 跟 我 读!  Read after me!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868680"/>
            <a:ext cx="4114800" cy="3017520"/>
          </a:xfrm>
          <a:prstGeom prst="rect">
            <a:avLst/>
          </a:prstGeom>
          <a:solidFill>
            <a:srgbClr val="E8EEE0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96012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B5C8C"/>
                </a:solidFill>
                <a:latin typeface="KaiTi"/>
              </a:rPr>
              <a:t>📷 真 实 照 片 · Real Photo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0312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5C8C"/>
                </a:solidFill>
                <a:latin typeface="KaiTi"/>
              </a:rPr>
              <a:t>👇 在 这 里 插 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468879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C2C2C"/>
                </a:solidFill>
                <a:latin typeface="KaiTi"/>
              </a:rPr>
              <a:t>🛡️ 孩 子 在 捡 垃 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971800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KaiTi"/>
              </a:rPr>
              <a:t>Image placeholder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023360"/>
            <a:ext cx="841248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09651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B5C8C"/>
                </a:solidFill>
                <a:latin typeface="KaiTi"/>
              </a:rPr>
              <a:t>📌 例 句  Example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3708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C2C2C"/>
                </a:solidFill>
                <a:latin typeface="KaiTi"/>
              </a:rPr>
              <a:t>我 们 要 保 护 海 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69087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88"/>
                </a:solidFill>
                <a:latin typeface="KaiTi"/>
              </a:rPr>
              <a:t>We protect the ocean.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👀 我 会 认 · 节 约  I Can Read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868680"/>
            <a:ext cx="4160520" cy="3017520"/>
          </a:xfrm>
          <a:prstGeom prst="roundRect">
            <a:avLst/>
          </a:prstGeom>
          <a:solidFill>
            <a:srgbClr val="FFF3E0"/>
          </a:solidFill>
          <a:ln w="317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9776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0">
                <a:solidFill>
                  <a:srgbClr val="2C2C2C"/>
                </a:solidFill>
                <a:latin typeface="KaiTi"/>
              </a:rPr>
              <a:t>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39776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C8C"/>
                </a:solidFill>
                <a:latin typeface="KaiTi"/>
              </a:rPr>
              <a:t>节 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3977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jié yuē  ·  save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39776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5C8C"/>
                </a:solidFill>
                <a:latin typeface="KaiTi"/>
              </a:rPr>
              <a:t>👉 跟 我 读!  Read after me!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868680"/>
            <a:ext cx="4114800" cy="3017520"/>
          </a:xfrm>
          <a:prstGeom prst="rect">
            <a:avLst/>
          </a:prstGeom>
          <a:solidFill>
            <a:srgbClr val="E8EEE0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96012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B5C8C"/>
                </a:solidFill>
                <a:latin typeface="KaiTi"/>
              </a:rPr>
              <a:t>📷 真 实 照 片 · Real Photo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0312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5C8C"/>
                </a:solidFill>
                <a:latin typeface="KaiTi"/>
              </a:rPr>
              <a:t>👇 在 这 里 插 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468879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C2C2C"/>
                </a:solidFill>
                <a:latin typeface="KaiTi"/>
              </a:rPr>
              <a:t>🚰 关 水 龙 头 的 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971800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KaiTi"/>
              </a:rPr>
              <a:t>Image placeholder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023360"/>
            <a:ext cx="841248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09651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B5C8C"/>
                </a:solidFill>
                <a:latin typeface="KaiTi"/>
              </a:rPr>
              <a:t>📌 例 句  Example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3708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C2C2C"/>
                </a:solidFill>
                <a:latin typeface="KaiTi"/>
              </a:rPr>
              <a:t>节 约 用 水, 关 好 水 龙 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69087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88"/>
                </a:solidFill>
                <a:latin typeface="KaiTi"/>
              </a:rPr>
              <a:t>Save water — turn off the tap.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✏️ 我 会 写 · 水  I Can Write · water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914400"/>
            <a:ext cx="4023360" cy="3108960"/>
          </a:xfrm>
          <a:prstGeom prst="roundRect">
            <a:avLst/>
          </a:prstGeom>
          <a:solidFill>
            <a:srgbClr val="FFF3E0"/>
          </a:solidFill>
          <a:ln w="317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38404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0" b="1">
                <a:solidFill>
                  <a:srgbClr val="0B5C8C"/>
                </a:solidFill>
                <a:latin typeface="KaiTi"/>
              </a:rPr>
              <a:t>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888888"/>
                </a:solidFill>
                <a:latin typeface="KaiTi"/>
              </a:rPr>
              <a:t>shuǐ  ·  water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5C8C"/>
                </a:solidFill>
                <a:latin typeface="KaiTi"/>
              </a:rPr>
              <a:t>4 笔 / 4 strokes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914400"/>
            <a:ext cx="420624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10058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5C8C"/>
                </a:solidFill>
                <a:latin typeface="KaiTi"/>
              </a:rPr>
              <a:t>✏️ 3 步练习  3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14173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C2C2C"/>
                </a:solidFill>
                <a:latin typeface="KaiTi"/>
              </a:rPr>
              <a:t>1️⃣ 看老师写  Watch teacher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17373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C2C2C"/>
                </a:solidFill>
                <a:latin typeface="KaiTi"/>
              </a:rPr>
              <a:t>2️⃣ 用手指空中写  Air-write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0574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C2C2C"/>
                </a:solidFill>
                <a:latin typeface="KaiTi"/>
              </a:rPr>
              <a:t>3️⃣ 在田字格写 3 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606040"/>
            <a:ext cx="96012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4572000" y="3086100"/>
            <a:ext cx="960120" cy="0"/>
          </a:xfrm>
          <a:prstGeom prst="line">
            <a:avLst/>
          </a:prstGeom>
          <a:ln w="6350">
            <a:solidFill>
              <a:srgbClr val="BBBBBB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052060" y="2606040"/>
            <a:ext cx="0" cy="960120"/>
          </a:xfrm>
          <a:prstGeom prst="line">
            <a:avLst/>
          </a:prstGeom>
          <a:ln w="6350">
            <a:solidFill>
              <a:srgbClr val="BBBBBB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623560" y="2606040"/>
            <a:ext cx="96012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623560" y="3086100"/>
            <a:ext cx="960120" cy="0"/>
          </a:xfrm>
          <a:prstGeom prst="line">
            <a:avLst/>
          </a:prstGeom>
          <a:ln w="6350">
            <a:solidFill>
              <a:srgbClr val="BBBBBB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103620" y="2606040"/>
            <a:ext cx="0" cy="960120"/>
          </a:xfrm>
          <a:prstGeom prst="line">
            <a:avLst/>
          </a:prstGeom>
          <a:ln w="6350">
            <a:solidFill>
              <a:srgbClr val="BBBBBB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675120" y="2606040"/>
            <a:ext cx="96012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675120" y="3086100"/>
            <a:ext cx="960120" cy="0"/>
          </a:xfrm>
          <a:prstGeom prst="line">
            <a:avLst/>
          </a:prstGeom>
          <a:ln w="6350">
            <a:solidFill>
              <a:srgbClr val="BBBBBB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155180" y="2606040"/>
            <a:ext cx="0" cy="960120"/>
          </a:xfrm>
          <a:prstGeom prst="line">
            <a:avLst/>
          </a:prstGeom>
          <a:ln w="6350">
            <a:solidFill>
              <a:srgbClr val="BBBBBB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7726679" y="2606040"/>
            <a:ext cx="96012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7726679" y="3086100"/>
            <a:ext cx="960121" cy="0"/>
          </a:xfrm>
          <a:prstGeom prst="line">
            <a:avLst/>
          </a:prstGeom>
          <a:ln w="6350">
            <a:solidFill>
              <a:srgbClr val="BBBBBB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206740" y="2606040"/>
            <a:ext cx="0" cy="960120"/>
          </a:xfrm>
          <a:prstGeom prst="line">
            <a:avLst/>
          </a:prstGeom>
          <a:ln w="6350">
            <a:solidFill>
              <a:srgbClr val="BBBBBB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0" y="361188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KaiTi"/>
              </a:rPr>
              <a:t>在 田 字 格 里 写 3 次 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4114800"/>
            <a:ext cx="8412480" cy="566928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160520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B5C8C"/>
                </a:solidFill>
                <a:latin typeface="KaiTi"/>
              </a:rPr>
              <a:t>👩‍🏫 老师问 Teacher asks: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389120"/>
            <a:ext cx="4023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C2C2C"/>
                </a:solidFill>
                <a:latin typeface="KaiTi"/>
              </a:rPr>
              <a:t>和 我 一 起 写 「水」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4160520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B5C8C"/>
                </a:solidFill>
                <a:latin typeface="KaiTi"/>
              </a:rPr>
              <a:t>🧒 学生 Student does: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4389120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C2C2C"/>
                </a:solidFill>
                <a:latin typeface="KaiTi"/>
              </a:rPr>
              <a:t>看 → 空中写 → 田字格写 3 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✏️ 我 会 写 · 保 护  I Can Write · protect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914400"/>
            <a:ext cx="4023360" cy="3108960"/>
          </a:xfrm>
          <a:prstGeom prst="roundRect">
            <a:avLst/>
          </a:prstGeom>
          <a:solidFill>
            <a:srgbClr val="FFF3E0"/>
          </a:solidFill>
          <a:ln w="317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38404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1">
                <a:solidFill>
                  <a:srgbClr val="0B5C8C"/>
                </a:solidFill>
                <a:latin typeface="KaiTi"/>
              </a:rPr>
              <a:t>保 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888888"/>
                </a:solidFill>
                <a:latin typeface="KaiTi"/>
              </a:rPr>
              <a:t>bǎo  hù  ·  protect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5C8C"/>
                </a:solidFill>
                <a:latin typeface="KaiTi"/>
              </a:rPr>
              <a:t>16 笔 / 16 strokes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914400"/>
            <a:ext cx="420624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10058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5C8C"/>
                </a:solidFill>
                <a:latin typeface="KaiTi"/>
              </a:rPr>
              <a:t>✏️ 3 步练习  3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14173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C2C2C"/>
                </a:solidFill>
                <a:latin typeface="KaiTi"/>
              </a:rPr>
              <a:t>1️⃣ 看老师写  Watch teacher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17373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C2C2C"/>
                </a:solidFill>
                <a:latin typeface="KaiTi"/>
              </a:rPr>
              <a:t>2️⃣ 用手指空中写  Air-write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0574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C2C2C"/>
                </a:solidFill>
                <a:latin typeface="KaiTi"/>
              </a:rPr>
              <a:t>3️⃣ 在田字格写 3 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606040"/>
            <a:ext cx="96012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4572000" y="3086100"/>
            <a:ext cx="960120" cy="0"/>
          </a:xfrm>
          <a:prstGeom prst="line">
            <a:avLst/>
          </a:prstGeom>
          <a:ln w="6350">
            <a:solidFill>
              <a:srgbClr val="BBBBBB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052060" y="2606040"/>
            <a:ext cx="0" cy="960120"/>
          </a:xfrm>
          <a:prstGeom prst="line">
            <a:avLst/>
          </a:prstGeom>
          <a:ln w="6350">
            <a:solidFill>
              <a:srgbClr val="BBBBBB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623560" y="2606040"/>
            <a:ext cx="96012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623560" y="3086100"/>
            <a:ext cx="960120" cy="0"/>
          </a:xfrm>
          <a:prstGeom prst="line">
            <a:avLst/>
          </a:prstGeom>
          <a:ln w="6350">
            <a:solidFill>
              <a:srgbClr val="BBBBBB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103620" y="2606040"/>
            <a:ext cx="0" cy="960120"/>
          </a:xfrm>
          <a:prstGeom prst="line">
            <a:avLst/>
          </a:prstGeom>
          <a:ln w="6350">
            <a:solidFill>
              <a:srgbClr val="BBBBBB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675120" y="2606040"/>
            <a:ext cx="96012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675120" y="3086100"/>
            <a:ext cx="960120" cy="0"/>
          </a:xfrm>
          <a:prstGeom prst="line">
            <a:avLst/>
          </a:prstGeom>
          <a:ln w="6350">
            <a:solidFill>
              <a:srgbClr val="BBBBBB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155180" y="2606040"/>
            <a:ext cx="0" cy="960120"/>
          </a:xfrm>
          <a:prstGeom prst="line">
            <a:avLst/>
          </a:prstGeom>
          <a:ln w="6350">
            <a:solidFill>
              <a:srgbClr val="BBBBBB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7726679" y="2606040"/>
            <a:ext cx="96012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7726679" y="3086100"/>
            <a:ext cx="960121" cy="0"/>
          </a:xfrm>
          <a:prstGeom prst="line">
            <a:avLst/>
          </a:prstGeom>
          <a:ln w="6350">
            <a:solidFill>
              <a:srgbClr val="BBBBBB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206740" y="2606040"/>
            <a:ext cx="0" cy="960120"/>
          </a:xfrm>
          <a:prstGeom prst="line">
            <a:avLst/>
          </a:prstGeom>
          <a:ln w="6350">
            <a:solidFill>
              <a:srgbClr val="BBBBBB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0" y="361188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KaiTi"/>
              </a:rPr>
              <a:t>在 田 字 格 里 写 3 次 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4114800"/>
            <a:ext cx="8412480" cy="566928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160520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B5C8C"/>
                </a:solidFill>
                <a:latin typeface="KaiTi"/>
              </a:rPr>
              <a:t>👩‍🏫 老师问 Teacher asks: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389120"/>
            <a:ext cx="4023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C2C2C"/>
                </a:solidFill>
                <a:latin typeface="KaiTi"/>
              </a:rPr>
              <a:t>和 我 一 起 写 「保 护」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4160520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B5C8C"/>
                </a:solidFill>
                <a:latin typeface="KaiTi"/>
              </a:rPr>
              <a:t>🧒 学生 Student does: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4389120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C2C2C"/>
                </a:solidFill>
                <a:latin typeface="KaiTi"/>
              </a:rPr>
              <a:t>看 → 空中写 → 田字格写 3 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✏️ 我 会 写 · 节 约  I Can Write · save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914400"/>
            <a:ext cx="4023360" cy="3108960"/>
          </a:xfrm>
          <a:prstGeom prst="roundRect">
            <a:avLst/>
          </a:prstGeom>
          <a:solidFill>
            <a:srgbClr val="FFF3E0"/>
          </a:solidFill>
          <a:ln w="317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38404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1">
                <a:solidFill>
                  <a:srgbClr val="0B5C8C"/>
                </a:solidFill>
                <a:latin typeface="KaiTi"/>
              </a:rPr>
              <a:t>节 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888888"/>
                </a:solidFill>
                <a:latin typeface="KaiTi"/>
              </a:rPr>
              <a:t>jié  yuē  ·  save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5C8C"/>
                </a:solidFill>
                <a:latin typeface="KaiTi"/>
              </a:rPr>
              <a:t>11 笔 / 11 strokes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914400"/>
            <a:ext cx="420624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10058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5C8C"/>
                </a:solidFill>
                <a:latin typeface="KaiTi"/>
              </a:rPr>
              <a:t>✏️ 3 步练习  3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14173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C2C2C"/>
                </a:solidFill>
                <a:latin typeface="KaiTi"/>
              </a:rPr>
              <a:t>1️⃣ 看老师写  Watch teacher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17373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C2C2C"/>
                </a:solidFill>
                <a:latin typeface="KaiTi"/>
              </a:rPr>
              <a:t>2️⃣ 用手指空中写  Air-write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0574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C2C2C"/>
                </a:solidFill>
                <a:latin typeface="KaiTi"/>
              </a:rPr>
              <a:t>3️⃣ 在田字格写 3 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606040"/>
            <a:ext cx="96012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4572000" y="3086100"/>
            <a:ext cx="960120" cy="0"/>
          </a:xfrm>
          <a:prstGeom prst="line">
            <a:avLst/>
          </a:prstGeom>
          <a:ln w="6350">
            <a:solidFill>
              <a:srgbClr val="BBBBBB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052060" y="2606040"/>
            <a:ext cx="0" cy="960120"/>
          </a:xfrm>
          <a:prstGeom prst="line">
            <a:avLst/>
          </a:prstGeom>
          <a:ln w="6350">
            <a:solidFill>
              <a:srgbClr val="BBBBBB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623560" y="2606040"/>
            <a:ext cx="96012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623560" y="3086100"/>
            <a:ext cx="960120" cy="0"/>
          </a:xfrm>
          <a:prstGeom prst="line">
            <a:avLst/>
          </a:prstGeom>
          <a:ln w="6350">
            <a:solidFill>
              <a:srgbClr val="BBBBBB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103620" y="2606040"/>
            <a:ext cx="0" cy="960120"/>
          </a:xfrm>
          <a:prstGeom prst="line">
            <a:avLst/>
          </a:prstGeom>
          <a:ln w="6350">
            <a:solidFill>
              <a:srgbClr val="BBBBBB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675120" y="2606040"/>
            <a:ext cx="96012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675120" y="3086100"/>
            <a:ext cx="960120" cy="0"/>
          </a:xfrm>
          <a:prstGeom prst="line">
            <a:avLst/>
          </a:prstGeom>
          <a:ln w="6350">
            <a:solidFill>
              <a:srgbClr val="BBBBBB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155180" y="2606040"/>
            <a:ext cx="0" cy="960120"/>
          </a:xfrm>
          <a:prstGeom prst="line">
            <a:avLst/>
          </a:prstGeom>
          <a:ln w="6350">
            <a:solidFill>
              <a:srgbClr val="BBBBBB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7726679" y="2606040"/>
            <a:ext cx="96012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7726679" y="3086100"/>
            <a:ext cx="960121" cy="0"/>
          </a:xfrm>
          <a:prstGeom prst="line">
            <a:avLst/>
          </a:prstGeom>
          <a:ln w="6350">
            <a:solidFill>
              <a:srgbClr val="BBBBBB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206740" y="2606040"/>
            <a:ext cx="0" cy="960120"/>
          </a:xfrm>
          <a:prstGeom prst="line">
            <a:avLst/>
          </a:prstGeom>
          <a:ln w="6350">
            <a:solidFill>
              <a:srgbClr val="BBBBBB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0" y="361188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KaiTi"/>
              </a:rPr>
              <a:t>在 田 字 格 里 写 3 次 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4114800"/>
            <a:ext cx="8412480" cy="566928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160520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B5C8C"/>
                </a:solidFill>
                <a:latin typeface="KaiTi"/>
              </a:rPr>
              <a:t>👩‍🏫 老师问 Teacher asks: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389120"/>
            <a:ext cx="4023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C2C2C"/>
                </a:solidFill>
                <a:latin typeface="KaiTi"/>
              </a:rPr>
              <a:t>和 我 一 起 写 「节 约」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4160520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B5C8C"/>
                </a:solidFill>
                <a:latin typeface="KaiTi"/>
              </a:rPr>
              <a:t>🧒 学生 Student does: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4389120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C2C2C"/>
                </a:solidFill>
                <a:latin typeface="KaiTi"/>
              </a:rPr>
              <a:t>看 → 空中写 → 田字格写 3 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9D8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0"/>
            <a:ext cx="8595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KaiTi"/>
              </a:rPr>
              <a:t>🎒 Session 3 · 下 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246888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C242"/>
                </a:solidFill>
                <a:latin typeface="KaiTi"/>
              </a:rPr>
              <a:t>练 习 册 + 动 手 (海 洋 拼 贴 · 承 诺)</a:t>
            </a:r>
          </a:p>
        </p:txBody>
      </p:sp>
      <p:sp>
        <p:nvSpPr>
          <p:cNvPr id="4" name="5-Point Star 3"/>
          <p:cNvSpPr/>
          <p:nvPr/>
        </p:nvSpPr>
        <p:spPr>
          <a:xfrm>
            <a:off x="731520" y="4297680"/>
            <a:ext cx="320040" cy="320040"/>
          </a:xfrm>
          <a:prstGeom prst="star5">
            <a:avLst/>
          </a:prstGeom>
          <a:solidFill>
            <a:srgbClr val="F5C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1645920" y="4114800"/>
            <a:ext cx="320040" cy="320040"/>
          </a:xfrm>
          <a:prstGeom prst="star5">
            <a:avLst/>
          </a:prstGeom>
          <a:solidFill>
            <a:srgbClr val="F5C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5-Point Star 5"/>
          <p:cNvSpPr/>
          <p:nvPr/>
        </p:nvSpPr>
        <p:spPr>
          <a:xfrm>
            <a:off x="7132320" y="4114800"/>
            <a:ext cx="320040" cy="320040"/>
          </a:xfrm>
          <a:prstGeom prst="star5">
            <a:avLst/>
          </a:prstGeom>
          <a:solidFill>
            <a:srgbClr val="F5C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7863840" y="4297680"/>
            <a:ext cx="320040" cy="320040"/>
          </a:xfrm>
          <a:prstGeom prst="star5">
            <a:avLst/>
          </a:prstGeom>
          <a:solidFill>
            <a:srgbClr val="F5C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📓 完 成 「海 洋 小 卫 士」练 习 册  Day 3 Booklet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15568"/>
            <a:ext cx="3840480" cy="15544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A9D8F"/>
                </a:solidFill>
                <a:latin typeface="KaiTi"/>
              </a:rPr>
              <a:t>① 圈 污 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84248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C2C2C"/>
                </a:solidFill>
                <a:latin typeface="KaiTi"/>
              </a:rPr>
              <a:t>哪 些 是 一 次 性 塑 料?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115568"/>
            <a:ext cx="3840480" cy="15544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138988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A9D8F"/>
                </a:solidFill>
                <a:latin typeface="KaiTi"/>
              </a:rPr>
              <a:t>② 连 一 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984248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C2C2C"/>
                </a:solidFill>
                <a:latin typeface="KaiTi"/>
              </a:rPr>
              <a:t>塑 料 → 换 成 什 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3840480" cy="15544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2004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A9D8F"/>
                </a:solidFill>
                <a:latin typeface="KaiTi"/>
              </a:rPr>
              <a:t>③ 我 的 承 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947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C2C2C"/>
                </a:solidFill>
                <a:latin typeface="KaiTi"/>
              </a:rPr>
              <a:t>我 是 海 洋 小 卫 士, 我 可 以 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2926080"/>
            <a:ext cx="3840480" cy="15544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32004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A9D8F"/>
                </a:solidFill>
                <a:latin typeface="KaiTi"/>
              </a:rPr>
              <a:t>④ 描 一 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7947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C2C2C"/>
                </a:solidFill>
                <a:latin typeface="KaiTi"/>
              </a:rPr>
              <a:t>水 · 保 护 · 塑 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🎨 动 手 时 间!  Hands-On — 2 个 活 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3931920" cy="31089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5C8C"/>
                </a:solidFill>
                <a:latin typeface="KaiTi"/>
              </a:rPr>
              <a:t>PROJECT 1 · 海 洋 拼 贴 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0" b="0">
                <a:solidFill>
                  <a:srgbClr val="2C2C2C"/>
                </a:solidFill>
                <a:latin typeface="KaiTi"/>
              </a:rPr>
              <a:t>🖼️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用 回 收 材 料 拼 一 片 干 净 的 海 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005840"/>
            <a:ext cx="3931920" cy="31089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234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A9D8F"/>
                </a:solidFill>
                <a:latin typeface="KaiTi"/>
              </a:rPr>
              <a:t>PROJECT 2 · 装 饰 环 保 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01168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0" b="0">
                <a:solidFill>
                  <a:srgbClr val="2C2C2C"/>
                </a:solidFill>
                <a:latin typeface="KaiTi"/>
              </a:rPr>
              <a:t>🛍️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2004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2C2C"/>
                </a:solidFill>
                <a:latin typeface="KaiTi"/>
              </a:rPr>
              <a:t>装 饰 布 袋 + 写 保 护 海 洋 的 承 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🖼️ Project 1: 海 洋 拼 贴 画  Ocean Collage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868680"/>
            <a:ext cx="4114800" cy="45720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KaiTi"/>
              </a:rPr>
              <a:t>🧺 材 料  Materials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🟦 蓝 纸 (海 水)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74519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🐟 彩 纸 (鱼)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♻️ 干 净 塑 料 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889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🍃 树 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2461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🖊️ 胶 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868680"/>
            <a:ext cx="41148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93268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KaiTi"/>
              </a:rPr>
              <a:t>👉 做 法  Steps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141732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1️⃣ 想 一 片 干 净 的 海 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192024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2️⃣ 用 材 料 拼 出 海 和 动 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242316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3️⃣ 贴 牢, 晾 一 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92608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4️⃣ 介 绍 我 的 作 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4297680"/>
            <a:ext cx="8595360" cy="502920"/>
          </a:xfrm>
          <a:prstGeom prst="roundRect">
            <a:avLst/>
          </a:prstGeom>
          <a:solidFill>
            <a:srgbClr val="0F1A3A"/>
          </a:solidFill>
          <a:ln w="25400">
            <a:solidFill>
              <a:srgbClr val="F5C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343400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💬 句 型: 这 是 干 净 的 海 洋, 有 ______。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5994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3E0"/>
                </a:solidFill>
                <a:latin typeface="KaiTi"/>
              </a:rPr>
              <a:t>This is a clean ocean with ___.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🖼️ Project 1 · 参 考 作 品  Examples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96112"/>
            <a:ext cx="2587752" cy="1737360"/>
          </a:xfrm>
          <a:prstGeom prst="rect">
            <a:avLst/>
          </a:prstGeom>
          <a:solidFill>
            <a:srgbClr val="E8EEE0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2587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B5C8C"/>
                </a:solidFill>
                <a:latin typeface="KaiTi"/>
              </a:rPr>
              <a:t>📷 真 实 照 片 · Real Photo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90472"/>
            <a:ext cx="2587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5C8C"/>
                </a:solidFill>
                <a:latin typeface="KaiTi"/>
              </a:rPr>
              <a:t>👇 在 这 里 插 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1"/>
            <a:ext cx="2404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C2C2C"/>
                </a:solidFill>
                <a:latin typeface="KaiTi"/>
              </a:rPr>
              <a:t>海 洋 拼 贴 参 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59152"/>
            <a:ext cx="2404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KaiTi"/>
              </a:rPr>
              <a:t>collage example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896112"/>
            <a:ext cx="2587752" cy="1737360"/>
          </a:xfrm>
          <a:prstGeom prst="rect">
            <a:avLst/>
          </a:prstGeom>
          <a:solidFill>
            <a:srgbClr val="E8EEE0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3552" y="987552"/>
            <a:ext cx="2587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B5C8C"/>
                </a:solidFill>
                <a:latin typeface="KaiTi"/>
              </a:rPr>
              <a:t>📷 真 实 照 片 · Real Photo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3552" y="1490472"/>
            <a:ext cx="2587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5C8C"/>
                </a:solidFill>
                <a:latin typeface="KaiTi"/>
              </a:rPr>
              <a:t>👇 在 这 里 插 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4992" y="1856231"/>
            <a:ext cx="2404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C2C2C"/>
                </a:solidFill>
                <a:latin typeface="KaiTi"/>
              </a:rPr>
              <a:t>海 洋 拼 贴 参 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4992" y="2359152"/>
            <a:ext cx="2404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KaiTi"/>
              </a:rPr>
              <a:t>collage example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5624" y="896112"/>
            <a:ext cx="2587752" cy="1737360"/>
          </a:xfrm>
          <a:prstGeom prst="rect">
            <a:avLst/>
          </a:prstGeom>
          <a:solidFill>
            <a:srgbClr val="E8EEE0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35624" y="987552"/>
            <a:ext cx="2587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B5C8C"/>
                </a:solidFill>
                <a:latin typeface="KaiTi"/>
              </a:rPr>
              <a:t>📷 真 实 照 片 · Real Photo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35624" y="1490472"/>
            <a:ext cx="2587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5C8C"/>
                </a:solidFill>
                <a:latin typeface="KaiTi"/>
              </a:rPr>
              <a:t>👇 在 这 里 插 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7064" y="1856231"/>
            <a:ext cx="2404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C2C2C"/>
                </a:solidFill>
                <a:latin typeface="KaiTi"/>
              </a:rPr>
              <a:t>海 洋 拼 贴 参 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4" y="2359152"/>
            <a:ext cx="2404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KaiTi"/>
              </a:rPr>
              <a:t>collage example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907792"/>
            <a:ext cx="2587752" cy="1737360"/>
          </a:xfrm>
          <a:prstGeom prst="rect">
            <a:avLst/>
          </a:prstGeom>
          <a:solidFill>
            <a:srgbClr val="E8EEE0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2999232"/>
            <a:ext cx="2587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B5C8C"/>
                </a:solidFill>
                <a:latin typeface="KaiTi"/>
              </a:rPr>
              <a:t>📷 真 实 照 片 · Real Photo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3502152"/>
            <a:ext cx="2587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5C8C"/>
                </a:solidFill>
                <a:latin typeface="KaiTi"/>
              </a:rPr>
              <a:t>👇 在 这 里 插 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867912"/>
            <a:ext cx="2404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C2C2C"/>
                </a:solidFill>
                <a:latin typeface="KaiTi"/>
              </a:rPr>
              <a:t>海 洋 拼 贴 参 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370832"/>
            <a:ext cx="2404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KaiTi"/>
              </a:rPr>
              <a:t>collage example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73552" y="2907792"/>
            <a:ext cx="2587752" cy="1737360"/>
          </a:xfrm>
          <a:prstGeom prst="rect">
            <a:avLst/>
          </a:prstGeom>
          <a:solidFill>
            <a:srgbClr val="E8EEE0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73552" y="2999232"/>
            <a:ext cx="2587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B5C8C"/>
                </a:solidFill>
                <a:latin typeface="KaiTi"/>
              </a:rPr>
              <a:t>📷 真 实 照 片 · Real Photo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73552" y="3502152"/>
            <a:ext cx="2587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5C8C"/>
                </a:solidFill>
                <a:latin typeface="KaiTi"/>
              </a:rPr>
              <a:t>👇 在 这 里 插 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4992" y="3867912"/>
            <a:ext cx="2404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C2C2C"/>
                </a:solidFill>
                <a:latin typeface="KaiTi"/>
              </a:rPr>
              <a:t>海 洋 拼 贴 参 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4992" y="4370832"/>
            <a:ext cx="2404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KaiTi"/>
              </a:rPr>
              <a:t>collage example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35624" y="2907792"/>
            <a:ext cx="2587752" cy="1737360"/>
          </a:xfrm>
          <a:prstGeom prst="rect">
            <a:avLst/>
          </a:prstGeom>
          <a:solidFill>
            <a:srgbClr val="E8EEE0"/>
          </a:solidFill>
          <a:ln w="254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35624" y="2999232"/>
            <a:ext cx="2587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B5C8C"/>
                </a:solidFill>
                <a:latin typeface="KaiTi"/>
              </a:rPr>
              <a:t>📷 真 实 照 片 · Real Photo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35624" y="3502152"/>
            <a:ext cx="2587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5C8C"/>
                </a:solidFill>
                <a:latin typeface="KaiTi"/>
              </a:rPr>
              <a:t>👇 在 这 里 插 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7064" y="3867912"/>
            <a:ext cx="2404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C2C2C"/>
                </a:solidFill>
                <a:latin typeface="KaiTi"/>
              </a:rPr>
              <a:t>海 洋 拼 贴 参 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27064" y="4370832"/>
            <a:ext cx="2404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KaiTi"/>
              </a:rPr>
              <a:t>collage example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🛍️ Project 2: 装 饰 环 保 袋 + 承 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868680"/>
            <a:ext cx="4114800" cy="45720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KaiTi"/>
              </a:rPr>
              <a:t>🧺 材 料 + 做 法  Materials +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🛍️ 一 个 布 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🖍️ 彩 笔 / 贴 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231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1️⃣ 画 海 洋 动 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2️⃣ 写 一 句 承 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4290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C2C2C"/>
                </a:solidFill>
                <a:latin typeface="KaiTi"/>
              </a:rPr>
              <a:t>3️⃣ 贴 到 承 诺 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868680"/>
            <a:ext cx="4114800" cy="3017520"/>
          </a:xfrm>
          <a:prstGeom prst="roundRect">
            <a:avLst/>
          </a:prstGeom>
          <a:solidFill>
            <a:srgbClr val="FFF3E0"/>
          </a:solidFill>
          <a:ln w="317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417320"/>
            <a:ext cx="4114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0" b="0">
                <a:solidFill>
                  <a:srgbClr val="2C2C2C"/>
                </a:solidFill>
                <a:latin typeface="KaiTi"/>
              </a:rPr>
              <a:t>🛍️🌊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92608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A9D8F"/>
                </a:solidFill>
                <a:latin typeface="KaiTi"/>
              </a:rPr>
              <a:t>我 的 布 袋, 我 天 天 用!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4297680"/>
            <a:ext cx="8595360" cy="502920"/>
          </a:xfrm>
          <a:prstGeom prst="roundRect">
            <a:avLst/>
          </a:prstGeom>
          <a:solidFill>
            <a:srgbClr val="0F1A3A"/>
          </a:solidFill>
          <a:ln w="25400">
            <a:solidFill>
              <a:srgbClr val="F5C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4343400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242"/>
                </a:solidFill>
                <a:latin typeface="KaiTi"/>
              </a:rPr>
              <a:t>💬 句 型: 我 是 海 洋 小 卫 士, 我 可 以 ______。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5994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3E0"/>
                </a:solidFill>
                <a:latin typeface="KaiTi"/>
              </a:rPr>
              <a:t>I'm an Ocean Guardian. I can ___.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🏅 Day 3 海 洋 小 卫 士 徽 章  Ocean Guardian Badge</a:t>
            </a:r>
          </a:p>
        </p:txBody>
      </p:sp>
      <p:sp>
        <p:nvSpPr>
          <p:cNvPr id="4" name="Oval 3"/>
          <p:cNvSpPr/>
          <p:nvPr/>
        </p:nvSpPr>
        <p:spPr>
          <a:xfrm>
            <a:off x="2926080" y="868680"/>
            <a:ext cx="3291840" cy="27432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10515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8253E"/>
                </a:solidFill>
                <a:latin typeface="KaiTi"/>
              </a:rPr>
              <a:t>DAY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41732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>
                <a:solidFill>
                  <a:srgbClr val="2C2C2C"/>
                </a:solidFill>
                <a:latin typeface="KaiTi"/>
              </a:rPr>
              <a:t>🌊🐢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39572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B5C8C"/>
                </a:solidFill>
                <a:latin typeface="KaiTi"/>
              </a:rPr>
              <a:t>海 洋 小 卫 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9077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KaiTi"/>
              </a:rPr>
              <a:t>✓ COMPLETED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79476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C2C2C"/>
                </a:solidFill>
                <a:latin typeface="KaiTi"/>
              </a:rPr>
              <a:t>⭐ ⭐ ⭐ ⭐ ⭐ ⭐   6 颗 星 都 拿 到 啦!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370832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KaiTi"/>
              </a:rPr>
              <a:t>学 会 了 6 种 塑 料 · 6 个 替 代 · 我 会 认 6 词 · 我 会 写 3 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8595360" cy="502920"/>
          </a:xfrm>
          <a:prstGeom prst="roundRect">
            <a:avLst/>
          </a:prstGeom>
          <a:solidFill>
            <a:srgbClr val="0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KaiTi"/>
              </a:rPr>
              <a:t>🎤 分 享 + 再 见!  Share + Goodbye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868680"/>
            <a:ext cx="8412480" cy="1874519"/>
          </a:xfrm>
          <a:prstGeom prst="roundRect">
            <a:avLst/>
          </a:prstGeom>
          <a:solidFill>
            <a:srgbClr val="0F1A3A"/>
          </a:solidFill>
          <a:ln w="38100">
            <a:solidFill>
              <a:srgbClr val="F5C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C242"/>
                </a:solidFill>
                <a:latin typeface="KaiTi"/>
              </a:rPr>
              <a:t>💬 今 天 我 学 了 — 句 型  Today's Sentence Frames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C242"/>
                </a:solidFill>
                <a:latin typeface="KaiTi"/>
              </a:rPr>
              <a:t>我 是 海 洋 小 卫 士, 我 可 以 ______。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C242"/>
                </a:solidFill>
                <a:latin typeface="KaiTi"/>
              </a:rPr>
              <a:t>____ 不 好, 我 应 该 ____。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2316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3E0"/>
                </a:solidFill>
                <a:latin typeface="KaiTi"/>
              </a:rPr>
              <a:t>I'm an Ocean Guardian — I can ___ / I should ___.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926080"/>
            <a:ext cx="8412480" cy="19202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B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063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5C8C"/>
                </a:solidFill>
                <a:latin typeface="KaiTi"/>
              </a:rPr>
              <a:t>🔮 明 天 见  See You Tomorrow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74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C2C2C"/>
                </a:solidFill>
                <a:latin typeface="KaiTi"/>
              </a:rPr>
              <a:t>🏠  Day 4 — 家 庭 零 废 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931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KaiTi"/>
              </a:rPr>
              <a:t>Family Zero Waste — 在 家 怎 样 零 废 弃?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34340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5C8C"/>
                </a:solidFill>
                <a:latin typeface="KaiTi"/>
              </a:rPr>
              <a:t>👋 想 一 想: 你 今 天 最 喜 欢 的 是 什 么?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192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KaiTi"/>
              </a:rPr>
              <a:t>54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