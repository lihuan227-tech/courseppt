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4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2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 (1 分钟):</a:t>
            </a:r>
          </a:p>
          <a:p>
            <a:r>
              <a:t>• 「小朋友们好！还记得熊猫奇奇和妙妙吗？今天它们要来我们家做客！」</a:t>
            </a:r>
          </a:p>
          <a:p>
            <a:r>
              <a:t>• 它们想帮我们家做一个「Zero Waste 零废弃」计划。</a:t>
            </a:r>
          </a:p>
          <a:p>
            <a:r>
              <a:t>• 今天 3 件大事: 1) 什么是零废弃 + 5R; 2) 在家里找浪费; 3) 做我们家的计划 + 环保购物袋。</a:t>
            </a:r>
          </a:p>
          <a:p>
            <a:r>
              <a:t>• 关键句型 (一整天都用): 「我们家可以 ____ 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读目标 (1 分钟): 一条一条读, 让学生跟读。重点是第 4 条 — 今天每个人都要做一个「我们家的计划」带回家。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激趣 (3 分钟):</a:t>
            </a:r>
          </a:p>
          <a:p>
            <a:r>
              <a:t>• 举起一袋垃圾 (或图片): 「这是一个家一天的垃圾, 多吗?」</a:t>
            </a:r>
          </a:p>
          <a:p>
            <a:r>
              <a:t>• 让学生猜自己家一天扔几袋。</a:t>
            </a:r>
          </a:p>
          <a:p>
            <a:r>
              <a:t>• 关键概念: 垃圾不会消失, 会埋在地下很久。少产生垃圾 = 帮助地球。</a:t>
            </a:r>
          </a:p>
          <a:p>
            <a:r>
              <a:t>• 引出今天的大问题: 「我们能不能少扔一点? 怎么做?」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讲概念 (3 分钟) — 用动作 + 图片:</a:t>
            </a:r>
          </a:p>
          <a:p>
            <a:r>
              <a:t>• 「零废弃」三个字拆开: 零 = 没有, 废弃 = 扔掉的东西。合起来 = 尽量不扔东西。</a:t>
            </a:r>
          </a:p>
          <a:p>
            <a:r>
              <a:t>• 三个动作带孩子做: 🚫(摇手)少产生垃圾 / 🔄(转手)东西重复用 / 🌱(抱)爱护地球。</a:t>
            </a:r>
          </a:p>
          <a:p>
            <a:r>
              <a:t>• 不是「一点垃圾都没有」, 而是「尽量少」。让孩子明白这是一个努力的方向。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教生词「浪费」(3 分钟):</a:t>
            </a:r>
          </a:p>
          <a:p>
            <a:r>
              <a:t>• 出示词卡「浪费」, 跟读三遍。</a:t>
            </a:r>
          </a:p>
          <a:p>
            <a:r>
              <a:t>• 用具体例子让孩子判断「这是不是浪费?」: 水一直流 / 倒饭 / 开着灯 / 只用一面的纸。</a:t>
            </a:r>
          </a:p>
          <a:p>
            <a:r>
              <a:t>• 让孩子用句型说: 「这是浪费, 因为 还能用 / 太多了。」</a:t>
            </a:r>
          </a:p>
          <a:p>
            <a:r>
              <a:t>• 「浪费」是今天的核心词 — 找浪费、不浪费。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Think-Pair-Share (3-4 分钟):</a:t>
            </a:r>
          </a:p>
          <a:p>
            <a:r>
              <a:t>• 想 (30 秒): 自己想一个家里看到的浪费。</a:t>
            </a:r>
          </a:p>
          <a:p>
            <a:r>
              <a:t>• 说: 和同桌互相说。老师计时 1 分钟。</a:t>
            </a:r>
          </a:p>
          <a:p>
            <a:r>
              <a:t>• 听: 请 2-3 个孩子分享, 用句型「我看到过 ___ 浪费。」</a:t>
            </a:r>
          </a:p>
          <a:p>
            <a:r>
              <a:t>• 老师把答案记在白板上, 留到 Session 2 找浪费时呼应。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介绍 5R (4 分钟):</a:t>
            </a:r>
          </a:p>
          <a:p>
            <a:r>
              <a:t>• 一个一个介绍, 让学生跟读 + 做动作: 拒绝🙅(摆手) / 减少⬇️(往下压) / 重复使用🔄(转圈) / 回收♻️(投桶) / 堆肥🍂(撒).</a:t>
            </a:r>
          </a:p>
          <a:p>
            <a:r>
              <a:t>• 顺序有意义: 越前面越好 — 最好的是「拒绝」(一开始就不要), 最后才是「回收/堆肥」。</a:t>
            </a:r>
          </a:p>
          <a:p>
            <a:r>
              <a:t>• 今天重点是中间两个: 减少 + 重复使用 (黄色加大的卡)。</a:t>
            </a:r>
          </a:p>
          <a:p>
            <a:r>
              <a:t>• 拒绝/回收/堆肥 简单认识即可。回收可以呼应 Day 1 的四个垃圾桶。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教「减少 Reduce」(3 分钟):</a:t>
            </a:r>
          </a:p>
          <a:p>
            <a:r>
              <a:t>• 动作: 双手像往下压, 说「减——少」。</a:t>
            </a:r>
          </a:p>
          <a:p>
            <a:r>
              <a:t>• 意思: 一开始就用得少。例: 自带水壶不买瓶装水、纸两面用、买大包装少买小包装。</a:t>
            </a:r>
          </a:p>
          <a:p>
            <a:r>
              <a:t>• 「减少」是今天要写的字之一, 多读几遍。</a:t>
            </a:r>
          </a:p>
          <a:p>
            <a:r>
              <a:t>• 句型: 「我们家可以 减少 ___ 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减少的例子 (2-3 分钟):</a:t>
            </a:r>
          </a:p>
          <a:p>
            <a:r>
              <a:t>• 一张一张看, 让孩子说「这样可以减少什么?」(减少瓶子 / 减少用纸 / 减少塑料袋 / 减少剩饭)。</a:t>
            </a:r>
          </a:p>
          <a:p>
            <a:r>
              <a:t>• 用句型: 「我们家可以 自带水壶 / 纸两面用 / ……」</a:t>
            </a:r>
          </a:p>
          <a:p>
            <a:r>
              <a:t>• 问: 「你们家做过哪一个?」举手。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教「重复使用 Reuse」(3 分钟):</a:t>
            </a:r>
          </a:p>
          <a:p>
            <a:r>
              <a:t>• 动作: 双手转圈, 说「重复——使用」。</a:t>
            </a:r>
          </a:p>
          <a:p>
            <a:r>
              <a:t>• 意思: 东西没坏, 再用一次, 不要马上扔。</a:t>
            </a:r>
          </a:p>
          <a:p>
            <a:r>
              <a:t>• 例: 玻璃瓶装东西、旧衣服给弟弟妹妹、纸箱做手工、购物袋下次再带。</a:t>
            </a:r>
          </a:p>
          <a:p>
            <a:r>
              <a:t>• 重点带出「购物袋」这个生词 (下一页例子里有)。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重复使用的例子 (2-3 分钟):</a:t>
            </a:r>
          </a:p>
          <a:p>
            <a:r>
              <a:t>• 第一张「购物袋」— 教生词「购物袋」: 去超市买东西装的袋子。自己带, 就不用每次拿新的塑料袋。</a:t>
            </a:r>
          </a:p>
          <a:p>
            <a:r>
              <a:t>• 其它例子让孩子说一说自己家有没有做。</a:t>
            </a:r>
          </a:p>
          <a:p>
            <a:r>
              <a:t>• 句型: 「我们家可以 重复使用 ___ 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简单认识「拒绝 Refuse」(1-2 分钟):</a:t>
            </a:r>
          </a:p>
          <a:p>
            <a:r>
              <a:t>• 动作: 摆摆手说「不用了, 谢谢!」</a:t>
            </a:r>
          </a:p>
          <a:p>
            <a:r>
              <a:t>• 最厉害的一招 — 一开始就不拿, 就不会变成垃圾。</a:t>
            </a:r>
          </a:p>
          <a:p>
            <a:r>
              <a:t>• 例: 餐厅的塑料吸管、免费的小传单、用不到的赠品。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简单认识「回收 Recycle」(1-2 分钟):</a:t>
            </a:r>
          </a:p>
          <a:p>
            <a:r>
              <a:t>• 呼应 Day 1: 我们学过四个垃圾桶, 可回收物放蓝桶。</a:t>
            </a:r>
          </a:p>
          <a:p>
            <a:r>
              <a:t>• 回收 = 让旧东西变成新东西 (旧瓶子 → 新瓶子)。</a:t>
            </a:r>
          </a:p>
          <a:p>
            <a:r>
              <a:t>• 但回收要花很多力气, 所以「减少」「重复使用」更好, 排在回收前面。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简单认识「堆肥 Rot」(1-2 分钟):</a:t>
            </a:r>
          </a:p>
          <a:p>
            <a:r>
              <a:t>• 厨房的果皮菜叶不一定是垃圾 — 埋进土里会烂掉, 变成肥料, 给植物吃。</a:t>
            </a:r>
          </a:p>
          <a:p>
            <a:r>
              <a:t>• 呼应 Day 1 的厨余垃圾 (绿桶)。</a:t>
            </a:r>
          </a:p>
          <a:p>
            <a:r>
              <a:t>• 「让垃圾变成有用的东西!」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配一配 (2-3 分钟) — 直接给答案式:</a:t>
            </a:r>
          </a:p>
          <a:p>
            <a:r>
              <a:t>• 出示行为, 全班一起说是哪个 R, 然后看卡片上的答案对一对。</a:t>
            </a:r>
          </a:p>
          <a:p>
            <a:r>
              <a:t>• 自带购物袋 = 重复使用; 自带水壶 = 减少; 不要吸管 = 拒绝。</a:t>
            </a:r>
          </a:p>
          <a:p>
            <a:r>
              <a:t>• 有的行为可能同时是「减少 + 重复使用」, 都对, 鼓励孩子说理由。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配一配 (2-3 分钟):</a:t>
            </a:r>
          </a:p>
          <a:p>
            <a:r>
              <a:t>• 果皮变肥料 = 堆肥; 纸两面用 = 减少; 旧报纸放蓝桶 = 回收。</a:t>
            </a:r>
          </a:p>
          <a:p>
            <a:r>
              <a:t>• 复习全部 5R。问: 「哪个最好? 为什么?」(拒绝/减少最好 — 一开始就不产生垃圾)。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找浪费 · 厨房 (3 分钟):</a:t>
            </a:r>
          </a:p>
          <a:p>
            <a:r>
              <a:t>• 看图, 让孩子先「圈出」浪费的地方 (口头指 / 投影上圈)。</a:t>
            </a:r>
          </a:p>
          <a:p>
            <a:r>
              <a:t>• 一个一个对: 水一直流、倒饭、用一次性袋子。</a:t>
            </a:r>
          </a:p>
          <a:p>
            <a:r>
              <a:t>• 每个浪费配一个办法, 用句型「我们家可以 关水 / 吃多少盛多少 / 自带购物袋」。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找浪费 · 客厅 (3 分钟):</a:t>
            </a:r>
          </a:p>
          <a:p>
            <a:r>
              <a:t>• 灯没人开着、电视没人看、用一次性水瓶。</a:t>
            </a:r>
          </a:p>
          <a:p>
            <a:r>
              <a:t>• 句型「我们家可以 关灯 / 关电视 / 用水壶」。</a:t>
            </a:r>
          </a:p>
          <a:p>
            <a:r>
              <a:t>• 关灯关电视也是省电 — 呼应 Day 2 能源。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找浪费 · 浴室 (3 分钟):</a:t>
            </a:r>
          </a:p>
          <a:p>
            <a:r>
              <a:t>• 刷牙时水一直流、用太多纸巾、沐浴露挤太多。</a:t>
            </a:r>
          </a:p>
          <a:p>
            <a:r>
              <a:t>• 句型「我们家可以 刷牙关水 / 用手帕 / 用多少挤多少」。</a:t>
            </a:r>
          </a:p>
          <a:p>
            <a:r>
              <a:t>• 总结三个房间: 家里到处都能找到浪费, 只要留心就能改!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拍词卡 (3-4 分钟):</a:t>
            </a:r>
          </a:p>
          <a:p>
            <a:r>
              <a:t>• 把 5 个词卡贴白板, 老师说一个 (中文或英文), 学生上来拍。</a:t>
            </a:r>
          </a:p>
          <a:p>
            <a:r>
              <a:t>• 或全班分两组比赛。</a:t>
            </a:r>
          </a:p>
          <a:p>
            <a:r>
              <a:t>• 每个词读 2-3 遍, 配动作: 减少⬇️ / 重复使用🔄 / 环保🌱 / 购物袋🛍️ / 浪费🍽️。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词汇配对 (3 分钟):</a:t>
            </a:r>
          </a:p>
          <a:p>
            <a:r>
              <a:t>• 左边词, 右边意思, 打乱了。让孩子把字母和数字连起来。</a:t>
            </a:r>
          </a:p>
          <a:p>
            <a:r>
              <a:t>• 答案: 减少=2(用得更少), 重复使用=1(再用一次), 环保=3(爱护地球), 购物袋=5(装东西的袋子), 浪费=4(还能用却扔掉)。</a:t>
            </a:r>
          </a:p>
          <a:p>
            <a:r>
              <a:t>• 可以做成连线练习纸。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句型练习 (4 分钟):</a:t>
            </a:r>
          </a:p>
          <a:p>
            <a:r>
              <a:t>• 全班齐读句型 3 遍, 拍手打节奏。</a:t>
            </a:r>
          </a:p>
          <a:p>
            <a:r>
              <a:t>• 同桌一问一答, 每人至少说 2 句「我们家可以 ____」。</a:t>
            </a:r>
          </a:p>
          <a:p>
            <a:r>
              <a:t>• 鼓励用上 5R 的词和今天的生词 (减少/重复使用/购物袋)。</a:t>
            </a:r>
          </a:p>
          <a:p>
            <a:r>
              <a:t>• 这个句型下午做海报时还要用。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写「减少」(4 分钟):</a:t>
            </a:r>
          </a:p>
          <a:p>
            <a:r>
              <a:t>• 先看老师在田字格写一遍, 边写边说部件。</a:t>
            </a:r>
          </a:p>
          <a:p>
            <a:r>
              <a:t>• 「减」= 氵 + 咸; 「少」= 小 + 丿。</a:t>
            </a:r>
          </a:p>
          <a:p>
            <a:r>
              <a:t>• 空中书空 → 田字格写 3 遍。</a:t>
            </a:r>
          </a:p>
          <a:p>
            <a:r>
              <a:t>• 提醒占格: 字要写在田字格中间, 不要太大或太小。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写「环保」(4 分钟):</a:t>
            </a:r>
          </a:p>
          <a:p>
            <a:r>
              <a:t>• 「环」= 王字旁 + 不; 「保」= 单人旁 + 呆。</a:t>
            </a:r>
          </a:p>
          <a:p>
            <a:r>
              <a:t>• 老师范写 → 书空 → 田字格写 3 遍。</a:t>
            </a:r>
          </a:p>
          <a:p>
            <a:r>
              <a:t>• 连起来读「环保」, 并说一句「我要做环保小卫士!」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复习游戏 (8-10 分钟):</a:t>
            </a:r>
          </a:p>
          <a:p>
            <a:r>
              <a:t>• 课前在 baamboozle.com 用 bamboozle_day3_family.csv 建好题目 (~10 题)。</a:t>
            </a:r>
          </a:p>
          <a:p>
            <a:r>
              <a:t>• 分 2-4 组, 答对加分。答错全班一起说正确答案。</a:t>
            </a:r>
          </a:p>
          <a:p>
            <a:r>
              <a:t>• 题目涵盖 5R、找浪费、5 个生词。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复习游戏 — 链接留空, 老师课前粘贴 Bamboozle 链接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小结 (2 分钟): 请几个孩子说「今天我学会了 ___」。</a:t>
            </a:r>
          </a:p>
          <a:p>
            <a:r>
              <a:t>• 预告下午/明天: 做海报 + 装饰环保购物袋。</a:t>
            </a:r>
          </a:p>
          <a:p>
            <a:r>
              <a:t>• 布置: 回家观察一个浪费, 想一个「我们家可以 ___」。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做手工之前先完成练习册 (Day 1-4)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介绍两个活动 (2 分钟):</a:t>
            </a:r>
          </a:p>
          <a:p>
            <a:r>
              <a:t>• 活动 1 (核心, 每人都做): 家庭 Zero Waste 计划海报 — 从 5R 选 3 件事, 写「我们家可以 ___」。</a:t>
            </a:r>
          </a:p>
          <a:p>
            <a:r>
              <a:t>• 活动 2 (动手): 装饰一个环保购物袋, 带回家重复使用。</a:t>
            </a:r>
          </a:p>
          <a:p>
            <a:r>
              <a:t>• 90 分钟: 海报 ~30 分钟 + 购物袋 ~25 分钟 + 分享/合影。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海报材料 + 做法 (讲 2 分钟):</a:t>
            </a:r>
          </a:p>
          <a:p>
            <a:r>
              <a:t>• 每人一张海报纸, 写「我们家的 Zero Waste 计划」。</a:t>
            </a:r>
          </a:p>
          <a:p>
            <a:r>
              <a:t>• 核心要求: 从 5R 选 3 件家里能做的事, 每件写一句「我们家可以 ___」。</a:t>
            </a:r>
          </a:p>
          <a:p>
            <a:r>
              <a:t>• 字不会写的可以画图 / 用图标贴纸代替。重点是想法, 不是字漂亮。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想一想 (3 分钟) — 在动手前先选好:</a:t>
            </a:r>
          </a:p>
          <a:p>
            <a:r>
              <a:t>• 带孩子过一遍 5R 的点子, 让每个孩子心里选 3 件「我们家最容易做到的」。</a:t>
            </a:r>
          </a:p>
          <a:p>
            <a:r>
              <a:t>• 提醒: 选真的能做到的, 回家要和爸爸妈妈一起做。</a:t>
            </a:r>
          </a:p>
          <a:p>
            <a:r>
              <a:t>• 选好就开始写海报。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示范 (2-3 分钟):</a:t>
            </a:r>
          </a:p>
          <a:p>
            <a:r>
              <a:t>• 老师出示自己做好的样板海报, 边指边说三句「我们家可以 ___」。</a:t>
            </a:r>
          </a:p>
          <a:p>
            <a:r>
              <a:t>• 强调结构: 标题 + 3 句 + 配图 + 上色。</a:t>
            </a:r>
          </a:p>
          <a:p>
            <a:r>
              <a:t>• 不求完美, 求想法清楚、能讲出来。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做海报 (30 分钟):</a:t>
            </a:r>
          </a:p>
          <a:p>
            <a:r>
              <a:t>• 巡视, 帮助选不出 3 件事的孩子 (提示 5R)。</a:t>
            </a:r>
          </a:p>
          <a:p>
            <a:r>
              <a:t>• 鼓励大孩子多写字, 小孩子多画图。</a:t>
            </a:r>
          </a:p>
          <a:p>
            <a:r>
              <a:t>• 提前 5 分钟提醒收尾, 准备装饰购物袋。</a:t>
            </a:r>
          </a:p>
          <a:p>
            <a:r>
              <a:t>• 做完先想好怎么向同学介绍。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购物袋材料 (1 分钟):</a:t>
            </a:r>
          </a:p>
          <a:p>
            <a:r>
              <a:t>• 每人一个布袋或纸袋。布袋用布用彩笔, 纸袋用蜡笔/马克笔。</a:t>
            </a:r>
          </a:p>
          <a:p>
            <a:r>
              <a:t>• 袋子里垫张纸, 防止颜色透到背面。</a:t>
            </a:r>
          </a:p>
          <a:p>
            <a:r>
              <a:t>• 老师强调: 这个袋子带回家, 下次买东西重复使用 — 这就是 Reuse!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购物袋做法 (1 分钟):</a:t>
            </a:r>
          </a:p>
          <a:p>
            <a:r>
              <a:t>• 4 步: 垫纸 → 铅笔打草稿 → 彩笔上色 → 晾干写名字。</a:t>
            </a:r>
          </a:p>
          <a:p>
            <a:r>
              <a:t>• 提醒先用铅笔轻轻画, 画错可以改。</a:t>
            </a:r>
          </a:p>
          <a:p>
            <a:r>
              <a:t>• 下一页给图案点子。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图案点子 (1 分钟):</a:t>
            </a:r>
          </a:p>
          <a:p>
            <a:r>
              <a:t>• 给犹豫的孩子一些点子: 大树、地球、回收标志、花叶、熊猫、太阳。</a:t>
            </a:r>
          </a:p>
          <a:p>
            <a:r>
              <a:t>• 也可以写字: 环保、Reuse、我爱地球。</a:t>
            </a:r>
          </a:p>
          <a:p>
            <a:r>
              <a:t>• 鼓励原创, 不用都一样。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装饰购物袋 (25 分钟):</a:t>
            </a:r>
          </a:p>
          <a:p>
            <a:r>
              <a:t>• 巡视, 提醒先铅笔后彩笔。</a:t>
            </a:r>
          </a:p>
          <a:p>
            <a:r>
              <a:t>• 布用彩笔可能有味道, 提醒不要靠近嘴巴和眼睛, 画完洗手。</a:t>
            </a:r>
          </a:p>
          <a:p>
            <a:r>
              <a:t>• 提前 5 分钟收尾、晾干、写名字。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展览 (3-4 分钟):</a:t>
            </a:r>
          </a:p>
          <a:p>
            <a:r>
              <a:t>• 学生把海报 + 购物袋摆在桌上。</a:t>
            </a:r>
          </a:p>
          <a:p>
            <a:r>
              <a:t>• 安静走一圈, 看别人的作品, 喜欢就轻拍桌子 (不出声评价)。</a:t>
            </a:r>
          </a:p>
          <a:p>
            <a:r>
              <a:t>• 老师挑 2-3 个有创意的, 等下请上台分享。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分享海报 (4-5 分钟):</a:t>
            </a:r>
          </a:p>
          <a:p>
            <a:r>
              <a:t>• 请几个孩子上台举起海报, 用句型说出 3 件「我们家可以 ___」。</a:t>
            </a:r>
          </a:p>
          <a:p>
            <a:r>
              <a:t>• K 级说 1 句即可, G1-3 说 3 句。</a:t>
            </a:r>
          </a:p>
          <a:p>
            <a:r>
              <a:t>• 全班给掌声。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分享购物袋 (3-4 分钟):</a:t>
            </a:r>
          </a:p>
          <a:p>
            <a:r>
              <a:t>• 请几个孩子举起袋子, 说画了什么 + 「我可以重复使用它」。</a:t>
            </a:r>
          </a:p>
          <a:p>
            <a:r>
              <a:t>• 强调 Reuse 的意义: 带这个袋子去超市, 就少用一个塑料袋。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合影 (2 分钟): 全班举着海报和购物袋拍照。</a:t>
            </a:r>
          </a:p>
          <a:p>
            <a:r>
              <a:t>• 喊口号: 「我们家可以 — 零废弃!」</a:t>
            </a:r>
          </a:p>
          <a:p>
            <a:r>
              <a:t>• 照片可以发给家长, 鼓励回家真的执行计划。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家园共育 (2 分钟):</a:t>
            </a:r>
          </a:p>
          <a:p>
            <a:r>
              <a:t>• 海报贴在家里显眼处 (冰箱/门口)。</a:t>
            </a:r>
          </a:p>
          <a:p>
            <a:r>
              <a:t>• 这周先认真做到 1 件事, 不用一下子全做。</a:t>
            </a:r>
          </a:p>
          <a:p>
            <a:r>
              <a:t>• 购物袋随身带。</a:t>
            </a:r>
          </a:p>
          <a:p>
            <a:r>
              <a:t>• 鼓励孩子当「监督员」, 发现家人浪费就友好提醒。</a:t>
            </a:r>
          </a:p>
          <a:p>
            <a:r>
              <a:t>• 可拍照/打卡反馈给老师。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 (1 分钟):</a:t>
            </a:r>
          </a:p>
          <a:p>
            <a:r>
              <a:t>• 全班一起说一遍「我们家可以 ____」。</a:t>
            </a:r>
          </a:p>
          <a:p>
            <a:r>
              <a:t>• 谢谢熊猫奇奇和妙妙来做客。</a:t>
            </a:r>
          </a:p>
          <a:p>
            <a:r>
              <a:t>• 「每个人做一点点, 地球就会很不一样!」</a:t>
            </a:r>
          </a:p>
          <a:p>
            <a:r>
              <a:t>• 颁发「零废弃小卫士」贴纸 / 印章。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A2C"/>
                </a:solidFill>
                <a:latin typeface="KaiTi"/>
              </a:rP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KaiTi"/>
              </a:rPr>
              <a:t>🐼🏠 家庭 Zero Waste 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3E0"/>
                </a:solidFill>
                <a:latin typeface="KaiTi"/>
              </a:rPr>
              <a:t>Our Family's Zero-Waste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A2C"/>
                </a:solidFill>
                <a:latin typeface="KaiTi"/>
              </a:rPr>
              <a:t>零废弃 · Zero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📖 Session 1  上午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🌍 什么是 Zero Waste?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今天的目标  Today's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8046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1612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5F2D"/>
                </a:solidFill>
                <a:latin typeface="KaiTi"/>
              </a:rPr>
              <a:t>懂什么是「零废弃」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27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Understand Zero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47672"/>
            <a:ext cx="8046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5F2D"/>
                </a:solidFill>
                <a:latin typeface="KaiTi"/>
              </a:rPr>
              <a:t>学会 5R 环保原则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Learn the 5R principle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43784"/>
            <a:ext cx="8046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35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5F2D"/>
                </a:solidFill>
                <a:latin typeface="KaiTi"/>
              </a:rPr>
              <a:t>在家里找出浪费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19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Spot waste at home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39896"/>
            <a:ext cx="8046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84962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C2C2C"/>
                </a:solidFill>
                <a:latin typeface="KaiTi"/>
              </a:rPr>
              <a:t>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96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5F2D"/>
                </a:solidFill>
                <a:latin typeface="KaiTi"/>
              </a:rPr>
              <a:t>做我们家的环保计划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153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Make our family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KaiTi"/>
              </a:rPr>
              <a:t>讨论</a:t>
            </a:r>
            <a:endParaRPr sz="2000" b="1">
              <a:solidFill>
                <a:srgbClr val="FFFFFF"/>
              </a:solidFill>
              <a:latin typeface="KaiT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37199"/>
            <a:ext cx="8412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5F2D"/>
                </a:solidFill>
                <a:latin typeface="Kaiti TC" panose="02010600040101010101" pitchFamily="2" charset="-120"/>
                <a:ea typeface="Kaiti TC" panose="02010600040101010101" pitchFamily="2" charset="-120"/>
              </a:rPr>
              <a:t>🗑️ 想一想: 我们家一天会扔多少垃圾?</a:t>
            </a:r>
            <a:r>
              <a:rPr lang="zh-CN" altLang="en-US" sz="2400" b="1">
                <a:solidFill>
                  <a:srgbClr val="2C5F2D"/>
                </a:solidFill>
                <a:latin typeface="Kaiti TC" panose="02010600040101010101" pitchFamily="2" charset="-120"/>
                <a:ea typeface="Kaiti TC" panose="02010600040101010101" pitchFamily="2" charset="-120"/>
              </a:rPr>
              <a:t> </a:t>
            </a:r>
            <a:endParaRPr lang="en-US" altLang="zh-CN" sz="2400" b="1">
              <a:solidFill>
                <a:srgbClr val="2C5F2D"/>
              </a:solidFill>
              <a:latin typeface="Kaiti TC" panose="02010600040101010101" pitchFamily="2" charset="-120"/>
              <a:ea typeface="Kaiti TC" panose="02010600040101010101" pitchFamily="2" charset="-120"/>
            </a:endParaRPr>
          </a:p>
          <a:p>
            <a:pPr algn="ctr"/>
            <a:r>
              <a:rPr lang="zh-CN" altLang="en-US" sz="2400" b="1">
                <a:solidFill>
                  <a:srgbClr val="2C5F2D"/>
                </a:solidFill>
                <a:latin typeface="Kaiti TC" panose="02010600040101010101" pitchFamily="2" charset="-120"/>
                <a:ea typeface="Kaiti TC" panose="02010600040101010101" pitchFamily="2" charset="-120"/>
              </a:rPr>
              <a:t>学校一天会扔多少垃圾？</a:t>
            </a:r>
            <a:endParaRPr sz="2400" b="1">
              <a:solidFill>
                <a:srgbClr val="2C5F2D"/>
              </a:solidFill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pic>
        <p:nvPicPr>
          <p:cNvPr id="7" name="Picture 6" descr="trash_hook_real.png"/>
          <p:cNvPicPr>
            <a:picLocks noChangeAspect="1"/>
          </p:cNvPicPr>
          <p:nvPr/>
        </p:nvPicPr>
        <p:blipFill>
          <a:blip r:embed="rId3"/>
          <a:srcRect l="3461" r="3461"/>
          <a:stretch>
            <a:fillRect/>
          </a:stretch>
        </p:blipFill>
        <p:spPr>
          <a:xfrm>
            <a:off x="2836627" y="1664208"/>
            <a:ext cx="3931920" cy="2377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37696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49531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</a:t>
            </a:r>
            <a:r>
              <a:rPr lang="en-US" altLang="zh-CN" sz="1400" b="1">
                <a:solidFill>
                  <a:srgbClr val="2C2C2C"/>
                </a:solidFill>
                <a:latin typeface="KaiTi"/>
              </a:rPr>
              <a:t>/</a:t>
            </a:r>
            <a:r>
              <a:rPr lang="zh-CN" altLang="en-US" sz="1400" b="1">
                <a:solidFill>
                  <a:srgbClr val="2C2C2C"/>
                </a:solidFill>
                <a:latin typeface="KaiTi"/>
              </a:rPr>
              <a:t>学校</a:t>
            </a:r>
            <a:r>
              <a:rPr sz="1400" b="1">
                <a:solidFill>
                  <a:srgbClr val="2C2C2C"/>
                </a:solidFill>
                <a:latin typeface="KaiTi"/>
              </a:rPr>
              <a:t>一天大约扔 ___ 袋垃圾。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🌍 什么是 Zero Waste?  零废弃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5F2D"/>
                </a:solidFill>
                <a:latin typeface="KaiTi"/>
              </a:rPr>
              <a:t>零废弃 = 尽量少产生垃圾, 让东西不浪费。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C"/>
                </a:solidFill>
                <a:latin typeface="KaiTi"/>
              </a:rPr>
              <a:t>Zero Waste = make as little trash as possible; don't waste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468880" cy="1828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🚫🗑️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少产生垃圾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Make less trash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83080"/>
            <a:ext cx="2468880" cy="1828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6EB6"/>
                </a:solidFill>
                <a:latin typeface="KaiTi"/>
              </a:rPr>
              <a:t>东西重复用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Use things again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2468880" cy="1828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59" y="1965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880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F2D"/>
                </a:solidFill>
                <a:latin typeface="KaiTi"/>
              </a:rPr>
              <a:t>爱护地球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Care for Earth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8862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9502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零废弃就是 ___ 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Zero waste means ___.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🍽️ 浪费是什么?  What is 浪费 (Waste)?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4114800" cy="21031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E07A2C"/>
                </a:solidFill>
                <a:latin typeface="KaiTi"/>
              </a:rPr>
              <a:t>浪费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C"/>
                </a:solidFill>
                <a:latin typeface="KaiTi"/>
              </a:rPr>
              <a:t>làng fèi  ·  waste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= 还能用却扔掉 / 用太多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868680"/>
            <a:ext cx="42062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哪些是浪费? Which are waste?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💧 水开着一直流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🍚 饭吃不完倒掉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💡 没人也开着灯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📄 纸只用一面就扔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850392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21868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8E3C"/>
                </a:solidFill>
                <a:latin typeface="KaiTi"/>
              </a:rPr>
              <a:t>👀 我会认: 浪费  —  跟我读三遍! 浪 · 费 · 浪费!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862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9502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这是浪费, 因为 ___ 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This is waste, because 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🤔 想一想 · 说一说  Think–Pair–Share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5F2D"/>
                </a:solidFill>
                <a:latin typeface="KaiTi"/>
              </a:rPr>
              <a:t>在我们家, 你看到过什么浪费?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C"/>
                </a:solidFill>
                <a:latin typeface="KaiTi"/>
              </a:rPr>
              <a:t>What waste have you seen at home?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28600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5F2D"/>
                </a:solidFill>
                <a:latin typeface="KaiTi"/>
              </a:rPr>
              <a:t>想 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自己先想一个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28600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🗣️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5F2D"/>
                </a:solidFill>
                <a:latin typeface="KaiTi"/>
              </a:rPr>
              <a:t>说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和同桌说一说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2286000" cy="1737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697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5F2D"/>
                </a:solidFill>
                <a:latin typeface="KaiTi"/>
              </a:rPr>
              <a:t>听 Listen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听别人怎么说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79476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8587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我看到过 ___ 浪费。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0873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I have seen ___ wasted.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♻️ 5R 大家庭  The 5R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5 个环保好习惯 — 从上往下, 越前面越棒!  Best habits first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162763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C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71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C"/>
                </a:solidFill>
                <a:latin typeface="KaiTi"/>
              </a:rPr>
              <a:t>Refuse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71800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8253E"/>
                </a:solidFill>
                <a:latin typeface="KaiTi"/>
              </a:rPr>
              <a:t>拒绝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6252" y="1143000"/>
            <a:ext cx="162763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07692" y="1216152"/>
            <a:ext cx="457200" cy="457200"/>
          </a:xfrm>
          <a:prstGeom prst="ellipse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7692" y="1271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0612" y="1261872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C"/>
                </a:solidFill>
                <a:latin typeface="KaiTi"/>
              </a:rPr>
              <a:t>Reduce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1972" y="1783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1972" y="2971800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A2C"/>
                </a:solidFill>
                <a:latin typeface="KaiTi"/>
              </a:rPr>
              <a:t>减少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8184" y="1143000"/>
            <a:ext cx="162763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49624" y="1216152"/>
            <a:ext cx="457200" cy="457200"/>
          </a:xfrm>
          <a:prstGeom prst="ellipse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9624" y="1271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1261872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C"/>
                </a:solidFill>
                <a:latin typeface="KaiTi"/>
              </a:rPr>
              <a:t>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1783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3904" y="2971800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6EB6"/>
                </a:solidFill>
                <a:latin typeface="KaiTi"/>
              </a:rPr>
              <a:t>重复使用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0116" y="1143000"/>
            <a:ext cx="162763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591555" y="1216152"/>
            <a:ext cx="457200" cy="457200"/>
          </a:xfrm>
          <a:prstGeom prst="ellipse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1555" y="1271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1261872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C"/>
                </a:solidFill>
                <a:latin typeface="KaiTi"/>
              </a:rPr>
              <a:t>Recycle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5836" y="1783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5836" y="2971800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A03D"/>
                </a:solidFill>
                <a:latin typeface="KaiTi"/>
              </a:rPr>
              <a:t>回收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42048" y="1143000"/>
            <a:ext cx="162763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33488" y="1216152"/>
            <a:ext cx="457200" cy="457200"/>
          </a:xfrm>
          <a:prstGeom prst="ellipse">
            <a:avLst/>
          </a:prstGeom>
          <a:solidFill>
            <a:srgbClr val="6B4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33488" y="12710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6408" y="1261872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888C"/>
                </a:solidFill>
                <a:latin typeface="KaiTi"/>
              </a:rPr>
              <a:t>Rot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1783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C2C2C"/>
                </a:solidFill>
                <a:latin typeface="KaiTi"/>
              </a:rPr>
              <a:t>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971800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4423"/>
                </a:solidFill>
                <a:latin typeface="KaiTi"/>
              </a:rPr>
              <a:t>堆肥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7A2C"/>
                </a:solidFill>
                <a:latin typeface="KaiTi"/>
              </a:rPr>
              <a:t>⭐ 今天重点学: 减少 (Reduce) + 重复使用 (Reuse)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06908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1330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43616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⬇️ 5R 第2个 · 减少  Reduce</a:t>
            </a:r>
          </a:p>
        </p:txBody>
      </p:sp>
      <p:pic>
        <p:nvPicPr>
          <p:cNvPr id="5" name="Picture 4" descr="reduce.png"/>
          <p:cNvPicPr>
            <a:picLocks noChangeAspect="1"/>
          </p:cNvPicPr>
          <p:nvPr/>
        </p:nvPicPr>
        <p:blipFill>
          <a:blip r:embed="rId3"/>
          <a:srcRect l="1136" r="1136"/>
          <a:stretch>
            <a:fillRect/>
          </a:stretch>
        </p:blipFill>
        <p:spPr>
          <a:xfrm>
            <a:off x="274320" y="960120"/>
            <a:ext cx="393192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960120"/>
            <a:ext cx="3931920" cy="3017520"/>
          </a:xfrm>
          <a:prstGeom prst="roundRect">
            <a:avLst/>
          </a:prstGeom>
          <a:noFill/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960120"/>
            <a:ext cx="443484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960120"/>
            <a:ext cx="443484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03327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KaiTi"/>
              </a:rPr>
              <a:t>减少 = 什么意思?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7A2C"/>
                </a:solidFill>
                <a:latin typeface="KaiTi"/>
              </a:rPr>
              <a:t>用得更少, 不要太多。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Use less; don't take too much.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🙌 动作: 双手往下压 = 减少 ⬇️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💡 例子: 少用一次性的东西、买需要的就好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⬇️ 减少 Reduce · 我们家可以这样做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7A2C"/>
                </a:solidFill>
                <a:latin typeface="KaiTi"/>
              </a:rPr>
              <a:t>自带水壶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Bring a bottle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59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7A2C"/>
                </a:solidFill>
                <a:latin typeface="KaiTi"/>
              </a:rPr>
              <a:t>纸两面用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Use both sides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7A2C"/>
                </a:solidFill>
                <a:latin typeface="KaiTi"/>
              </a:rPr>
              <a:t>自带购物袋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Bring own bag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7999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1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1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07A2C"/>
                </a:solidFill>
                <a:latin typeface="KaiTi"/>
              </a:rPr>
              <a:t>吃多少盛多少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1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Take what you 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🔄 5R 第3个 · 重复使用  Reuse</a:t>
            </a:r>
          </a:p>
        </p:txBody>
      </p:sp>
      <p:pic>
        <p:nvPicPr>
          <p:cNvPr id="5" name="Picture 4" descr="reuse.png"/>
          <p:cNvPicPr>
            <a:picLocks noChangeAspect="1"/>
          </p:cNvPicPr>
          <p:nvPr/>
        </p:nvPicPr>
        <p:blipFill>
          <a:blip r:embed="rId3"/>
          <a:srcRect l="1136" r="1136"/>
          <a:stretch>
            <a:fillRect/>
          </a:stretch>
        </p:blipFill>
        <p:spPr>
          <a:xfrm>
            <a:off x="274320" y="960120"/>
            <a:ext cx="393192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960120"/>
            <a:ext cx="3931920" cy="3017520"/>
          </a:xfrm>
          <a:prstGeom prst="roundRect">
            <a:avLst/>
          </a:prstGeom>
          <a:noFill/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960120"/>
            <a:ext cx="443484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960120"/>
            <a:ext cx="443484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03327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KaiTi"/>
              </a:rPr>
              <a:t>重复使用 = 什么意思?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E6EB6"/>
                </a:solidFill>
                <a:latin typeface="KaiTi"/>
              </a:rPr>
              <a:t>用过的东西再用一次。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C"/>
                </a:solidFill>
                <a:latin typeface="KaiTi"/>
              </a:rPr>
              <a:t>Use something again instead of throwing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🙌 动作: 双手转圈圈 = 重复使用 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💡 例子: 旧瓶子、旧衣服、购物袋都能再用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074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🔄 重复使用 Reuse · 我们家可以这样做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购物袋再用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Reuse the bag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59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旧瓶子装东西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Reuse jars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旧衣服传给弟妹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Hand down clothes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7999" y="960120"/>
            <a:ext cx="2011680" cy="2697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19" y="11887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19" y="2240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纸箱做手工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19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Craft from boxes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C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🙅 5R 第1个 · 拒绝  Refuse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3931920" cy="274320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8253E"/>
                </a:solidFill>
                <a:latin typeface="KaiTi"/>
              </a:rPr>
              <a:t>拒绝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C"/>
                </a:solidFill>
                <a:latin typeface="KaiTi"/>
              </a:rPr>
              <a:t>Refuse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51560"/>
            <a:ext cx="43434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234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253E"/>
                </a:solidFill>
                <a:latin typeface="KaiTi"/>
              </a:rPr>
              <a:t>意思: 不需要的, 一开始就说「不用了」。</a:t>
            </a:r>
          </a:p>
          <a:p>
            <a:endParaRPr sz="1600" b="1">
              <a:solidFill>
                <a:srgbClr val="C8253E"/>
              </a:solidFill>
              <a:latin typeface="KaiTi"/>
            </a:endParaRP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💡 例子: 不要免费小玩具 · 不要塑料吸管 · 不要多余的袋子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02336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873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159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♻️ 5R 第4个 · 回收  Recycle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3931920" cy="274320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BA03D"/>
                </a:solidFill>
                <a:latin typeface="KaiTi"/>
              </a:rPr>
              <a:t>回收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C"/>
                </a:solidFill>
                <a:latin typeface="KaiTi"/>
              </a:rPr>
              <a:t>Recycle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51560"/>
            <a:ext cx="43434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234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A03D"/>
                </a:solidFill>
                <a:latin typeface="KaiTi"/>
              </a:rPr>
              <a:t>意思: 可回收的东西, 送去做成新东西。</a:t>
            </a:r>
          </a:p>
          <a:p>
            <a:endParaRPr sz="1600" b="1">
              <a:solidFill>
                <a:srgbClr val="6BA03D"/>
              </a:solidFill>
              <a:latin typeface="KaiTi"/>
            </a:endParaRP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💡 例子: 塑料瓶 · 纸 · 玻璃 · 金属 → 蓝色可回收桶</a:t>
            </a:r>
          </a:p>
          <a:p>
            <a:endParaRPr sz="1400" b="0">
              <a:solidFill>
                <a:srgbClr val="2C2C2C"/>
              </a:solidFill>
              <a:latin typeface="KaiTi"/>
            </a:endParaRPr>
          </a:p>
          <a:p>
            <a:r>
              <a:rPr sz="1200" b="0">
                <a:solidFill>
                  <a:srgbClr val="88888C"/>
                </a:solidFill>
                <a:latin typeface="KaiTi"/>
              </a:rPr>
              <a:t>🔁 还记得 Day 1 的四个桶吗? 可回收物放蓝桶!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02336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873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159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4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🍂 5R 第5个 · 堆肥  Rot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3931920" cy="274320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0">
                <a:solidFill>
                  <a:srgbClr val="2C2C2C"/>
                </a:solidFill>
                <a:latin typeface="KaiTi"/>
              </a:rPr>
              <a:t>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B4423"/>
                </a:solidFill>
                <a:latin typeface="KaiTi"/>
              </a:rPr>
              <a:t>堆肥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C"/>
                </a:solidFill>
                <a:latin typeface="KaiTi"/>
              </a:rPr>
              <a:t>Rot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51560"/>
            <a:ext cx="43434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2344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4423"/>
                </a:solidFill>
                <a:latin typeface="KaiTi"/>
              </a:rPr>
              <a:t>意思: 果皮、菜叶埋在土里, 变成肥料。</a:t>
            </a:r>
          </a:p>
          <a:p>
            <a:endParaRPr sz="1600" b="1">
              <a:solidFill>
                <a:srgbClr val="6B4423"/>
              </a:solidFill>
              <a:latin typeface="KaiTi"/>
            </a:endParaRP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💡 例子: 果皮 · 菜叶 · 落叶 → 堆肥 → 给植物当营养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02336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873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159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🧩 配一配 (1)  Which 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看行为, 说一说它是哪个 R — 直接看答案!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自带购物袋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Bring own bag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3108960"/>
            <a:ext cx="1737360" cy="36576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重复使用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59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8979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699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自带水壶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4699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Bring a bottle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108960"/>
            <a:ext cx="173736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94759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减少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19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🥤🚫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39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不要塑料吸管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No plastic straw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2259" y="3108960"/>
            <a:ext cx="1737360" cy="365760"/>
          </a:xfrm>
          <a:prstGeom prst="roundRect">
            <a:avLst/>
          </a:prstGeom>
          <a:solidFill>
            <a:srgbClr val="C8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3699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拒绝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🧩 配一配 (2)  Which 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看行为, 说一说它是哪个 R — 直接看答案!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果皮变肥料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Peels → compost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" y="3108960"/>
            <a:ext cx="1737360" cy="365760"/>
          </a:xfrm>
          <a:prstGeom prst="roundRect">
            <a:avLst/>
          </a:prstGeom>
          <a:solidFill>
            <a:srgbClr val="6B4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堆肥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59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8979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699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纸两面用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4699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Use both sides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108960"/>
            <a:ext cx="173736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94759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减少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1143000"/>
            <a:ext cx="26974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19" y="13258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39" y="2240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旧报纸放蓝桶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7432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C"/>
                </a:solidFill>
                <a:latin typeface="KaiTi"/>
              </a:rPr>
              <a:t>Paper → blue bin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2259" y="3108960"/>
            <a:ext cx="173736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3699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→ 回收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🔍 家里找浪费 · 厨房  Kitchen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圈出浪费 → 想一想:「我们家可以 ____ 。」 Circle the waste, then say how we fix it.</a:t>
            </a:r>
          </a:p>
        </p:txBody>
      </p:sp>
      <p:pic>
        <p:nvPicPr>
          <p:cNvPr id="6" name="Picture 5" descr="kitchen.png"/>
          <p:cNvPicPr>
            <a:picLocks noChangeAspect="1"/>
          </p:cNvPicPr>
          <p:nvPr/>
        </p:nvPicPr>
        <p:blipFill>
          <a:blip r:embed="rId3"/>
          <a:srcRect t="388" b="388"/>
          <a:stretch>
            <a:fillRect/>
          </a:stretch>
        </p:blipFill>
        <p:spPr>
          <a:xfrm>
            <a:off x="365760" y="1097280"/>
            <a:ext cx="393192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097280"/>
            <a:ext cx="3931920" cy="2926080"/>
          </a:xfrm>
          <a:prstGeom prst="roundRect">
            <a:avLst/>
          </a:prstGeom>
          <a:noFill/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197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17043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水龙头一直开着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随手关水龙头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9216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8236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饭菜吃不完倒掉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9326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吃多少盛多少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1152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34365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9430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一次性塑料袋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505199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自带购物袋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4074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🔍 家里找浪费 · 客厅  Living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圈出浪费 → 想一想:「我们家可以 ____ 。」 Circle the waste, then say how we fix it.</a:t>
            </a:r>
          </a:p>
        </p:txBody>
      </p:sp>
      <p:pic>
        <p:nvPicPr>
          <p:cNvPr id="6" name="Picture 5" descr="living_room.png"/>
          <p:cNvPicPr>
            <a:picLocks noChangeAspect="1"/>
          </p:cNvPicPr>
          <p:nvPr/>
        </p:nvPicPr>
        <p:blipFill>
          <a:blip r:embed="rId3"/>
          <a:srcRect t="388" b="388"/>
          <a:stretch>
            <a:fillRect/>
          </a:stretch>
        </p:blipFill>
        <p:spPr>
          <a:xfrm>
            <a:off x="365760" y="1097280"/>
            <a:ext cx="393192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097280"/>
            <a:ext cx="3931920" cy="2926080"/>
          </a:xfrm>
          <a:prstGeom prst="roundRect">
            <a:avLst/>
          </a:prstGeom>
          <a:noFill/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197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17043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没人还开着灯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离开就关灯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9216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8236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没人看的电视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9326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不看就关电视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1152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34365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9430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一次性水瓶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505199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用自己的水壶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4074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🔍 家里找浪费 · 浴室  Bathroom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圈出浪费 → 想一想:「我们家可以 ____ 。」 Circle the waste, then say how we fix it.</a:t>
            </a:r>
          </a:p>
        </p:txBody>
      </p:sp>
      <p:pic>
        <p:nvPicPr>
          <p:cNvPr id="6" name="Picture 5" descr="bathroom.png"/>
          <p:cNvPicPr>
            <a:picLocks noChangeAspect="1"/>
          </p:cNvPicPr>
          <p:nvPr/>
        </p:nvPicPr>
        <p:blipFill>
          <a:blip r:embed="rId3"/>
          <a:srcRect t="388" b="388"/>
          <a:stretch>
            <a:fillRect/>
          </a:stretch>
        </p:blipFill>
        <p:spPr>
          <a:xfrm>
            <a:off x="365760" y="1097280"/>
            <a:ext cx="393192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1097280"/>
            <a:ext cx="3931920" cy="2926080"/>
          </a:xfrm>
          <a:prstGeom prst="roundRect">
            <a:avLst/>
          </a:prstGeom>
          <a:noFill/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3197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17043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刷牙时水一直流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刷牙时关水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09216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18236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用太多纸巾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9326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用手帕 / 少抽几张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1152"/>
            <a:ext cx="4434840" cy="902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34365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19430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8253E"/>
                </a:solidFill>
                <a:latin typeface="KaiTi"/>
              </a:rPr>
              <a:t>❌ 沐浴露挤太多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505199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8E3C"/>
                </a:solidFill>
                <a:latin typeface="KaiTi"/>
              </a:rPr>
              <a:t>✅ 我们可以 用多少挤多少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788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4074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🔍 Session 2  下午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🔍 家庭找浪费 + 词汇 + 书写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我会认 · 拍词卡  Slap the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KaiTi"/>
              </a:rPr>
              <a:t>老师说词, 谁先拍到谁赢! Teacher says it — slap it fast!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627632" cy="201168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1" y="1783080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C5F2D"/>
                </a:solidFill>
                <a:latin typeface="KaiTi"/>
              </a:rPr>
              <a:t>减少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269748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jiǎn shǎo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6252" y="1371600"/>
            <a:ext cx="1627632" cy="201168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43684" y="1783080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KaiTi"/>
              </a:rPr>
              <a:t>重复使用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3684" y="269748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chóng fù shǐ yòng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8184" y="1371600"/>
            <a:ext cx="1627632" cy="201168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85616" y="1783080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C5F2D"/>
                </a:solidFill>
                <a:latin typeface="KaiTi"/>
              </a:rPr>
              <a:t>环保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269748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huán bǎo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0116" y="1371600"/>
            <a:ext cx="1627632" cy="201168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27548" y="1783080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5F2D"/>
                </a:solidFill>
                <a:latin typeface="KaiTi"/>
              </a:rPr>
              <a:t>购物袋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7548" y="269748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gòu wù dài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1371600"/>
            <a:ext cx="1627632" cy="201168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783080"/>
            <a:ext cx="1572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C5F2D"/>
                </a:solidFill>
                <a:latin typeface="KaiTi"/>
              </a:rPr>
              <a:t>浪费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69748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làng fèi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5F2D"/>
                </a:solidFill>
                <a:latin typeface="KaiTi"/>
              </a:rPr>
              <a:t>💡 我会认 5 个词: 减少 · 重复使用 · 环保 · 购物袋 · 浪费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6908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1330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3616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🔗 词汇配对  Match the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把词和图连起来! Match each word to its picture.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243584"/>
            <a:ext cx="41148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4358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61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5F2D"/>
                </a:solidFill>
                <a:latin typeface="KaiTi"/>
              </a:rPr>
              <a:t>减少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37760" y="1243584"/>
            <a:ext cx="41148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124358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⬇️ 用得更少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19656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1920240"/>
            <a:ext cx="41148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9385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5F2D"/>
                </a:solidFill>
                <a:latin typeface="KaiTi"/>
              </a:rPr>
              <a:t>重复使用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819656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60" y="1920240"/>
            <a:ext cx="41148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19202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9568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🛍️ 装东西的袋子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96312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2596896"/>
            <a:ext cx="41148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5968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6151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5F2D"/>
                </a:solidFill>
                <a:latin typeface="KaiTi"/>
              </a:rPr>
              <a:t>环保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496312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937760" y="2596896"/>
            <a:ext cx="41148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25968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633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🍽️ 还能用却扔掉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172968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273551"/>
            <a:ext cx="41148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27355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2918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5F2D"/>
                </a:solidFill>
                <a:latin typeface="KaiTi"/>
              </a:rPr>
              <a:t>购物袋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3172968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937760" y="3273551"/>
            <a:ext cx="41148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327355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31012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🌱 爱护地球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849624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48640" y="3950208"/>
            <a:ext cx="41148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39502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3968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C5F2D"/>
                </a:solidFill>
                <a:latin typeface="KaiTi"/>
              </a:rPr>
              <a:t>浪费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849624"/>
            <a:ext cx="384048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937760" y="3950208"/>
            <a:ext cx="41148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0" y="39502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986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2C2C"/>
                </a:solidFill>
                <a:latin typeface="KaiTi"/>
              </a:rPr>
              <a:t>🔄 再用一次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🗣️ 句型练习  Sentence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960120"/>
            <a:ext cx="7315200" cy="109728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07A2C"/>
                </a:solidFill>
                <a:latin typeface="KaiTi"/>
              </a:rPr>
              <a:t>「我们家可以 ____ 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73152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5F2D"/>
                </a:solidFill>
                <a:latin typeface="KaiTi"/>
              </a:rPr>
              <a:t>🐼 跟同桌一问一答: Pair talk —</a:t>
            </a:r>
          </a:p>
          <a:p>
            <a:r>
              <a:rPr sz="1700" b="1">
                <a:solidFill>
                  <a:srgbClr val="3E6EB6"/>
                </a:solidFill>
                <a:latin typeface="KaiTi"/>
              </a:rPr>
              <a:t>A: 我们家可以做什么环保的事?</a:t>
            </a:r>
          </a:p>
          <a:p>
            <a:r>
              <a:rPr sz="1700" b="1">
                <a:solidFill>
                  <a:srgbClr val="E07A2C"/>
                </a:solidFill>
                <a:latin typeface="KaiTi"/>
              </a:rPr>
              <a:t>B: 我们家可以 自带购物袋 。</a:t>
            </a:r>
          </a:p>
          <a:p>
            <a:r>
              <a:rPr sz="1500" b="0">
                <a:solidFill>
                  <a:srgbClr val="2C2C2C"/>
                </a:solidFill>
                <a:latin typeface="KaiTi"/>
              </a:rPr>
              <a:t>A: 我们家可以 关灯 。我们家可以 纸两面用 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✍️ 我会写 · 减少  I Can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E07A2C"/>
                </a:solidFill>
                <a:latin typeface="KaiTi"/>
              </a:rPr>
              <a:t>减少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C"/>
                </a:solidFill>
                <a:latin typeface="KaiTi"/>
              </a:rPr>
              <a:t>jiǎn shǎo  ·  reduce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KaiTi"/>
              </a:rPr>
              <a:t>「减」: 左边三点水 氵, 右边「咸」。
「少」: 先写「小」, 再加一撇 丿。
两个字都不太难, 慢慢写。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07A2C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在田字格里写 3 次 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07A2C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和我一起写「减少」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07A2C"/>
                </a:solidFill>
                <a:latin typeface="KaiTi"/>
              </a:rPr>
              <a:t>🧒 学生 Student does: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✍️ 我会写 · 环保  I Can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2C5F2D"/>
                </a:solidFill>
                <a:latin typeface="KaiTi"/>
              </a:rPr>
              <a:t>环保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8888C"/>
                </a:solidFill>
                <a:latin typeface="KaiTi"/>
              </a:rPr>
              <a:t>huán bǎo  ·  eco-friendly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C2C2C"/>
                </a:solidFill>
                <a:latin typeface="KaiTi"/>
              </a:rPr>
              <a:t>「环」: 左边「王(玉)」旁, 右边「不」。
「保」: 左边单人旁 亻, 右边「呆」。
环保 = 爱护环境。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2D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在田字格里写 3 次 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C5F2D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和我一起写「环保」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C5F2D"/>
                </a:solidFill>
                <a:latin typeface="KaiTi"/>
              </a:rPr>
              <a:t>🧒 学生 Student does: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KaiTi"/>
              </a:rPr>
              <a:t>🎮 复习游戏  Review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3E0"/>
                </a:solidFill>
                <a:latin typeface="KaiTi"/>
              </a:rPr>
              <a:t>Bamboozle · 零废弃大挑战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920240"/>
            <a:ext cx="6400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5F2D"/>
                </a:solidFill>
                <a:latin typeface="KaiTi"/>
              </a:rPr>
              <a:t>👉 点击打开 / Teacher opens: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www.baamboozle.com  (老师课前 import 题目)</a:t>
            </a:r>
          </a:p>
          <a:p>
            <a:r>
              <a:rPr sz="1300" b="0">
                <a:solidFill>
                  <a:srgbClr val="88888C"/>
                </a:solidFill>
                <a:latin typeface="KaiTi"/>
              </a:rPr>
              <a:t>📄 题库文件: bamboozle_day3_family.csv  (同一文件夹, ~10 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3E0"/>
                </a:solidFill>
                <a:latin typeface="KaiTi"/>
              </a:rPr>
              <a:t>题目涵盖: 5R · 找浪费 · 生词 (减少/重复使用/环保/购物袋/浪费)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复习 · Bamboozle 大复习 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复习游戏 — 分组抢答!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4023360" cy="32918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60320"/>
            <a:ext cx="2834640" cy="54864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▶️ 开始复习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3474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C"/>
                </a:solidFill>
                <a:latin typeface="KaiTi"/>
              </a:rPr>
              <a:t>🔗 链接: ____________ (老师粘贴)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97280"/>
            <a:ext cx="4114800" cy="32918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234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07A2C"/>
                </a:solidFill>
                <a:latin typeface="KaiTi"/>
              </a:rPr>
              <a:t>📋 怎么玩 How to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1. 老师点开上面的链接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331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2. 全班分 2-3 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880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3. 轮流抢答, 答对加分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429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4. 复习今天: 5R + 找浪费 + 生词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💭 今天我学会了  I Learned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7315200" cy="12801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07A2C"/>
                </a:solidFill>
                <a:latin typeface="KaiTi"/>
              </a:rPr>
              <a:t>「今天我学会了 ____ 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C"/>
                </a:solidFill>
                <a:latin typeface="KaiTi"/>
              </a:rPr>
              <a:t>Today I learned ____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F2D"/>
                </a:solidFill>
                <a:latin typeface="KaiTi"/>
              </a:rPr>
              <a:t>🌱 明天: 做我们家的 Zero Waste 计划 + 环保购物袋!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C"/>
                </a:solidFill>
                <a:latin typeface="KaiTi"/>
              </a:rPr>
              <a:t>Next: make our family plan + decorate a reusable bag!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🛠️ Session 3  动手时间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KaiTi"/>
              </a:rPr>
              <a:t>🛠️ 我们家的 Zero Waste 计划 + 环保购物袋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📓 先完成练习册!  Booklet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做手工之前, 先完成练习册!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" y="1188720"/>
            <a:ext cx="196596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9748" y="1417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" y="22860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" y="2697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垃圾分类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246120"/>
            <a:ext cx="1554480" cy="41148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8E3C"/>
                </a:solidFill>
                <a:latin typeface="KaiTi"/>
              </a:rPr>
              <a:t>✅ 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2596" y="1188720"/>
            <a:ext cx="196596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2596" y="1417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2596" y="22860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A2C"/>
                </a:solidFill>
                <a:latin typeface="KaiTi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2596" y="2697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可再生能源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88336" y="3246120"/>
            <a:ext cx="1554480" cy="41148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33101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8E3C"/>
                </a:solidFill>
                <a:latin typeface="KaiTi"/>
              </a:rPr>
              <a:t>✅ 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5444" y="1188720"/>
            <a:ext cx="196596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5444" y="1417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5444" y="22860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6EB6"/>
                </a:solidFill>
                <a:latin typeface="KaiTi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5444" y="2697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水与塑料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3246120"/>
            <a:ext cx="1554480" cy="41148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33101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8E3C"/>
                </a:solidFill>
                <a:latin typeface="KaiTi"/>
              </a:rPr>
              <a:t>✅ 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8292" y="1188720"/>
            <a:ext cx="1965960" cy="2834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8292" y="141732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8292" y="228600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Day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8292" y="2697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家庭计划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1" y="3246120"/>
            <a:ext cx="1554480" cy="41148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4031" y="331012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88E3C"/>
                </a:solidFill>
                <a:latin typeface="KaiTi"/>
              </a:rPr>
              <a:t>✅ 完成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297680"/>
            <a:ext cx="841248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👩‍🏫 先看 → 一起读 → 自己写 → 同桌检查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🛠️ 两个动手活动  Two Hands-On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4023360" cy="3794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C"/>
                </a:solidFill>
                <a:latin typeface="KaiTi"/>
              </a:rPr>
              <a:t>活动 1 · 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BA03D"/>
                </a:solidFill>
                <a:latin typeface="KaiTi"/>
              </a:rPr>
              <a:t>🏠 家庭 Zero Waste 计划海报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Family Plan Poster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从 5R 里选 3 件事, 全家一起做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868680"/>
            <a:ext cx="4023360" cy="3794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C"/>
                </a:solidFill>
                <a:latin typeface="KaiTi"/>
              </a:rPr>
              <a:t>活动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E6EB6"/>
                </a:solidFill>
                <a:latin typeface="KaiTi"/>
              </a:rPr>
              <a:t>🛍️ 装饰环保购物袋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105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C"/>
                </a:solidFill>
                <a:latin typeface="KaiTi"/>
              </a:rPr>
              <a:t>Decorate a Reusable Bag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画上图案, 带去超市重复使用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🏠 活动1: 家庭计划海报 · 材料 + 做法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931920" cy="36576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🧺 材料 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📄 海报纸 / 卡纸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🖍️ 彩笔 / 蜡笔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🏷️ 5R 小图标贴纸 (可选)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✏️「我们家可以 ___」模板纸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868680"/>
            <a:ext cx="4389120" cy="365760"/>
          </a:xfrm>
          <a:prstGeom prst="roundRect">
            <a:avLst/>
          </a:prstGeom>
          <a:solidFill>
            <a:srgbClr val="E0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👉 做法 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4297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写上标题: 我们家的 Zero Waste 计划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2️⃣ 从 5R 里选 3 件能做的事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3️⃣ 每件写一句「我们家可以 ___」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4️⃣ 画图 / 贴图标, 装饰漂亮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11880"/>
            <a:ext cx="8595360" cy="1051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A03D"/>
                </a:solidFill>
                <a:latin typeface="KaiTi"/>
              </a:rPr>
              <a:t>🗣️ 海报上写这样的句子: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我们家可以 自带购物袋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我们家可以 关灯关水 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69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我们家可以 纸两面用 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我们家可以 剩饭少一点 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🤔 想一想: 从 5R 选 3 件事  Choose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哪 3 件事我们家最容易做到? Which 3 can our family really 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16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07A2C"/>
                </a:solidFill>
                <a:latin typeface="KaiTi"/>
              </a:rPr>
              <a:t>减少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2435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自带水壶 · 纸两面用 · 少买一次性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822960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8470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E6EB6"/>
                </a:solidFill>
                <a:latin typeface="KaiTi"/>
              </a:rPr>
              <a:t>重复使用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01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购物袋再用 · 旧瓶装东西 · 旧衣传给弟妹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14015"/>
            <a:ext cx="822960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054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328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8253E"/>
                </a:solidFill>
                <a:latin typeface="KaiTi"/>
              </a:rPr>
              <a:t>拒绝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60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不要塑料吸管 · 不要多余的袋子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72383"/>
            <a:ext cx="822960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163823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1912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6BA03D"/>
                </a:solidFill>
                <a:latin typeface="KaiTi"/>
              </a:rPr>
              <a:t>回收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2186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瓶子/纸/玻璃放蓝桶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30751"/>
            <a:ext cx="822960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822191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4962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6B4423"/>
                </a:solidFill>
                <a:latin typeface="KaiTi"/>
              </a:rPr>
              <a:t>堆肥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7705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果皮菜叶变肥料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06908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🏠 家庭计划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1330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我们家可以 ____ 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3616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Our family can ____ 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👩‍🏫 老师示范  Teacher Demo</a:t>
            </a:r>
          </a:p>
        </p:txBody>
      </p:sp>
      <p:pic>
        <p:nvPicPr>
          <p:cNvPr id="5" name="Picture 4" descr="teacher_poster_sample_real.png"/>
          <p:cNvPicPr>
            <a:picLocks noChangeAspect="1"/>
          </p:cNvPicPr>
          <p:nvPr/>
        </p:nvPicPr>
        <p:blipFill>
          <a:blip r:embed="rId3"/>
          <a:srcRect l="714" r="714"/>
          <a:stretch>
            <a:fillRect/>
          </a:stretch>
        </p:blipFill>
        <p:spPr>
          <a:xfrm>
            <a:off x="365760" y="914400"/>
            <a:ext cx="420624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4206240" cy="3200400"/>
          </a:xfrm>
          <a:prstGeom prst="roundRect">
            <a:avLst/>
          </a:prstGeom>
          <a:noFill/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914400"/>
            <a:ext cx="4114800" cy="32004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A03D"/>
                </a:solidFill>
                <a:latin typeface="KaiTi"/>
              </a:rPr>
              <a:t>📋 一张好海报有: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✅ 大标题: 我们家的 Zero Waste 计划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✅ 3 句「我们家可以 ___」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✅ 每句配一个小图 / 图标</a:t>
            </a:r>
          </a:p>
          <a:p>
            <a:r>
              <a:rPr sz="1400" b="0">
                <a:solidFill>
                  <a:srgbClr val="2C2C2C"/>
                </a:solidFill>
                <a:latin typeface="KaiTi"/>
              </a:rPr>
              <a:t>✅ 涂上颜色, 漂漂亮亮</a:t>
            </a:r>
          </a:p>
          <a:p>
            <a:endParaRPr sz="1400" b="0">
              <a:solidFill>
                <a:srgbClr val="2C2C2C"/>
              </a:solidFill>
              <a:latin typeface="KaiTi"/>
            </a:endParaRPr>
          </a:p>
          <a:p>
            <a:r>
              <a:rPr sz="1400" b="1">
                <a:solidFill>
                  <a:srgbClr val="E07A2C"/>
                </a:solidFill>
                <a:latin typeface="KaiTi"/>
              </a:rPr>
              <a:t>⏱️ 等下有 30 分钟做!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KaiTi"/>
              </a:rPr>
              <a:t>✏️ 动手做海报!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3E0"/>
                </a:solidFill>
                <a:latin typeface="KaiTi"/>
              </a:rPr>
              <a:t>Make Your Family Plan Poster</a:t>
            </a:r>
          </a:p>
        </p:txBody>
      </p:sp>
      <p:sp>
        <p:nvSpPr>
          <p:cNvPr id="5" name="Oval 4"/>
          <p:cNvSpPr/>
          <p:nvPr/>
        </p:nvSpPr>
        <p:spPr>
          <a:xfrm>
            <a:off x="3474720" y="2103120"/>
            <a:ext cx="2194560" cy="21945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2514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337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5F2D"/>
                </a:solidFill>
                <a:latin typeface="KaiTi"/>
              </a:rPr>
              <a:t>30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3E0"/>
                </a:solidFill>
                <a:latin typeface="KaiTi"/>
              </a:rPr>
              <a:t>画完记得想一想: 怎么和同学讲我的计划?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🛍️ 活动2: 环保购物袋 · 材料 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为什么做? 自己的袋子重复使用 = 减少塑料袋!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20116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布袋 / 纸袋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Cloth or paper bag (1/人)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325880"/>
            <a:ext cx="20116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布用彩笔 / 蜡笔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Fabric markers / crayons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325880"/>
            <a:ext cx="20116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图案模板 (可选)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Stencils (optional)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325880"/>
            <a:ext cx="20116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14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E6EB6"/>
                </a:solidFill>
                <a:latin typeface="KaiTi"/>
              </a:rPr>
              <a:t>垫在袋子里的纸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63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Paper to slip inside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这是我的购物袋, 我可以重复使用。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This is my bag — I can reuse it!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🛍️ 环保购物袋 · 做法 4 步 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E6EB6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袋里垫纸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Slip paper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E6EB6"/>
                </a:solidFill>
                <a:latin typeface="KaiTi"/>
              </a:rPr>
              <a:t>防止透色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05156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E6EB6"/>
                </a:solidFill>
                <a:latin typeface="KaiTi"/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先用铅笔画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Sketch with pencil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E6EB6"/>
                </a:solidFill>
                <a:latin typeface="KaiTi"/>
              </a:rPr>
              <a:t>轻轻画草图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05156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E6EB6"/>
                </a:solidFill>
                <a:latin typeface="KaiTi"/>
              </a:rP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彩笔涂颜色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Color it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E6EB6"/>
                </a:solidFill>
                <a:latin typeface="KaiTi"/>
              </a:rPr>
              <a:t>画环保图案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051560"/>
            <a:ext cx="20116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1188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E6EB6"/>
                </a:solidFill>
                <a:latin typeface="KaiTi"/>
              </a:rP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晾干 + 写名字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C"/>
                </a:solidFill>
                <a:latin typeface="KaiTi"/>
              </a:rPr>
              <a:t>Dry + name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34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E6EB6"/>
                </a:solidFill>
                <a:latin typeface="KaiTi"/>
              </a:rPr>
              <a:t>写上自己名字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931920"/>
            <a:ext cx="8595360" cy="5943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233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7A2C"/>
                </a:solidFill>
                <a:latin typeface="KaiTi"/>
              </a:rPr>
              <a:t>💬 我来说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9959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我在袋子上画了 ___ 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224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C"/>
                </a:solidFill>
                <a:latin typeface="KaiTi"/>
              </a:rPr>
              <a:t>I drew ___ on my bag.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🎨 画什么? 图案点子  Design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画上和环保有关的图案吧! Draw something green!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大树 / 森林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756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地球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3258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7568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回收标志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花和叶子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65176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743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493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奇奇妙妙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51760"/>
            <a:ext cx="26060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743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9300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5F2D"/>
                </a:solidFill>
                <a:latin typeface="KaiTi"/>
              </a:rPr>
              <a:t>太阳 / 蓝天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KaiTi"/>
              </a:rPr>
              <a:t>🎨 动手装饰购物袋!</a:t>
            </a:r>
          </a:p>
        </p:txBody>
      </p:sp>
      <p:sp>
        <p:nvSpPr>
          <p:cNvPr id="4" name="Oval 3"/>
          <p:cNvSpPr/>
          <p:nvPr/>
        </p:nvSpPr>
        <p:spPr>
          <a:xfrm>
            <a:off x="3474720" y="1600200"/>
            <a:ext cx="1828800" cy="18288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C2C2C"/>
                </a:solidFill>
                <a:latin typeface="KaiTi"/>
              </a:rP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6EB6"/>
                </a:solidFill>
                <a:latin typeface="KaiTi"/>
              </a:rPr>
              <a:t>25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03320"/>
            <a:ext cx="6949440" cy="10058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379476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8253E"/>
                </a:solidFill>
                <a:latin typeface="KaiTi"/>
              </a:rPr>
              <a:t>🛡️ 安全 Safety:</a:t>
            </a:r>
          </a:p>
          <a:p>
            <a:r>
              <a:rPr sz="1300" b="1">
                <a:solidFill>
                  <a:srgbClr val="2C2C2C"/>
                </a:solidFill>
                <a:latin typeface="KaiTi"/>
              </a:rPr>
              <a:t>彩笔只画在袋子上 · 不放进嘴里 · 画完洗手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🖼️ 作品展览  Gallery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5F2D"/>
                </a:solidFill>
                <a:latin typeface="KaiTi"/>
              </a:rPr>
              <a:t>摆出作品, 安静走一圈, 看看别人的!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KaiTi"/>
              </a:rPr>
              <a:t>摆桌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把海报和袋子摆好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28600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KaiTi"/>
              </a:rPr>
              <a:t>静走 Walk quietly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安静走一圈看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828800"/>
            <a:ext cx="228600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80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KaiTi"/>
              </a:rPr>
              <a:t>拍桌 Tap &amp; cheer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喜欢就轻拍桌子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🗣️ 分享 (1): 我的家庭计划  Share Poster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8046720" cy="274320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A03D"/>
                </a:solidFill>
                <a:latin typeface="KaiTi"/>
              </a:rPr>
              <a:t>举起海报, 这样说:</a:t>
            </a:r>
          </a:p>
          <a:p>
            <a:r>
              <a:rPr sz="2000" b="1">
                <a:solidFill>
                  <a:srgbClr val="2C2C2C"/>
                </a:solidFill>
                <a:latin typeface="KaiTi"/>
              </a:rPr>
              <a:t>· 这是我们家的 Zero Waste 计划。</a:t>
            </a:r>
          </a:p>
          <a:p>
            <a:r>
              <a:rPr sz="2000" b="1">
                <a:solidFill>
                  <a:srgbClr val="E07A2C"/>
                </a:solidFill>
                <a:latin typeface="KaiTi"/>
              </a:rPr>
              <a:t>· 我们家可以 ___ 。</a:t>
            </a:r>
          </a:p>
          <a:p>
            <a:r>
              <a:rPr sz="2000" b="1">
                <a:solidFill>
                  <a:srgbClr val="E07A2C"/>
                </a:solidFill>
                <a:latin typeface="KaiTi"/>
              </a:rPr>
              <a:t>· 我们家可以 ___ 。</a:t>
            </a:r>
          </a:p>
          <a:p>
            <a:r>
              <a:rPr sz="2000" b="1">
                <a:solidFill>
                  <a:srgbClr val="E07A2C"/>
                </a:solidFill>
                <a:latin typeface="KaiTi"/>
              </a:rPr>
              <a:t>· 我们家可以 ___ 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3E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🗣️ 分享 (2): 我的环保购物袋  Share Bag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8046720" cy="274320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E6EB6"/>
                </a:solidFill>
                <a:latin typeface="KaiTi"/>
              </a:rPr>
              <a:t>举起购物袋, 这样说:</a:t>
            </a:r>
          </a:p>
          <a:p>
            <a:r>
              <a:rPr sz="2000" b="1">
                <a:solidFill>
                  <a:srgbClr val="2C2C2C"/>
                </a:solidFill>
                <a:latin typeface="KaiTi"/>
              </a:rPr>
              <a:t>· 这是我的环保购物袋。</a:t>
            </a:r>
          </a:p>
          <a:p>
            <a:r>
              <a:rPr sz="2000" b="1">
                <a:solidFill>
                  <a:srgbClr val="E07A2C"/>
                </a:solidFill>
                <a:latin typeface="KaiTi"/>
              </a:rPr>
              <a:t>· 我在上面画了 ___ 。</a:t>
            </a:r>
          </a:p>
          <a:p>
            <a:r>
              <a:rPr sz="2000" b="1">
                <a:solidFill>
                  <a:srgbClr val="2C5F2D"/>
                </a:solidFill>
                <a:latin typeface="KaiTi"/>
              </a:rPr>
              <a:t>· 我可以重复使用它去买东西。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📸 全班合影!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3E0"/>
                </a:solidFill>
                <a:latin typeface="KaiTi"/>
              </a:rPr>
              <a:t>Class Photo — hold up your work!</a:t>
            </a:r>
          </a:p>
        </p:txBody>
      </p:sp>
      <p:pic>
        <p:nvPicPr>
          <p:cNvPr id="5" name="Picture 4" descr="class_photo.png"/>
          <p:cNvPicPr>
            <a:picLocks noChangeAspect="1"/>
          </p:cNvPicPr>
          <p:nvPr/>
        </p:nvPicPr>
        <p:blipFill>
          <a:blip r:embed="rId3"/>
          <a:srcRect t="18271" b="18271"/>
          <a:stretch>
            <a:fillRect/>
          </a:stretch>
        </p:blipFill>
        <p:spPr>
          <a:xfrm>
            <a:off x="1371600" y="2011680"/>
            <a:ext cx="640080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71600" y="2011680"/>
            <a:ext cx="6400800" cy="228600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🐼 我们都是 Zero Waste 小卫士!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🏡 在家练习 · 家园共育  At-Home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KaiTi"/>
              </a:rPr>
              <a:t>把今天的计划带回家, 全家一起做!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80467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2C2C"/>
                </a:solidFill>
                <a:latin typeface="KaiTi"/>
              </a:rPr>
              <a:t>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6BA03D"/>
                </a:solidFill>
                <a:latin typeface="KaiTi"/>
              </a:rPr>
              <a:t>把海报贴在家里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270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贴在冰箱 / 门口, 天天看得见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80467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2C2C"/>
                </a:solidFill>
                <a:latin typeface="KaiTi"/>
              </a:rPr>
              <a:t>👨‍👩‍👧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07A2C"/>
                </a:solidFill>
                <a:latin typeface="KaiTi"/>
              </a:rPr>
              <a:t>全家一起做一件事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0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这周先做到 1 件「我们家可以 ___」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80467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2C2C"/>
                </a:solidFill>
                <a:latin typeface="KaiTi"/>
              </a:rPr>
              <a:t>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63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E6EB6"/>
                </a:solidFill>
                <a:latin typeface="KaiTi"/>
              </a:rPr>
              <a:t>带上环保购物袋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729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下次买东西重复使用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804672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593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07A2C"/>
                </a:solidFill>
                <a:latin typeface="KaiTi"/>
              </a:rPr>
              <a:t>继续找浪费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959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谁发现浪费, 谁来提醒大家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🌱 我们家可以…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1737360"/>
            <a:ext cx="2560320" cy="2560320"/>
          </a:xfrm>
          <a:prstGeom prst="ellipse">
            <a:avLst/>
          </a:prstGeom>
          <a:solidFill>
            <a:srgbClr val="F5C242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0" y="2148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KaiTi"/>
              </a:rPr>
              <a:t>零废弃小卫士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4423"/>
                </a:solidFill>
                <a:latin typeface="KaiTi"/>
              </a:rPr>
              <a:t>Zero-Waste 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3E0"/>
                </a:solidFill>
                <a:latin typeface="KaiTi"/>
              </a:rPr>
              <a:t>谢谢奇奇妙妙! 我们家可以一起保护地球 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C"/>
                </a:solidFill>
                <a:latin typeface="KaiTi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3410</Words>
  <Application>Microsoft Macintosh PowerPoint</Application>
  <PresentationFormat>On-screen Show (16:9)</PresentationFormat>
  <Paragraphs>743</Paragraphs>
  <Slides>46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KaiTi</vt:lpstr>
      <vt:lpstr>Kaiti TC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Huan Li</cp:lastModifiedBy>
  <cp:revision>2</cp:revision>
  <dcterms:created xsi:type="dcterms:W3CDTF">2013-01-27T09:14:16Z</dcterms:created>
  <dcterms:modified xsi:type="dcterms:W3CDTF">2026-07-03T06:42:09Z</dcterms:modified>
  <cp:category/>
</cp:coreProperties>
</file>