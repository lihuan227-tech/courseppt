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9.xml" ContentType="application/vnd.openxmlformats-officedocument.presentationml.tags+xml"/>
  <Override PartName="/ppt/notesSlides/notesSlide18.xml" ContentType="application/vnd.openxmlformats-officedocument.presentationml.notesSlide+xml"/>
  <Override PartName="/ppt/tags/tag3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8"/>
  </p:notesMasterIdLst>
  <p:sldIdLst>
    <p:sldId id="256" r:id="rId3"/>
    <p:sldId id="257" r:id="rId4"/>
    <p:sldId id="258" r:id="rId5"/>
    <p:sldId id="259" r:id="rId6"/>
    <p:sldId id="260" r:id="rId7"/>
    <p:sldId id="261" r:id="rId8"/>
    <p:sldId id="305" r:id="rId9"/>
    <p:sldId id="729" r:id="rId10"/>
    <p:sldId id="750" r:id="rId11"/>
    <p:sldId id="772" r:id="rId12"/>
    <p:sldId id="773" r:id="rId13"/>
    <p:sldId id="777" r:id="rId14"/>
    <p:sldId id="265" r:id="rId15"/>
    <p:sldId id="787" r:id="rId16"/>
    <p:sldId id="788" r:id="rId17"/>
    <p:sldId id="789" r:id="rId18"/>
    <p:sldId id="790" r:id="rId19"/>
    <p:sldId id="776" r:id="rId20"/>
    <p:sldId id="737" r:id="rId21"/>
    <p:sldId id="781" r:id="rId22"/>
    <p:sldId id="782" r:id="rId23"/>
    <p:sldId id="783" r:id="rId24"/>
    <p:sldId id="784" r:id="rId25"/>
    <p:sldId id="785" r:id="rId26"/>
    <p:sldId id="786" r:id="rId27"/>
    <p:sldId id="273" r:id="rId28"/>
    <p:sldId id="274" r:id="rId29"/>
    <p:sldId id="275" r:id="rId30"/>
    <p:sldId id="278" r:id="rId31"/>
    <p:sldId id="291" r:id="rId32"/>
    <p:sldId id="279" r:id="rId33"/>
    <p:sldId id="280" r:id="rId34"/>
    <p:sldId id="281" r:id="rId35"/>
    <p:sldId id="282" r:id="rId36"/>
    <p:sldId id="283" r:id="rId37"/>
    <p:sldId id="284" r:id="rId38"/>
    <p:sldId id="287" r:id="rId39"/>
    <p:sldId id="288" r:id="rId40"/>
    <p:sldId id="292" r:id="rId41"/>
    <p:sldId id="293" r:id="rId42"/>
    <p:sldId id="294" r:id="rId43"/>
    <p:sldId id="295" r:id="rId44"/>
    <p:sldId id="791" r:id="rId45"/>
    <p:sldId id="792" r:id="rId46"/>
    <p:sldId id="304" r:id="rId4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6027"/>
  </p:normalViewPr>
  <p:slideViewPr>
    <p:cSldViewPr snapToGrid="0" snapToObjects="1">
      <p:cViewPr varScale="1">
        <p:scale>
          <a:sx n="136" d="100"/>
          <a:sy n="136" d="100"/>
        </p:scale>
        <p:origin x="20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75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📍 Day 2 · 能 量 从 哪 里 来? (可 再 生 能 源)</a:t>
            </a:r>
          </a:p>
          <a:p>
            <a:r>
              <a:t>👩‍🏫 老 师 说: 「今 天 我 们 是 小 小 能 源 工 程 师 — 帮 地 球 找 用 不 完 的 能 源!」</a:t>
            </a:r>
          </a:p>
          <a:p>
            <a:r>
              <a:t>⏱️ 1 分 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热 身 3-4 分 钟</a:t>
            </a:r>
          </a:p>
          <a:p>
            <a:r>
              <a:t>👩‍🏫 问: 「这 些 东 西 不 动 了 — 少 了 什 么?」</a:t>
            </a:r>
          </a:p>
          <a:p>
            <a:r>
              <a:t>💡 引 出 「能 量 / 能 源」, 先 不 讲 来 源 — 留 给 下 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概 念 2-3 分 钟</a:t>
            </a:r>
          </a:p>
          <a:p>
            <a:r>
              <a:t>💡 用 身 边 例 子: 教 室 的 灯, 校 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Think-Pair-Share 3-4 分 钟</a:t>
            </a:r>
          </a:p>
          <a:p>
            <a:r>
              <a:t>💡 老 师 把 答 案 记 在 黑 板: 太 阳? 风? 电? 油? — 不 评 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122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dirty="0">
                <a:solidFill>
                  <a:srgbClr val="4BAFB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这是什么？它有什么用？（石油经过加工，可以变成飞机、汽车、轮船等各种交通工具开动的燃料）</a:t>
            </a:r>
            <a:endParaRPr lang="en-US" altLang="zh-CN" sz="1200" dirty="0">
              <a:solidFill>
                <a:srgbClr val="4BAFB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9008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241D2-4101-FF2E-3060-C52122C2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B8925-B9E2-045B-05C8-2FD5CCA1A8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3445C-7A25-D292-AA21-D341247B3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 持 续 2-3 分 钟</a:t>
            </a:r>
          </a:p>
          <a:p>
            <a:r>
              <a:t>💡 目 标 2: 不 用 把 「可 持 续 发 展」 讲 太 深 — 「用 不 完 = 地 球 一 直 够 用」 即 可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5AA54-C32C-970C-5ADB-8FC22EA6A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27411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太 阳 能 2-3 分 钟</a:t>
            </a:r>
          </a:p>
          <a:p>
            <a:r>
              <a:t>💡 用 句 型 「太 阳 能 来 自 ___」 跟 读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☀️ 太 阳 能 板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💨 风 力 发 电 机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l"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这是什么？（太阳能热水器）哪些小朋友的家里有用到它？</a:t>
            </a:r>
          </a:p>
          <a:p>
            <a:pPr algn="l"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有了它可以洗一个暖呼呼的热水澡。</a:t>
            </a:r>
          </a:p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这是什么？（太阳能灯）哪些小朋友的有用到</a:t>
            </a:r>
            <a:r>
              <a:rPr lang="en-US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</a:t>
            </a:r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见过</a:t>
            </a: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它？</a:t>
            </a:r>
          </a:p>
          <a:p>
            <a:pPr algn="l"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太阳能灯在白天吸收太阳的能量，到了晚上用这些能量为我们照明。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174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这是什么？（空气能空调）哪些小朋友的家里有用到它？</a:t>
            </a:r>
          </a:p>
          <a:p>
            <a:pPr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空气能空调能从空气中吸收能量，然后将这些能量转换成冷气或热气，为我们解暑、供暖。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2613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defTabSz="685800" fontAlgn="base">
              <a:lnSpc>
                <a:spcPct val="130000"/>
              </a:lnSpc>
            </a:pPr>
            <a:r>
              <a:rPr lang="zh-CN" altLang="zh-CN" sz="1200" dirty="0">
                <a:solidFill>
                  <a:srgbClr val="58B7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看看这是什么？</a:t>
            </a:r>
            <a:r>
              <a:rPr lang="en-US" altLang="zh-CN" sz="1200" dirty="0">
                <a:solidFill>
                  <a:srgbClr val="58B7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</a:t>
            </a:r>
            <a:r>
              <a:rPr lang="zh-CN" altLang="en-US" sz="1200" dirty="0">
                <a:solidFill>
                  <a:srgbClr val="58B7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新能源汽车）</a:t>
            </a:r>
            <a:r>
              <a:rPr lang="zh-CN" altLang="zh-CN" sz="1200" dirty="0">
                <a:solidFill>
                  <a:srgbClr val="58B7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你有在哪里见到过它吗？</a:t>
            </a:r>
          </a:p>
          <a:p>
            <a:pPr algn="l" defTabSz="685800" fontAlgn="base">
              <a:lnSpc>
                <a:spcPct val="130000"/>
              </a:lnSpc>
            </a:pPr>
            <a:r>
              <a:rPr lang="zh-CN" altLang="zh-CN" sz="1200" dirty="0">
                <a:solidFill>
                  <a:srgbClr val="4BAFB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在街上除了普通汽车，还出现了新能源电车。它不像普通汽车一样使用汽油或柴油，运用了多种新能源技术，只需要为它充电就可以跑起来。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246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看看这是什么？你有在哪里见到过它吗？</a:t>
            </a:r>
          </a:p>
          <a:p>
            <a:pPr algn="l"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智能电动车充电桩能取代传统电力，给爸爸妈妈的新能源车充电。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074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🛢️ 煤 / 石 油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🚗 太 阳 能 小 车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 类 游 戏 5-6 分 钟</a:t>
            </a:r>
          </a:p>
          <a:p>
            <a:r>
              <a:t>💡 答 案: 用 不 完 = 太 阳/风/流 水/瀑 布/太 阳 能 板; 用 得 完 = 煤/石 油/天 然 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BE870-89C6-8944-E36D-F28C7E8C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D54D3-978E-9769-17E7-1BE5DD9CF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2227A-2918-F152-B58F-25720491F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复 习 游 戏 — 链 接 留 空, 老 师 课 前 粘 贴 Bamboozle 链 接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C1C93-D48B-87EE-6F30-E871F7A8F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4059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 会 认 · 地 球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 会 认 · 资 源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 会 认 · 能 源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 会 认 · 太 阳 能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 会 认 · 节 约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配 对 3-4 分 钟</a:t>
            </a:r>
          </a:p>
          <a:p>
            <a:r>
              <a:t>💡 1地球-E🌍 · 2资源-D⛏️ · 3能源-A⚡ · 4太阳能-B☀️ · 5节约-C💡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 会 写 · 地 球 3-4 分 钟</a:t>
            </a:r>
          </a:p>
          <a:p>
            <a:r>
              <a:t>💡 看 老 师 写 → 空 中 写 → 田 字 格 写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 会 写 · 节 约 3-4 分 钟</a:t>
            </a:r>
          </a:p>
          <a:p>
            <a:r>
              <a:t>💡 看 老 师 写 → 空 中 写 → 田 字 格 写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反 思 3-4 分 钟</a:t>
            </a:r>
          </a:p>
          <a:p>
            <a:r>
              <a:t>💡 每 个 学 生 说 一 句, 老 师 不 评 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做 手 工 之 前 先 完 成 练 习 册 (Day 1 + Day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E733-AF3A-2163-962C-56AAF0E5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FC07F-ABAB-5789-54F1-F408FF8D2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BDC55-9ABA-0F37-1DE8-063E96D3F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513DE-8D69-9680-1DE2-487A4FEF3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408988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6DD69-1764-8222-F6A3-00D30C9C3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930CB-0E13-F36B-10B3-4575DEE1F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E7C1F-F3F1-DF5E-FB79-7C3AD25C0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5FAC5-60BC-C553-ED52-6F16C1801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454847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 尾 2 分 钟</a:t>
            </a:r>
          </a:p>
          <a:p>
            <a:r>
              <a:t>💡 给 每 人 一 张 「小 小 能 源 工 程 师」 贴 纸 / 印 章</a:t>
            </a:r>
          </a:p>
          <a:p>
            <a:r>
              <a:t>预 告 下 一 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16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218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04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课件空白页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1"/>
            <a:ext cx="9144476" cy="514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3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marL="0" lvl="0" indent="0" algn="ctr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lvl="0" indent="-257175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213" lvl="1" indent="-214313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lvl="5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8850" lvl="6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1750" lvl="7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lvl="8" indent="-171450" algn="l" defTabSz="6858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057400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2400300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2743200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8.png"/><Relationship Id="rId3" Type="http://schemas.openxmlformats.org/officeDocument/2006/relationships/tags" Target="../tags/tag5.xml"/><Relationship Id="rId21" Type="http://schemas.openxmlformats.org/officeDocument/2006/relationships/image" Target="../media/image11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image" Target="../media/image5.png"/><Relationship Id="rId2" Type="http://schemas.openxmlformats.org/officeDocument/2006/relationships/tags" Target="../tags/tag4.xml"/><Relationship Id="rId16" Type="http://schemas.openxmlformats.org/officeDocument/2006/relationships/audio" Target="../media/audio1.wav"/><Relationship Id="rId20" Type="http://schemas.openxmlformats.org/officeDocument/2006/relationships/image" Target="../media/image10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notesSlide" Target="../notesSlides/notesSlide8.xml"/><Relationship Id="rId23" Type="http://schemas.openxmlformats.org/officeDocument/2006/relationships/image" Target="../media/image6.png"/><Relationship Id="rId10" Type="http://schemas.openxmlformats.org/officeDocument/2006/relationships/tags" Target="../tags/tag12.xml"/><Relationship Id="rId19" Type="http://schemas.openxmlformats.org/officeDocument/2006/relationships/image" Target="../media/image9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13.xml"/><Relationship Id="rId2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media" Target="../media/media3.wav"/><Relationship Id="rId13" Type="http://schemas.openxmlformats.org/officeDocument/2006/relationships/audio" Target="../media/audio2.wav"/><Relationship Id="rId18" Type="http://schemas.openxmlformats.org/officeDocument/2006/relationships/image" Target="../media/image15.png"/><Relationship Id="rId3" Type="http://schemas.microsoft.com/office/2007/relationships/media" Target="../media/media2.wav"/><Relationship Id="rId7" Type="http://schemas.openxmlformats.org/officeDocument/2006/relationships/tags" Target="../tags/tag18.xml"/><Relationship Id="rId12" Type="http://schemas.openxmlformats.org/officeDocument/2006/relationships/slideLayout" Target="../slideLayouts/slideLayout13.xml"/><Relationship Id="rId17" Type="http://schemas.openxmlformats.org/officeDocument/2006/relationships/image" Target="../media/image14.png"/><Relationship Id="rId2" Type="http://schemas.openxmlformats.org/officeDocument/2006/relationships/audio" Target="../media/media1.wav"/><Relationship Id="rId16" Type="http://schemas.openxmlformats.org/officeDocument/2006/relationships/image" Target="../media/image13.png"/><Relationship Id="rId1" Type="http://schemas.microsoft.com/office/2007/relationships/media" Target="../media/media1.wav"/><Relationship Id="rId6" Type="http://schemas.openxmlformats.org/officeDocument/2006/relationships/tags" Target="../tags/tag17.xml"/><Relationship Id="rId11" Type="http://schemas.openxmlformats.org/officeDocument/2006/relationships/tags" Target="../tags/tag20.xml"/><Relationship Id="rId5" Type="http://schemas.openxmlformats.org/officeDocument/2006/relationships/tags" Target="../tags/tag16.xml"/><Relationship Id="rId15" Type="http://schemas.openxmlformats.org/officeDocument/2006/relationships/image" Target="../media/image8.png"/><Relationship Id="rId10" Type="http://schemas.openxmlformats.org/officeDocument/2006/relationships/tags" Target="../tags/tag19.xml"/><Relationship Id="rId19" Type="http://schemas.openxmlformats.org/officeDocument/2006/relationships/image" Target="../media/image16.png"/><Relationship Id="rId4" Type="http://schemas.openxmlformats.org/officeDocument/2006/relationships/audio" Target="../media/media2.wav"/><Relationship Id="rId9" Type="http://schemas.openxmlformats.org/officeDocument/2006/relationships/audio" Target="../media/media3.wav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2.png"/><Relationship Id="rId3" Type="http://schemas.openxmlformats.org/officeDocument/2006/relationships/tags" Target="../tags/tag23.xml"/><Relationship Id="rId7" Type="http://schemas.openxmlformats.org/officeDocument/2006/relationships/audio" Target="../media/audio1.wav"/><Relationship Id="rId12" Type="http://schemas.openxmlformats.org/officeDocument/2006/relationships/image" Target="../media/image21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20.png"/><Relationship Id="rId5" Type="http://schemas.openxmlformats.org/officeDocument/2006/relationships/tags" Target="../tags/tag25.xml"/><Relationship Id="rId15" Type="http://schemas.openxmlformats.org/officeDocument/2006/relationships/audio" Target="../media/audio1.wav"/><Relationship Id="rId10" Type="http://schemas.openxmlformats.org/officeDocument/2006/relationships/image" Target="../media/image16.png"/><Relationship Id="rId4" Type="http://schemas.openxmlformats.org/officeDocument/2006/relationships/tags" Target="../tags/tag24.xml"/><Relationship Id="rId9" Type="http://schemas.openxmlformats.org/officeDocument/2006/relationships/image" Target="../media/image13.png"/><Relationship Id="rId1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6" Type="http://schemas.openxmlformats.org/officeDocument/2006/relationships/image" Target="../media/image27.png"/><Relationship Id="rId11" Type="http://schemas.openxmlformats.org/officeDocument/2006/relationships/image" Target="../media/image24.png"/><Relationship Id="rId5" Type="http://schemas.openxmlformats.org/officeDocument/2006/relationships/image" Target="../media/image28.png"/><Relationship Id="rId10" Type="http://schemas.openxmlformats.org/officeDocument/2006/relationships/image" Target="../media/image18.png"/><Relationship Id="rId4" Type="http://schemas.openxmlformats.org/officeDocument/2006/relationships/image" Target="../media/image29.png"/><Relationship Id="rId9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♻️  零 废 弃 与 可 持 续 发 展  Zero Waste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KaiTi"/>
              </a:rPr>
              <a:t>Day 2 · </a:t>
            </a:r>
            <a:r>
              <a:rPr lang="en-US" sz="3000" b="1" dirty="0" err="1">
                <a:solidFill>
                  <a:srgbClr val="FFFFFF"/>
                </a:solidFill>
                <a:latin typeface="KaiTi"/>
              </a:rPr>
              <a:t>可持续发展.可再生能源</a:t>
            </a:r>
            <a:endParaRPr sz="3000" b="1" dirty="0">
              <a:solidFill>
                <a:srgbClr val="FFFFFF"/>
              </a:solidFill>
              <a:latin typeface="KaiT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rgbClr val="BBBBBB"/>
                </a:solidFill>
                <a:latin typeface="KaiTi"/>
              </a:rPr>
              <a:t>能量从哪里来</a:t>
            </a:r>
            <a:r>
              <a:rPr lang="en-US" altLang="zh-CN" sz="1600" dirty="0">
                <a:solidFill>
                  <a:srgbClr val="BBBBBB"/>
                </a:solidFill>
                <a:latin typeface="KaiTi"/>
              </a:rPr>
              <a:t>? </a:t>
            </a:r>
            <a:r>
              <a:rPr sz="1600" b="0" dirty="0">
                <a:solidFill>
                  <a:srgbClr val="BBBBBB"/>
                </a:solidFill>
                <a:latin typeface="KaiTi"/>
              </a:rPr>
              <a:t>Where Does Energy Come From?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42A5F5"/>
                </a:solidFill>
                <a:latin typeface="KaiTi"/>
              </a:rPr>
              <a:t>☀️  💨  💧  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6949440" cy="14173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🤔 今 天 的 探 究 问 题  Today's Inquiry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rgbClr val="FFFFFF"/>
                </a:solidFill>
                <a:latin typeface="KaiTi"/>
              </a:rPr>
              <a:t>什么能源永远用不完</a:t>
            </a:r>
            <a:r>
              <a:rPr lang="en-US" altLang="zh-CN" sz="1800" b="1" dirty="0">
                <a:solidFill>
                  <a:srgbClr val="FFFFFF"/>
                </a:solidFill>
                <a:latin typeface="KaiTi"/>
              </a:rPr>
              <a:t>?</a:t>
            </a:r>
            <a:endParaRPr sz="1800" b="1" dirty="0">
              <a:solidFill>
                <a:srgbClr val="FFFFFF"/>
              </a:solidFill>
              <a:latin typeface="KaiT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FFF3E0"/>
                </a:solidFill>
                <a:latin typeface="KaiTi"/>
              </a:rPr>
              <a:t>Where can we find energy that never runs out?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⚡ 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dirty="0">
                <a:solidFill>
                  <a:srgbClr val="F5C242"/>
                </a:solidFill>
                <a:latin typeface="KaiTi"/>
              </a:rPr>
              <a:t>🔍 </a:t>
            </a:r>
            <a:r>
              <a:rPr sz="1800" b="1" dirty="0" err="1">
                <a:solidFill>
                  <a:srgbClr val="F5C242"/>
                </a:solidFill>
                <a:latin typeface="KaiTi"/>
              </a:rPr>
              <a:t>上</a:t>
            </a:r>
            <a:r>
              <a:rPr sz="1800" b="1" dirty="0">
                <a:solidFill>
                  <a:srgbClr val="F5C242"/>
                </a:solidFill>
                <a:latin typeface="KaiTi"/>
              </a:rPr>
              <a:t> </a:t>
            </a:r>
            <a:r>
              <a:rPr sz="1800" b="1" dirty="0" err="1">
                <a:solidFill>
                  <a:srgbClr val="F5C242"/>
                </a:solidFill>
                <a:latin typeface="KaiTi"/>
              </a:rPr>
              <a:t>午</a:t>
            </a:r>
            <a:r>
              <a:rPr sz="1800" b="1" dirty="0">
                <a:solidFill>
                  <a:srgbClr val="F5C242"/>
                </a:solidFill>
                <a:latin typeface="KaiTi"/>
              </a:rPr>
              <a:t> 10:00–10:45 / 11:00–11:45  </a:t>
            </a:r>
            <a:endParaRPr lang="en-US" sz="1800" b="1" dirty="0">
              <a:solidFill>
                <a:srgbClr val="F5C242"/>
              </a:solidFill>
              <a:latin typeface="KaiTi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5C242"/>
                </a:solidFill>
                <a:latin typeface="KaiTi"/>
              </a:rPr>
              <a:t>· </a:t>
            </a:r>
            <a:r>
              <a:rPr lang="en-US" b="1" dirty="0" err="1">
                <a:solidFill>
                  <a:srgbClr val="F5C242"/>
                </a:solidFill>
                <a:latin typeface="KaiTi"/>
              </a:rPr>
              <a:t>可持续发展.可再生能源</a:t>
            </a:r>
            <a:r>
              <a:rPr lang="en-US" b="1" dirty="0">
                <a:solidFill>
                  <a:srgbClr val="F5C242"/>
                </a:solidFill>
                <a:latin typeface="KaiTi"/>
              </a:rPr>
              <a:t> 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今 天 的 学 习 目 标  Today's 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上 完 这 节 课, 你 会……  By the end, you'll be able to…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5C00"/>
                </a:solidFill>
                <a:latin typeface="KaiTi"/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6187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明 白 地 球 的 资 源 有 限 — 有 些 能 源 会 用 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81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Earth's resources are limited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BA03D"/>
                </a:solidFill>
                <a:latin typeface="KaiTi"/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305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rgbClr val="2C2C2C"/>
                </a:solidFill>
                <a:latin typeface="KaiTi"/>
              </a:rPr>
              <a:t>初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步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懂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得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lang="en-US" sz="1300" b="1" dirty="0" err="1">
                <a:solidFill>
                  <a:srgbClr val="2C2C2C"/>
                </a:solidFill>
                <a:latin typeface="KaiTi"/>
              </a:rPr>
              <a:t>什么是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可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持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续</a:t>
            </a:r>
            <a:r>
              <a:rPr lang="en-US" sz="1300" b="1" dirty="0" err="1">
                <a:solidFill>
                  <a:srgbClr val="2C2C2C"/>
                </a:solidFill>
                <a:latin typeface="KaiTi"/>
              </a:rPr>
              <a:t>发展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lang="en-US" sz="1300" b="1" dirty="0" err="1">
                <a:solidFill>
                  <a:srgbClr val="2C2C2C"/>
                </a:solidFill>
                <a:latin typeface="KaiTi"/>
              </a:rPr>
              <a:t>寻找</a:t>
            </a:r>
            <a:r>
              <a:rPr lang="zh-CN" altLang="en-US" sz="1300" b="1" dirty="0">
                <a:solidFill>
                  <a:srgbClr val="2C2C2C"/>
                </a:solidFill>
                <a:latin typeface="KaiTi"/>
              </a:rPr>
              <a:t>用不完的能源</a:t>
            </a:r>
            <a:endParaRPr sz="1300" b="1" dirty="0">
              <a:solidFill>
                <a:srgbClr val="2C2C2C"/>
              </a:solidFill>
              <a:latin typeface="KaiT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888888"/>
                </a:solidFill>
                <a:latin typeface="KaiTi"/>
              </a:rPr>
              <a:t>Sustainability — pick energy that lasts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999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C242"/>
                </a:solidFill>
                <a:latin typeface="KaiTi"/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992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认 识 太 阳 能 · 风 能 · 水 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19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Know solar, wind &amp; hydro energy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59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86791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2A5F5"/>
                </a:solidFill>
                <a:latin typeface="KaiTi"/>
              </a:rP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67911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 err="1">
                <a:solidFill>
                  <a:srgbClr val="2C2C2C"/>
                </a:solidFill>
                <a:latin typeface="KaiTi"/>
              </a:rPr>
              <a:t>我可以说</a:t>
            </a:r>
            <a:r>
              <a:rPr lang="en-US" altLang="zh-CN" sz="1300" b="1" dirty="0">
                <a:solidFill>
                  <a:srgbClr val="2C2C2C"/>
                </a:solidFill>
                <a:latin typeface="KaiTi"/>
              </a:rPr>
              <a:t>:</a:t>
            </a:r>
            <a:r>
              <a:rPr lang="zh-CN" altLang="en-US" sz="1300" b="1" dirty="0">
                <a:solidFill>
                  <a:srgbClr val="2C2C2C"/>
                </a:solidFill>
                <a:latin typeface="KaiTi"/>
              </a:rPr>
              <a:t>“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___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能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来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自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___</a:t>
            </a:r>
            <a:r>
              <a:rPr lang="en-US" altLang="zh-CN" sz="1300" b="1" dirty="0">
                <a:solidFill>
                  <a:srgbClr val="2C2C2C"/>
                </a:solidFill>
                <a:latin typeface="KaiTi"/>
              </a:rPr>
              <a:t>,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我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会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节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约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___</a:t>
            </a:r>
            <a:r>
              <a:rPr lang="en-US" altLang="zh-CN" sz="1300" b="1" dirty="0">
                <a:solidFill>
                  <a:srgbClr val="2C2C2C"/>
                </a:solidFill>
                <a:latin typeface="KaiTi"/>
              </a:rPr>
              <a:t>.</a:t>
            </a:r>
            <a:r>
              <a:rPr lang="zh-CN" altLang="en-US" sz="1300" b="1" dirty="0">
                <a:solidFill>
                  <a:srgbClr val="2C2C2C"/>
                </a:solidFill>
                <a:latin typeface="KaiTi"/>
              </a:rPr>
              <a:t>”</a:t>
            </a:r>
            <a:endParaRPr sz="1300" b="1" dirty="0">
              <a:solidFill>
                <a:srgbClr val="2C2C2C"/>
              </a:solidFill>
              <a:latin typeface="KaiT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8720" y="418795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Use the sentence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⚡ 热 身  ·  什 么 需 要 能 量?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2C2C2C"/>
                </a:solidFill>
                <a:latin typeface="KaiTi"/>
              </a:rPr>
              <a:t>看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一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看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—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这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些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东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西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要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lang="zh-CN" altLang="en-US" sz="1300" b="1" dirty="0">
                <a:solidFill>
                  <a:srgbClr val="2C2C2C"/>
                </a:solidFill>
                <a:latin typeface="KaiTi"/>
              </a:rPr>
              <a:t>“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动</a:t>
            </a:r>
            <a:r>
              <a:rPr lang="zh-CN" altLang="en-US" sz="1300" b="1" dirty="0">
                <a:solidFill>
                  <a:srgbClr val="2C2C2C"/>
                </a:solidFill>
                <a:latin typeface="KaiTi"/>
              </a:rPr>
              <a:t>”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起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来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,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需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要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什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300" b="1" dirty="0" err="1">
                <a:solidFill>
                  <a:srgbClr val="2C2C2C"/>
                </a:solidFill>
                <a:latin typeface="KaiTi"/>
              </a:rPr>
              <a:t>么</a:t>
            </a:r>
            <a:r>
              <a:rPr sz="1300" b="1" dirty="0">
                <a:solidFill>
                  <a:srgbClr val="2C2C2C"/>
                </a:solidFill>
                <a:latin typeface="KaiT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888888"/>
                </a:solidFill>
                <a:latin typeface="KaiTi"/>
              </a:rPr>
              <a:t>What do all these things need to 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电 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汽 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手 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970"/>
                </a:solidFill>
                <a:latin typeface="KaiTi"/>
              </a:rPr>
              <a:t>电 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TV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74720"/>
            <a:ext cx="8412480" cy="14173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611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F5C242"/>
                </a:solidFill>
                <a:latin typeface="KaiTi"/>
              </a:rPr>
              <a:t>⚡ </a:t>
            </a:r>
            <a:r>
              <a:rPr sz="2600" b="1" dirty="0" err="1">
                <a:solidFill>
                  <a:srgbClr val="F5C242"/>
                </a:solidFill>
                <a:latin typeface="KaiTi"/>
              </a:rPr>
              <a:t>都</a:t>
            </a:r>
            <a:r>
              <a:rPr sz="2600" b="1" dirty="0">
                <a:solidFill>
                  <a:srgbClr val="F5C242"/>
                </a:solidFill>
                <a:latin typeface="KaiTi"/>
              </a:rPr>
              <a:t> </a:t>
            </a:r>
            <a:r>
              <a:rPr sz="2600" b="1" dirty="0" err="1">
                <a:solidFill>
                  <a:srgbClr val="F5C242"/>
                </a:solidFill>
                <a:latin typeface="KaiTi"/>
              </a:rPr>
              <a:t>需</a:t>
            </a:r>
            <a:r>
              <a:rPr sz="2600" b="1" dirty="0">
                <a:solidFill>
                  <a:srgbClr val="F5C242"/>
                </a:solidFill>
                <a:latin typeface="KaiTi"/>
              </a:rPr>
              <a:t> </a:t>
            </a:r>
            <a:r>
              <a:rPr sz="2600" b="1" dirty="0" err="1">
                <a:solidFill>
                  <a:srgbClr val="F5C242"/>
                </a:solidFill>
                <a:latin typeface="KaiTi"/>
              </a:rPr>
              <a:t>要</a:t>
            </a:r>
            <a:r>
              <a:rPr sz="2600" b="1" dirty="0">
                <a:solidFill>
                  <a:srgbClr val="F5C242"/>
                </a:solidFill>
                <a:latin typeface="KaiTi"/>
              </a:rPr>
              <a:t> — </a:t>
            </a:r>
            <a:r>
              <a:rPr sz="2600" b="1" dirty="0" err="1">
                <a:solidFill>
                  <a:srgbClr val="F5C242"/>
                </a:solidFill>
                <a:latin typeface="KaiTi"/>
              </a:rPr>
              <a:t>能</a:t>
            </a:r>
            <a:r>
              <a:rPr sz="2600" b="1" dirty="0">
                <a:solidFill>
                  <a:srgbClr val="F5C242"/>
                </a:solidFill>
                <a:latin typeface="KaiTi"/>
              </a:rPr>
              <a:t> </a:t>
            </a:r>
            <a:r>
              <a:rPr sz="2600" b="1" dirty="0" err="1">
                <a:solidFill>
                  <a:srgbClr val="F5C242"/>
                </a:solidFill>
                <a:latin typeface="KaiTi"/>
              </a:rPr>
              <a:t>量</a:t>
            </a:r>
            <a:r>
              <a:rPr sz="2600" b="1" dirty="0">
                <a:solidFill>
                  <a:srgbClr val="F5C242"/>
                </a:solidFill>
                <a:latin typeface="KaiTi"/>
              </a:rPr>
              <a:t> (</a:t>
            </a:r>
            <a:r>
              <a:rPr sz="2600" b="1" dirty="0" err="1">
                <a:solidFill>
                  <a:srgbClr val="F5C242"/>
                </a:solidFill>
                <a:latin typeface="KaiTi"/>
              </a:rPr>
              <a:t>能</a:t>
            </a:r>
            <a:r>
              <a:rPr sz="2600" b="1" dirty="0">
                <a:solidFill>
                  <a:srgbClr val="F5C242"/>
                </a:solidFill>
                <a:latin typeface="KaiTi"/>
              </a:rPr>
              <a:t> </a:t>
            </a:r>
            <a:r>
              <a:rPr sz="2600" b="1" dirty="0" err="1">
                <a:solidFill>
                  <a:srgbClr val="F5C242"/>
                </a:solidFill>
                <a:latin typeface="KaiTi"/>
              </a:rPr>
              <a:t>源</a:t>
            </a:r>
            <a:r>
              <a:rPr sz="2600" b="1" dirty="0">
                <a:solidFill>
                  <a:srgbClr val="F5C242"/>
                </a:solidFill>
                <a:latin typeface="KaiTi"/>
              </a:rPr>
              <a:t>)!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3E0"/>
                </a:solidFill>
                <a:latin typeface="KaiTi"/>
              </a:rPr>
              <a:t>They all need ENERGY!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80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aiTi"/>
              </a:rPr>
              <a:t>🤔 那 — 能 量 从 哪 里 来 呢?  Where does energy come from?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💡 能 源 是 什 么?  ·  What Is Energy?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2A5F5"/>
                </a:solidFill>
                <a:latin typeface="KaiTi"/>
              </a:rPr>
              <a:t>能 源 = 让 东 西 「动 起 来」 的 力 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Energy is the power that makes things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200" b="0" dirty="0">
                <a:solidFill>
                  <a:srgbClr val="2C2C2C"/>
                </a:solidFill>
                <a:latin typeface="KaiTi"/>
              </a:rPr>
              <a:t>💡</a:t>
            </a:r>
            <a:endParaRPr sz="5200" b="0" dirty="0">
              <a:solidFill>
                <a:srgbClr val="2C2C2C"/>
              </a:solidFill>
              <a:latin typeface="KaiT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F5C242"/>
                </a:solidFill>
                <a:latin typeface="KaiTi"/>
              </a:rPr>
              <a:t>能源</a:t>
            </a:r>
            <a:r>
              <a:rPr lang="en-US" sz="1600" b="1" dirty="0" err="1">
                <a:solidFill>
                  <a:srgbClr val="F5C242"/>
                </a:solidFill>
                <a:latin typeface="KaiTi"/>
              </a:rPr>
              <a:t>点亮灯泡</a:t>
            </a:r>
            <a:endParaRPr sz="1600" b="1" dirty="0">
              <a:solidFill>
                <a:srgbClr val="F5C242"/>
              </a:solidFill>
              <a:latin typeface="KaiT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lights the lamp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74320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E65C00"/>
                </a:solidFill>
                <a:latin typeface="KaiTi"/>
              </a:rPr>
              <a:t>能源让</a:t>
            </a:r>
            <a:r>
              <a:rPr lang="en-US" sz="1600" b="1" dirty="0" err="1">
                <a:solidFill>
                  <a:srgbClr val="E65C00"/>
                </a:solidFill>
                <a:latin typeface="KaiTi"/>
              </a:rPr>
              <a:t>汽车开动</a:t>
            </a:r>
            <a:endParaRPr sz="1600" b="1" dirty="0">
              <a:solidFill>
                <a:srgbClr val="E65C00"/>
              </a:solidFill>
              <a:latin typeface="KaiT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39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moves the 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4320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006970"/>
                </a:solidFill>
                <a:latin typeface="KaiTi"/>
              </a:rPr>
              <a:t>能源让机器工作</a:t>
            </a:r>
            <a:endParaRPr sz="1600" b="1" dirty="0">
              <a:solidFill>
                <a:srgbClr val="006970"/>
              </a:solidFill>
              <a:latin typeface="KaiT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80759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runs machines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69080"/>
            <a:ext cx="8412480" cy="86868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🤔 这 么 多 能 量 — 都 从 哪 里 来?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Where does all this energy come from?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🤝 想 一 想 · 说 一 说  ·  Think-Pair-Share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8412480" cy="9601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C242"/>
                </a:solidFill>
                <a:latin typeface="KaiTi"/>
              </a:rPr>
              <a:t>❓ 能 量 可 能 从 哪 里 来?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3E0"/>
                </a:solidFill>
                <a:latin typeface="KaiTi"/>
              </a:rPr>
              <a:t>Where might energy come from?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59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59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970"/>
                </a:solidFill>
                <a:latin typeface="KaiTi"/>
              </a:rPr>
              <a:t>想 一 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499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Think · 自 己 想 30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8979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8979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979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两 人 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420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Pair · 跟 同 桌 说 1 分 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7900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57900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7900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全 班 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9340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Share · 几 位 同 学 分 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8412480" cy="960120"/>
          </a:xfrm>
          <a:prstGeom prst="roundRect">
            <a:avLst/>
          </a:prstGeom>
          <a:solidFill>
            <a:srgbClr val="F5C242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A3A"/>
                </a:solidFill>
                <a:latin typeface="KaiTi"/>
              </a:rPr>
              <a:t>⏱️ 计 时: 30 秒 · 60 秒 · 60 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A3A"/>
                </a:solidFill>
                <a:latin typeface="KaiTi"/>
              </a:rPr>
              <a:t>Timer: 30s think · 60s pair · 60s share  (~3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封面—无字(水印标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796766"/>
            <a:ext cx="9146381" cy="1189673"/>
          </a:xfrm>
        </p:spPr>
        <p:txBody>
          <a:bodyPr>
            <a:noAutofit/>
          </a:bodyPr>
          <a:lstStyle/>
          <a:p>
            <a:pPr algn="ctr" fontAlgn="base"/>
            <a:r>
              <a:rPr lang="zh-CN" altLang="en-US" sz="5700" b="1" noProof="1">
                <a:solidFill>
                  <a:srgbClr val="256082"/>
                </a:solidFill>
                <a:latin typeface="黑体" panose="02010609060101010101" charset="-122"/>
                <a:ea typeface="黑体" panose="02010609060101010101" charset="-122"/>
              </a:rPr>
              <a:t>什么是新能源</a:t>
            </a:r>
          </a:p>
        </p:txBody>
      </p:sp>
      <p:sp>
        <p:nvSpPr>
          <p:cNvPr id="4098" name="文本框 2"/>
          <p:cNvSpPr txBox="1"/>
          <p:nvPr/>
        </p:nvSpPr>
        <p:spPr>
          <a:xfrm>
            <a:off x="-15240" y="1693545"/>
            <a:ext cx="915924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256082"/>
                </a:solidFill>
                <a:latin typeface="黑体" panose="02010609060101010101" charset="-122"/>
                <a:ea typeface="黑体" panose="02010609060101010101" charset="-122"/>
              </a:rPr>
              <a:t>大班</a:t>
            </a:r>
            <a:r>
              <a:rPr lang="zh-CN" altLang="zh-CN" sz="2400" b="1">
                <a:solidFill>
                  <a:srgbClr val="256082"/>
                </a:solidFill>
                <a:latin typeface="黑体" panose="02010609060101010101" charset="-122"/>
                <a:ea typeface="黑体" panose="02010609060101010101" charset="-122"/>
              </a:rPr>
              <a:t> 科学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0" y="4795361"/>
            <a:ext cx="91440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350">
                <a:solidFill>
                  <a:srgbClr val="7CE7F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</a:t>
            </a:r>
            <a:r>
              <a:rPr sz="1350">
                <a:solidFill>
                  <a:srgbClr val="7CE7F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课件中文字为方便备课，可自行删除；教师也可根据授课情况</a:t>
            </a:r>
            <a:r>
              <a:rPr lang="zh-CN" altLang="en-US" sz="1350">
                <a:solidFill>
                  <a:srgbClr val="7CE7F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调整课件。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\\10.1.1.22\视频事业部\幼儿园组\A 课件\0000 课件教案模板（重要、勿删！！）\通用图\水印标记处理\备课页底板(水印标记).png备课页底板(水印标记)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9" y="0"/>
            <a:ext cx="9143524" cy="514350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2843689" y="1005364"/>
            <a:ext cx="5668328" cy="3886200"/>
          </a:xfrm>
          <a:prstGeom prst="roundRect">
            <a:avLst/>
          </a:prstGeom>
          <a:solidFill>
            <a:srgbClr val="E0F7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sz="1650">
                <a:solidFill>
                  <a:srgbClr val="377E75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出示组图“传统能源”，了解传统能源的缺点，导入活动主题。</a:t>
            </a:r>
          </a:p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350">
                <a:solidFill>
                  <a:srgbClr val="377E75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1350">
                <a:solidFill>
                  <a:srgbClr val="377E75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这是什么？（石油、煤）</a:t>
            </a:r>
          </a:p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50">
                <a:solidFill>
                  <a:srgbClr val="377E75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——你们知道它们有什么用吗？</a:t>
            </a:r>
          </a:p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50">
                <a:solidFill>
                  <a:srgbClr val="377E75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——石油和煤虽然有很多用处，但我们却不能无限制地使用它们，这是为什么呢？</a:t>
            </a:r>
          </a:p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50">
                <a:solidFill>
                  <a:srgbClr val="377E75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小结：石油和煤是人们使用最多的两种能源，我们称它们为传统能源。石油经过加工，可以变成飞机、汽车、轮船等各种交通工具开动的燃料；煤炭燃烧后可以用来取暖、发电。它们的作用很大，但都要经过很长很长的时间才能获得，短期内不可再生，用一点就少一点，在加工、使用它们的过程中还会排放大量二氧化碳、污染环境。</a:t>
            </a:r>
          </a:p>
        </p:txBody>
      </p:sp>
      <p:pic>
        <p:nvPicPr>
          <p:cNvPr id="7" name="图片 6" descr="美美老师-人设（边线版）00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67" y="1514476"/>
            <a:ext cx="2233613" cy="33513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通用页背景(水印标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8" y="0"/>
            <a:ext cx="9144000" cy="51435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3366655" y="154048"/>
            <a:ext cx="2610195" cy="3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这是什么？它有什么用？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5" name="图片 4" descr="图片39(水印标记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338" y="681514"/>
            <a:ext cx="5266849" cy="35842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7F9F7-4BE2-5B3F-864C-F4906537C594}"/>
              </a:ext>
            </a:extLst>
          </p:cNvPr>
          <p:cNvSpPr txBox="1"/>
          <p:nvPr/>
        </p:nvSpPr>
        <p:spPr>
          <a:xfrm>
            <a:off x="2633187" y="432273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这是石油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,</a:t>
            </a:r>
            <a:r>
              <a:rPr lang="zh-CN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经过加工，可以变成飞机、汽车、轮船等各种交通工具开动的燃料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通用页背景(水印标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390699" y="163272"/>
            <a:ext cx="9144476" cy="36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这是什么？它有什么用？</a:t>
            </a:r>
          </a:p>
        </p:txBody>
      </p:sp>
      <p:pic>
        <p:nvPicPr>
          <p:cNvPr id="5" name="图片 4" descr="图片40(水印标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554" y="573405"/>
            <a:ext cx="5582603" cy="3794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9128CD-5414-4FFB-819E-7BC4E8615D0D}"/>
              </a:ext>
            </a:extLst>
          </p:cNvPr>
          <p:cNvSpPr txBox="1"/>
          <p:nvPr/>
        </p:nvSpPr>
        <p:spPr>
          <a:xfrm>
            <a:off x="2799762" y="4500456"/>
            <a:ext cx="4769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这是煤炭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,</a:t>
            </a:r>
            <a:r>
              <a:rPr lang="zh-CN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煤炭燃烧后可以用来取暖、发电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通用页背景(水印标记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-54530" y="4744788"/>
            <a:ext cx="9144476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en-US" sz="11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因为</a:t>
            </a:r>
            <a:r>
              <a:rPr lang="zh-CN" altLang="zh-CN" sz="11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它们都要经过很长很长的时间才能获得，短期内不可再生，用一点就少一点，在加工、使用它们的过程中还会排放大量二氧化碳、污染环境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07633" y="67152"/>
            <a:ext cx="4087654" cy="552926"/>
            <a:chOff x="955" y="463"/>
            <a:chExt cx="8583" cy="1161"/>
          </a:xfrm>
        </p:grpSpPr>
        <p:sp>
          <p:nvSpPr>
            <p:cNvPr id="8" name="圆角矩形 7"/>
            <p:cNvSpPr/>
            <p:nvPr>
              <p:custDataLst>
                <p:tags r:id="rId12"/>
              </p:custDataLst>
            </p:nvPr>
          </p:nvSpPr>
          <p:spPr>
            <a:xfrm>
              <a:off x="1752" y="780"/>
              <a:ext cx="7786" cy="618"/>
            </a:xfrm>
            <a:prstGeom prst="roundRect">
              <a:avLst/>
            </a:prstGeom>
            <a:solidFill>
              <a:srgbClr val="A1DF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50">
                  <a:solidFill>
                    <a:srgbClr val="03500C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  </a:t>
              </a:r>
              <a:r>
                <a:rPr lang="zh-CN" altLang="zh-CN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点击屏幕三次，依次出现不可再生</a:t>
              </a:r>
              <a:r>
                <a:rPr lang="en-US" altLang="zh-CN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/</a:t>
              </a:r>
              <a:r>
                <a:rPr lang="zh-CN" altLang="en-US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碳排放</a:t>
              </a:r>
              <a:r>
                <a:rPr lang="en-US" altLang="zh-CN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/</a:t>
              </a:r>
              <a:r>
                <a:rPr lang="zh-CN" altLang="en-US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污染环境图标</a:t>
              </a:r>
            </a:p>
          </p:txBody>
        </p:sp>
        <p:pic>
          <p:nvPicPr>
            <p:cNvPr id="7" name="图片 6" descr="C:\Users\Administrator\Desktop\奇奇头\9.png9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/>
            <a:srcRect/>
            <a:stretch>
              <a:fillRect/>
            </a:stretch>
          </p:blipFill>
          <p:spPr>
            <a:xfrm>
              <a:off x="955" y="463"/>
              <a:ext cx="1216" cy="1161"/>
            </a:xfrm>
            <a:prstGeom prst="rect">
              <a:avLst/>
            </a:prstGeom>
          </p:spPr>
        </p:pic>
      </p:grpSp>
      <p:grpSp>
        <p:nvGrpSpPr>
          <p:cNvPr id="79" name="组合 78"/>
          <p:cNvGrpSpPr/>
          <p:nvPr/>
        </p:nvGrpSpPr>
        <p:grpSpPr>
          <a:xfrm>
            <a:off x="2125028" y="2740819"/>
            <a:ext cx="4826794" cy="448628"/>
            <a:chOff x="4638" y="4215"/>
            <a:chExt cx="10135" cy="942"/>
          </a:xfrm>
        </p:grpSpPr>
        <p:cxnSp>
          <p:nvCxnSpPr>
            <p:cNvPr id="13" name="直接连接符 12"/>
            <p:cNvCxnSpPr>
              <a:endCxn id="56" idx="6"/>
            </p:cNvCxnSpPr>
            <p:nvPr>
              <p:custDataLst>
                <p:tags r:id="rId5"/>
              </p:custDataLst>
            </p:nvPr>
          </p:nvCxnSpPr>
          <p:spPr>
            <a:xfrm>
              <a:off x="4686" y="4348"/>
              <a:ext cx="10087" cy="0"/>
            </a:xfrm>
            <a:prstGeom prst="line">
              <a:avLst/>
            </a:prstGeom>
            <a:ln w="76200">
              <a:solidFill>
                <a:srgbClr val="80D3F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>
              <p:custDataLst>
                <p:tags r:id="rId6"/>
              </p:custDataLst>
            </p:nvPr>
          </p:nvCxnSpPr>
          <p:spPr>
            <a:xfrm>
              <a:off x="9795" y="4292"/>
              <a:ext cx="0" cy="788"/>
            </a:xfrm>
            <a:prstGeom prst="line">
              <a:avLst/>
            </a:prstGeom>
            <a:ln w="76200">
              <a:solidFill>
                <a:srgbClr val="80D3F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7"/>
              </p:custDataLst>
            </p:nvPr>
          </p:nvCxnSpPr>
          <p:spPr>
            <a:xfrm>
              <a:off x="14640" y="4310"/>
              <a:ext cx="0" cy="770"/>
            </a:xfrm>
            <a:prstGeom prst="line">
              <a:avLst/>
            </a:prstGeom>
            <a:ln w="76200">
              <a:solidFill>
                <a:srgbClr val="80D3F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>
              <p:custDataLst>
                <p:tags r:id="rId8"/>
              </p:custDataLst>
            </p:nvPr>
          </p:nvCxnSpPr>
          <p:spPr>
            <a:xfrm>
              <a:off x="4771" y="4310"/>
              <a:ext cx="0" cy="847"/>
            </a:xfrm>
            <a:prstGeom prst="line">
              <a:avLst/>
            </a:prstGeom>
            <a:ln w="76200">
              <a:solidFill>
                <a:srgbClr val="80D3F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/>
            <p:cNvSpPr/>
            <p:nvPr>
              <p:custDataLst>
                <p:tags r:id="rId9"/>
              </p:custDataLst>
            </p:nvPr>
          </p:nvSpPr>
          <p:spPr>
            <a:xfrm>
              <a:off x="4638" y="4215"/>
              <a:ext cx="266" cy="266"/>
            </a:xfrm>
            <a:prstGeom prst="ellipse">
              <a:avLst/>
            </a:prstGeom>
            <a:solidFill>
              <a:srgbClr val="0091C0"/>
            </a:solidFill>
            <a:ln w="57150">
              <a:solidFill>
                <a:srgbClr val="80D3F2"/>
              </a:solidFill>
            </a:ln>
            <a:effectLst>
              <a:outerShdw blurRad="50800" dist="381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57175" indent="-257175" defTabSz="6858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endParaRPr lang="zh-CN" altLang="en-US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5" name="椭圆 54"/>
            <p:cNvSpPr/>
            <p:nvPr>
              <p:custDataLst>
                <p:tags r:id="rId10"/>
              </p:custDataLst>
            </p:nvPr>
          </p:nvSpPr>
          <p:spPr>
            <a:xfrm>
              <a:off x="9662" y="4215"/>
              <a:ext cx="266" cy="266"/>
            </a:xfrm>
            <a:prstGeom prst="ellipse">
              <a:avLst/>
            </a:prstGeom>
            <a:solidFill>
              <a:srgbClr val="0091C0"/>
            </a:solidFill>
            <a:ln w="57150">
              <a:solidFill>
                <a:srgbClr val="80D3F2"/>
              </a:solidFill>
            </a:ln>
            <a:effectLst>
              <a:outerShdw blurRad="50800" dist="381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57175" indent="-257175" defTabSz="6858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endParaRPr lang="zh-CN" altLang="en-US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6" name="椭圆 55"/>
            <p:cNvSpPr/>
            <p:nvPr>
              <p:custDataLst>
                <p:tags r:id="rId11"/>
              </p:custDataLst>
            </p:nvPr>
          </p:nvSpPr>
          <p:spPr>
            <a:xfrm>
              <a:off x="14507" y="4215"/>
              <a:ext cx="266" cy="266"/>
            </a:xfrm>
            <a:prstGeom prst="ellipse">
              <a:avLst/>
            </a:prstGeom>
            <a:solidFill>
              <a:srgbClr val="0091C0"/>
            </a:solidFill>
            <a:ln w="57150">
              <a:solidFill>
                <a:srgbClr val="80D3F2"/>
              </a:solidFill>
            </a:ln>
            <a:effectLst>
              <a:outerShdw blurRad="50800" dist="381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57175" indent="-257175" defTabSz="6858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l"/>
              </a:pPr>
              <a:endParaRPr lang="zh-CN" altLang="en-US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pic>
        <p:nvPicPr>
          <p:cNvPr id="5" name="图片 4" descr="0-不可循环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93044" y="3130392"/>
            <a:ext cx="1323975" cy="1329214"/>
          </a:xfrm>
          <a:prstGeom prst="rect">
            <a:avLst/>
          </a:prstGeom>
        </p:spPr>
      </p:pic>
      <p:pic>
        <p:nvPicPr>
          <p:cNvPr id="9" name="图片 8" descr="0-二氧化碳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23824" y="3130392"/>
            <a:ext cx="1323975" cy="1329214"/>
          </a:xfrm>
          <a:prstGeom prst="rect">
            <a:avLst/>
          </a:prstGeom>
        </p:spPr>
      </p:pic>
      <p:pic>
        <p:nvPicPr>
          <p:cNvPr id="11" name="图片 10" descr="0-工厂污染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6019" y="3130392"/>
            <a:ext cx="1323975" cy="1329214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547336" y="4408170"/>
            <a:ext cx="1215390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不可再生</a:t>
            </a: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3986688" y="4408170"/>
            <a:ext cx="1350159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排放大量二氧化碳</a:t>
            </a: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6300311" y="4408170"/>
            <a:ext cx="1215390" cy="2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污染环境</a:t>
            </a:r>
          </a:p>
        </p:txBody>
      </p:sp>
      <p:sp>
        <p:nvSpPr>
          <p:cNvPr id="22" name="椭圆 21"/>
          <p:cNvSpPr/>
          <p:nvPr/>
        </p:nvSpPr>
        <p:spPr>
          <a:xfrm>
            <a:off x="1496854" y="3097530"/>
            <a:ext cx="1350169" cy="1350169"/>
          </a:xfrm>
          <a:prstGeom prst="ellipse">
            <a:avLst/>
          </a:prstGeom>
          <a:solidFill>
            <a:srgbClr val="D6F5EE">
              <a:alpha val="68000"/>
            </a:srgbClr>
          </a:solidFill>
          <a:ln w="76200">
            <a:solidFill>
              <a:srgbClr val="80D3F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endParaRPr lang="zh-CN" altLang="en-US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923824" y="3097530"/>
            <a:ext cx="1350169" cy="1350169"/>
          </a:xfrm>
          <a:prstGeom prst="ellipse">
            <a:avLst/>
          </a:prstGeom>
          <a:solidFill>
            <a:srgbClr val="D6F5EE">
              <a:alpha val="68000"/>
            </a:srgbClr>
          </a:solidFill>
          <a:ln w="76200">
            <a:solidFill>
              <a:srgbClr val="80D3F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endParaRPr lang="zh-CN" altLang="en-US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219825" y="3097530"/>
            <a:ext cx="1350169" cy="1350169"/>
          </a:xfrm>
          <a:prstGeom prst="ellipse">
            <a:avLst/>
          </a:prstGeom>
          <a:solidFill>
            <a:srgbClr val="D6F5EE">
              <a:alpha val="68000"/>
            </a:srgbClr>
          </a:solidFill>
          <a:ln w="76200">
            <a:solidFill>
              <a:srgbClr val="80D3F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endParaRPr lang="zh-CN" altLang="en-US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图片40(水印标记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57775" y="681514"/>
            <a:ext cx="2909888" cy="1978343"/>
          </a:xfrm>
          <a:prstGeom prst="rect">
            <a:avLst/>
          </a:prstGeom>
        </p:spPr>
      </p:pic>
      <p:pic>
        <p:nvPicPr>
          <p:cNvPr id="12" name="图片 11" descr="图片39(水印标记)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1561" y="681514"/>
            <a:ext cx="2918460" cy="1986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6465BF-D881-C24A-1079-C33A6B3DFC62}"/>
              </a:ext>
            </a:extLst>
          </p:cNvPr>
          <p:cNvSpPr txBox="1"/>
          <p:nvPr/>
        </p:nvSpPr>
        <p:spPr>
          <a:xfrm>
            <a:off x="4492457" y="67152"/>
            <a:ext cx="3036938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石油和煤虽然有很多用处，但我们却不能无限制地使用它们，这是为什么呢？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(水印标记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07633" y="67152"/>
            <a:ext cx="5916454" cy="552926"/>
            <a:chOff x="955" y="463"/>
            <a:chExt cx="12423" cy="1161"/>
          </a:xfrm>
        </p:grpSpPr>
        <p:sp>
          <p:nvSpPr>
            <p:cNvPr id="8" name="圆角矩形 7"/>
            <p:cNvSpPr/>
            <p:nvPr>
              <p:custDataLst>
                <p:tags r:id="rId10"/>
              </p:custDataLst>
            </p:nvPr>
          </p:nvSpPr>
          <p:spPr>
            <a:xfrm>
              <a:off x="1752" y="780"/>
              <a:ext cx="11626" cy="618"/>
            </a:xfrm>
            <a:prstGeom prst="roundRect">
              <a:avLst/>
            </a:prstGeom>
            <a:solidFill>
              <a:srgbClr val="A1DF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50">
                  <a:solidFill>
                    <a:srgbClr val="03500C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   </a:t>
              </a:r>
              <a:r>
                <a:rPr lang="en-US" altLang="zh-CN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1</a:t>
              </a:r>
              <a:r>
                <a:rPr lang="zh-CN" altLang="en-US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、</a:t>
              </a:r>
              <a:r>
                <a:rPr lang="zh-CN" altLang="zh-CN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点击屏幕三次，依次介绍太阳能、风能、水能；</a:t>
              </a:r>
              <a:r>
                <a:rPr lang="en-US" altLang="zh-CN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  <a:r>
                <a:rPr lang="zh-CN" altLang="en-US" sz="1050">
                  <a:solidFill>
                    <a:srgbClr val="32947E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、再次点击屏幕，出现其他新能源</a:t>
              </a:r>
            </a:p>
          </p:txBody>
        </p:sp>
        <p:pic>
          <p:nvPicPr>
            <p:cNvPr id="7" name="图片 6" descr="C:\Users\Administrator\Desktop\奇奇头\9.png9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/>
            <a:srcRect/>
            <a:stretch>
              <a:fillRect/>
            </a:stretch>
          </p:blipFill>
          <p:spPr>
            <a:xfrm>
              <a:off x="955" y="463"/>
              <a:ext cx="1216" cy="1161"/>
            </a:xfrm>
            <a:prstGeom prst="rect">
              <a:avLst/>
            </a:prstGeom>
          </p:spPr>
        </p:pic>
      </p:grpSp>
      <p:pic>
        <p:nvPicPr>
          <p:cNvPr id="5" name="图片 4" descr="太阳能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17373" y="1632609"/>
            <a:ext cx="2536508" cy="2542223"/>
          </a:xfrm>
          <a:prstGeom prst="rect">
            <a:avLst/>
          </a:prstGeom>
        </p:spPr>
      </p:pic>
      <p:pic>
        <p:nvPicPr>
          <p:cNvPr id="22" name="太阳能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9454039" y="2728913"/>
            <a:ext cx="464344" cy="464344"/>
          </a:xfrm>
          <a:prstGeom prst="rect">
            <a:avLst/>
          </a:prstGeom>
        </p:spPr>
      </p:pic>
      <p:pic>
        <p:nvPicPr>
          <p:cNvPr id="23" name="风能">
            <a:hlinkClick r:id="" action="ppaction://media"/>
          </p:cNvPr>
          <p:cNvPicPr/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9454039" y="3219927"/>
            <a:ext cx="464344" cy="464344"/>
          </a:xfrm>
          <a:prstGeom prst="rect">
            <a:avLst/>
          </a:prstGeom>
        </p:spPr>
      </p:pic>
      <p:pic>
        <p:nvPicPr>
          <p:cNvPr id="3" name="图片 2" descr="风能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9890" y="2095048"/>
            <a:ext cx="2244090" cy="1710690"/>
          </a:xfrm>
          <a:prstGeom prst="rect">
            <a:avLst/>
          </a:prstGeom>
        </p:spPr>
      </p:pic>
      <p:pic>
        <p:nvPicPr>
          <p:cNvPr id="14" name="图片 13" descr="水能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4911" y="2122195"/>
            <a:ext cx="1617345" cy="1840706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4026272" y="4062913"/>
            <a:ext cx="1118711" cy="401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太阳能</a:t>
            </a: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1152580" y="4063389"/>
            <a:ext cx="1118711" cy="401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风能</a:t>
            </a: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6799476" y="4062913"/>
            <a:ext cx="1118711" cy="401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水能</a:t>
            </a:r>
          </a:p>
        </p:txBody>
      </p:sp>
      <p:pic>
        <p:nvPicPr>
          <p:cNvPr id="28" name="水能">
            <a:hlinkClick r:id="" action="ppaction://media"/>
          </p:cNvPr>
          <p:cNvPicPr/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9454039" y="3706178"/>
            <a:ext cx="464344" cy="464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E8E530-6C17-1D16-2BDC-CC2ECD359E6F}"/>
              </a:ext>
            </a:extLst>
          </p:cNvPr>
          <p:cNvSpPr txBox="1"/>
          <p:nvPr/>
        </p:nvSpPr>
        <p:spPr>
          <a:xfrm>
            <a:off x="1051744" y="607935"/>
            <a:ext cx="7173949" cy="115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后来，人们发现地球上除了这些传统能源，还有其他可用的能源，它们没有传统能源的缺点，可以不断生产使用、不会排放二氧化碳污染环境，这就是新能源。</a:t>
            </a:r>
            <a:endParaRPr lang="en-US" altLang="ko-KR"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71450" indent="-171450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在新能源大家族中，太阳能、风能和水能是最常见的能源。</a:t>
            </a:r>
            <a:endParaRPr lang="en-US" altLang="zh-CN"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71450" indent="-171450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ko-KR" altLang="en-US"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2" dur="194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22" dur="152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2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32" dur="1410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3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>
                <p:cTn id="34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>
                <p:cTn id="35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CCFA3-78F0-1F17-6C86-DF9C5B50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4DA000E-A1E3-7909-8475-892F2A990BC3}"/>
              </a:ext>
            </a:extLst>
          </p:cNvPr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96B7F-A342-F71B-6D6B-78EEA8AEA93E}"/>
              </a:ext>
            </a:extLst>
          </p:cNvPr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🌱 可 持 续  ·  Sustainability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CD87F-F295-CC0E-5CA0-CC4B97193C18}"/>
              </a:ext>
            </a:extLst>
          </p:cNvPr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42A5F5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可 持 续 = 用 「用 不 完」 的 能 源, 地 球 一 直 都 够 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FAE8D-7143-A419-4DE1-7DB08C5F9D22}"/>
              </a:ext>
            </a:extLst>
          </p:cNvPr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Sustainability = using energy that lasts, so Earth keeps enough for everyone.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4B5F7B-2098-A1DD-2393-C8CCD95539FD}"/>
              </a:ext>
            </a:extLst>
          </p:cNvPr>
          <p:cNvSpPr/>
          <p:nvPr/>
        </p:nvSpPr>
        <p:spPr>
          <a:xfrm>
            <a:off x="457200" y="1783080"/>
            <a:ext cx="2651760" cy="2651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E827F-4241-EFAB-321E-2ECF7981EE60}"/>
              </a:ext>
            </a:extLst>
          </p:cNvPr>
          <p:cNvSpPr txBox="1"/>
          <p:nvPr/>
        </p:nvSpPr>
        <p:spPr>
          <a:xfrm>
            <a:off x="457200" y="1920240"/>
            <a:ext cx="2651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0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图片</a:t>
            </a:r>
            <a:endParaRPr kumimoji="0" sz="5600" b="0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6F5588-BE44-57EC-75EB-52E8874FCEDD}"/>
              </a:ext>
            </a:extLst>
          </p:cNvPr>
          <p:cNvSpPr txBox="1"/>
          <p:nvPr/>
        </p:nvSpPr>
        <p:spPr>
          <a:xfrm>
            <a:off x="548640" y="3564083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阳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5C242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B366C1-6255-B633-E209-2E7EAEC55FF5}"/>
              </a:ext>
            </a:extLst>
          </p:cNvPr>
          <p:cNvSpPr txBox="1"/>
          <p:nvPr/>
        </p:nvSpPr>
        <p:spPr>
          <a:xfrm>
            <a:off x="594360" y="403957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Solar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7D0250-EE87-9E73-F386-271AE6D14833}"/>
              </a:ext>
            </a:extLst>
          </p:cNvPr>
          <p:cNvSpPr/>
          <p:nvPr/>
        </p:nvSpPr>
        <p:spPr>
          <a:xfrm>
            <a:off x="3246120" y="1783080"/>
            <a:ext cx="2651760" cy="2651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A1828-A08A-6844-55CF-8FE1B54E88E5}"/>
              </a:ext>
            </a:extLst>
          </p:cNvPr>
          <p:cNvSpPr txBox="1"/>
          <p:nvPr/>
        </p:nvSpPr>
        <p:spPr>
          <a:xfrm>
            <a:off x="3246120" y="1920240"/>
            <a:ext cx="2651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0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图片</a:t>
            </a:r>
            <a:endParaRPr kumimoji="0" sz="5600" b="0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F2404-6B19-1161-D44F-27CB0FC44853}"/>
              </a:ext>
            </a:extLst>
          </p:cNvPr>
          <p:cNvSpPr txBox="1"/>
          <p:nvPr/>
        </p:nvSpPr>
        <p:spPr>
          <a:xfrm>
            <a:off x="3337560" y="360439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2A5F5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风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2A5F5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2A5F5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42A5F5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17D93-C313-AE1C-566A-025AECC68D26}"/>
              </a:ext>
            </a:extLst>
          </p:cNvPr>
          <p:cNvSpPr txBox="1"/>
          <p:nvPr/>
        </p:nvSpPr>
        <p:spPr>
          <a:xfrm>
            <a:off x="3383280" y="40798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Wind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11B3717-2598-2541-C479-E63FAB7513D0}"/>
              </a:ext>
            </a:extLst>
          </p:cNvPr>
          <p:cNvSpPr/>
          <p:nvPr/>
        </p:nvSpPr>
        <p:spPr>
          <a:xfrm>
            <a:off x="6035040" y="1783080"/>
            <a:ext cx="2651760" cy="2651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E13CB-325B-87E8-9205-EE5A5886D552}"/>
              </a:ext>
            </a:extLst>
          </p:cNvPr>
          <p:cNvSpPr txBox="1"/>
          <p:nvPr/>
        </p:nvSpPr>
        <p:spPr>
          <a:xfrm>
            <a:off x="6035040" y="1920240"/>
            <a:ext cx="2651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0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图片</a:t>
            </a:r>
            <a:endParaRPr kumimoji="0" sz="5600" b="0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810AB-9542-1CDF-883B-131E6C644049}"/>
              </a:ext>
            </a:extLst>
          </p:cNvPr>
          <p:cNvSpPr txBox="1"/>
          <p:nvPr/>
        </p:nvSpPr>
        <p:spPr>
          <a:xfrm>
            <a:off x="6126480" y="3589021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6970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水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6970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lang="en-US" sz="2000" b="1" dirty="0" err="1">
                <a:solidFill>
                  <a:srgbClr val="006970"/>
                </a:solidFill>
                <a:latin typeface="KaiTi"/>
              </a:rPr>
              <a:t>能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6970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3B78D-8176-9CA7-E9C7-9A983B24F614}"/>
              </a:ext>
            </a:extLst>
          </p:cNvPr>
          <p:cNvSpPr txBox="1"/>
          <p:nvPr/>
        </p:nvSpPr>
        <p:spPr>
          <a:xfrm>
            <a:off x="6172199" y="406450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Hydro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B0EB74-D4CB-6F3B-DF9F-1D16A996C771}"/>
              </a:ext>
            </a:extLst>
          </p:cNvPr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33528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☀️  太 阳 能  ·  Solar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0" dirty="0" err="1">
                <a:solidFill>
                  <a:srgbClr val="2C2C2C"/>
                </a:solidFill>
                <a:latin typeface="KaiTi"/>
              </a:rPr>
              <a:t>图片</a:t>
            </a:r>
            <a:endParaRPr kumimoji="0" sz="11000" b="0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295351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阳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5C242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350215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Solar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✦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例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子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 阳 能 板 — 晒 太 阳 发 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Solar panels make electricity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 阳 能 热 水 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Solar water heaters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 阳 能 小 车 / 计 算 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Solar toy cars, calculators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 阳 每 天 都 来 — 用 不 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The sun comes every day — never runs out!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白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天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有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阳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才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行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Needs daytime sunshine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💬 句 型: 「太 阳 能 来 自 太 阳.」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3E0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Solar energy comes from the sun.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☀️ 太 阳 能 板  ·  Solar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想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一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想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→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看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答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案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— Think, then check the answer!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📸 屋 顶 上 的 太 阳 能 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8344" y="1288526"/>
            <a:ext cx="3730752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阳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!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它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来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自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阳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Solar — it comes from the sun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晒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阳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就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发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电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· Sunlight → electricity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3194931"/>
            <a:ext cx="3730752" cy="5129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不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会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!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太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阳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每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天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都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来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No — the sun comes every day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用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不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完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的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源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· Renewable!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15</a:t>
            </a:r>
          </a:p>
        </p:txBody>
      </p:sp>
      <p:pic>
        <p:nvPicPr>
          <p:cNvPr id="17" name="图片 1" descr="图片41(水印标记)">
            <a:extLst>
              <a:ext uri="{FF2B5EF4-FFF2-40B4-BE49-F238E27FC236}">
                <a16:creationId xmlns:a16="http://schemas.microsoft.com/office/drawing/2014/main" id="{A7DBA1E7-3164-5BF7-EDA8-F714EED99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0" y="960120"/>
            <a:ext cx="3782970" cy="25725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061A5-17DE-84B0-DC2F-3E069EBF64AB}"/>
              </a:ext>
            </a:extLst>
          </p:cNvPr>
          <p:cNvSpPr txBox="1"/>
          <p:nvPr/>
        </p:nvSpPr>
        <p:spPr>
          <a:xfrm>
            <a:off x="4519782" y="10535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❓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这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是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什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么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?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72E8DD-58E6-E5C1-96DA-87B56EA2DB81}"/>
              </a:ext>
            </a:extLst>
          </p:cNvPr>
          <p:cNvSpPr txBox="1"/>
          <p:nvPr/>
        </p:nvSpPr>
        <p:spPr>
          <a:xfrm>
            <a:off x="4519782" y="27277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❓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会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用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完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吗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?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8253E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C4EABE-0C41-5C5F-2AC5-BDBAC757276A}"/>
              </a:ext>
            </a:extLst>
          </p:cNvPr>
          <p:cNvSpPr txBox="1"/>
          <p:nvPr/>
        </p:nvSpPr>
        <p:spPr>
          <a:xfrm>
            <a:off x="502920" y="3576678"/>
            <a:ext cx="3493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科学家发明太阳能电池板，科学家们发明了太阳能电池板，它能把太阳的能量提取出来，转化成我们日常需要的电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💨 风 力 发 电 机  ·  Wind turbine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2A5F5"/>
                </a:solidFill>
                <a:latin typeface="KaiTi"/>
              </a:rPr>
              <a:t>📸 大 大 的 白 色 风 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1980" y="1627183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8052" y="1516559"/>
            <a:ext cx="3730752" cy="5129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 dirty="0" err="1">
                <a:solidFill>
                  <a:srgbClr val="2C2C2C"/>
                </a:solidFill>
                <a:latin typeface="KaiTi"/>
              </a:rPr>
              <a:t>风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能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!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它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来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自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风</a:t>
            </a:r>
            <a:endParaRPr sz="1000" b="1" dirty="0">
              <a:solidFill>
                <a:srgbClr val="2C2C2C"/>
              </a:solidFill>
              <a:latin typeface="KaiTi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 dirty="0">
                <a:solidFill>
                  <a:srgbClr val="2C2C2C"/>
                </a:solidFill>
                <a:latin typeface="KaiTi"/>
              </a:rPr>
              <a:t>Wind — it comes from the wind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 dirty="0" err="1">
                <a:solidFill>
                  <a:srgbClr val="2C2C2C"/>
                </a:solidFill>
                <a:latin typeface="KaiTi"/>
              </a:rPr>
              <a:t>风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吹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→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风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车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转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→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发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电</a:t>
            </a:r>
            <a:endParaRPr sz="1000" b="1" dirty="0">
              <a:solidFill>
                <a:srgbClr val="2C2C2C"/>
              </a:solidFill>
              <a:latin typeface="KaiT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1708" y="328612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C8253E"/>
                </a:solidFill>
                <a:latin typeface="KaiTi"/>
              </a:rPr>
              <a:t>🌬️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3082671"/>
            <a:ext cx="3730752" cy="5129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 dirty="0" err="1">
                <a:solidFill>
                  <a:srgbClr val="2C2C2C"/>
                </a:solidFill>
                <a:latin typeface="KaiTi"/>
              </a:rPr>
              <a:t>不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会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!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风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一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直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吹</a:t>
            </a:r>
            <a:endParaRPr sz="1000" b="1" dirty="0">
              <a:solidFill>
                <a:srgbClr val="2C2C2C"/>
              </a:solidFill>
              <a:latin typeface="KaiTi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 dirty="0">
                <a:solidFill>
                  <a:srgbClr val="2C2C2C"/>
                </a:solidFill>
                <a:latin typeface="KaiTi"/>
              </a:rPr>
              <a:t>No — wind keeps blowing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 dirty="0" err="1">
                <a:solidFill>
                  <a:srgbClr val="2C2C2C"/>
                </a:solidFill>
                <a:latin typeface="KaiTi"/>
              </a:rPr>
              <a:t>用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不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完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的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能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</a:t>
            </a:r>
            <a:r>
              <a:rPr sz="1000" b="1" dirty="0" err="1">
                <a:solidFill>
                  <a:srgbClr val="2C2C2C"/>
                </a:solidFill>
                <a:latin typeface="KaiTi"/>
              </a:rPr>
              <a:t>源</a:t>
            </a:r>
            <a:r>
              <a:rPr sz="1000" b="1" dirty="0">
                <a:solidFill>
                  <a:srgbClr val="2C2C2C"/>
                </a:solidFill>
                <a:latin typeface="KaiTi"/>
              </a:rPr>
              <a:t> · Renewable!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16</a:t>
            </a:r>
          </a:p>
        </p:txBody>
      </p:sp>
      <p:pic>
        <p:nvPicPr>
          <p:cNvPr id="17" name="图片 1" descr="图片43(水印标记)">
            <a:extLst>
              <a:ext uri="{FF2B5EF4-FFF2-40B4-BE49-F238E27FC236}">
                <a16:creationId xmlns:a16="http://schemas.microsoft.com/office/drawing/2014/main" id="{CCCC319D-A613-81DA-9183-6FA766207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65" y="973928"/>
            <a:ext cx="2948106" cy="2618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811AEA-FCD0-7CDA-E02C-1B03DF0371D1}"/>
              </a:ext>
            </a:extLst>
          </p:cNvPr>
          <p:cNvSpPr txBox="1"/>
          <p:nvPr/>
        </p:nvSpPr>
        <p:spPr>
          <a:xfrm>
            <a:off x="4572000" y="102870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800" b="1" dirty="0">
                <a:solidFill>
                  <a:srgbClr val="2E7D32"/>
                </a:solidFill>
                <a:latin typeface="KaiTi"/>
              </a:rPr>
              <a:t>❓ </a:t>
            </a:r>
            <a:r>
              <a:rPr lang="ko-KR" altLang="en-US" sz="1800" b="1" dirty="0" err="1">
                <a:solidFill>
                  <a:srgbClr val="2E7D32"/>
                </a:solidFill>
                <a:latin typeface="KaiTi"/>
              </a:rPr>
              <a:t>这</a:t>
            </a:r>
            <a:r>
              <a:rPr lang="ko-KR" altLang="en-US" sz="1800" b="1" dirty="0">
                <a:solidFill>
                  <a:srgbClr val="2E7D32"/>
                </a:solidFill>
                <a:latin typeface="KaiTi"/>
              </a:rPr>
              <a:t> </a:t>
            </a:r>
            <a:r>
              <a:rPr lang="ko-KR" altLang="en-US" sz="1800" b="1" dirty="0" err="1">
                <a:solidFill>
                  <a:srgbClr val="2E7D32"/>
                </a:solidFill>
                <a:latin typeface="KaiTi"/>
              </a:rPr>
              <a:t>是</a:t>
            </a:r>
            <a:r>
              <a:rPr lang="ko-KR" altLang="en-US" sz="1800" b="1" dirty="0">
                <a:solidFill>
                  <a:srgbClr val="2E7D32"/>
                </a:solidFill>
                <a:latin typeface="KaiTi"/>
              </a:rPr>
              <a:t> </a:t>
            </a:r>
            <a:r>
              <a:rPr lang="ko-KR" altLang="en-US" sz="1800" b="1" dirty="0" err="1">
                <a:solidFill>
                  <a:srgbClr val="2E7D32"/>
                </a:solidFill>
                <a:latin typeface="KaiTi"/>
              </a:rPr>
              <a:t>什</a:t>
            </a:r>
            <a:r>
              <a:rPr lang="ko-KR" altLang="en-US" sz="1800" b="1" dirty="0">
                <a:solidFill>
                  <a:srgbClr val="2E7D32"/>
                </a:solidFill>
                <a:latin typeface="KaiTi"/>
              </a:rPr>
              <a:t> </a:t>
            </a:r>
            <a:r>
              <a:rPr lang="ko-KR" altLang="en-US" sz="1800" b="1" dirty="0" err="1">
                <a:solidFill>
                  <a:srgbClr val="2E7D32"/>
                </a:solidFill>
                <a:latin typeface="KaiTi"/>
              </a:rPr>
              <a:t>么</a:t>
            </a:r>
            <a:r>
              <a:rPr lang="ko-KR" altLang="en-US" sz="1800" b="1" dirty="0">
                <a:solidFill>
                  <a:srgbClr val="2E7D32"/>
                </a:solidFill>
                <a:latin typeface="KaiTi"/>
              </a:rPr>
              <a:t> </a:t>
            </a:r>
            <a:r>
              <a:rPr lang="ko-KR" altLang="en-US" sz="1800" b="1" dirty="0" err="1">
                <a:solidFill>
                  <a:srgbClr val="2E7D32"/>
                </a:solidFill>
                <a:latin typeface="KaiTi"/>
              </a:rPr>
              <a:t>能</a:t>
            </a:r>
            <a:r>
              <a:rPr lang="ko-KR" altLang="en-US" sz="1800" b="1" dirty="0">
                <a:solidFill>
                  <a:srgbClr val="2E7D32"/>
                </a:solidFill>
                <a:latin typeface="KaiTi"/>
              </a:rPr>
              <a:t> </a:t>
            </a:r>
            <a:r>
              <a:rPr lang="ko-KR" altLang="en-US" sz="1800" b="1" dirty="0" err="1">
                <a:solidFill>
                  <a:srgbClr val="2E7D32"/>
                </a:solidFill>
                <a:latin typeface="KaiTi"/>
              </a:rPr>
              <a:t>源</a:t>
            </a:r>
            <a:r>
              <a:rPr lang="en-US" altLang="ko-KR" sz="1800" b="1" dirty="0">
                <a:solidFill>
                  <a:srgbClr val="2E7D32"/>
                </a:solidFill>
                <a:latin typeface="KaiTi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F9B60-649C-F464-7ECD-C9AA05EBB0EF}"/>
              </a:ext>
            </a:extLst>
          </p:cNvPr>
          <p:cNvSpPr txBox="1"/>
          <p:nvPr/>
        </p:nvSpPr>
        <p:spPr>
          <a:xfrm>
            <a:off x="4572000" y="264237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800" b="1" dirty="0">
                <a:solidFill>
                  <a:srgbClr val="C8253E"/>
                </a:solidFill>
                <a:latin typeface="KaiTi"/>
              </a:rPr>
              <a:t>❓ </a:t>
            </a:r>
            <a:r>
              <a:rPr lang="ko-KR" altLang="en-US" sz="1800" b="1" dirty="0" err="1">
                <a:solidFill>
                  <a:srgbClr val="C8253E"/>
                </a:solidFill>
                <a:latin typeface="KaiTi"/>
              </a:rPr>
              <a:t>会</a:t>
            </a:r>
            <a:r>
              <a:rPr lang="ko-KR" altLang="en-US" sz="1800" b="1" dirty="0">
                <a:solidFill>
                  <a:srgbClr val="C8253E"/>
                </a:solidFill>
                <a:latin typeface="KaiTi"/>
              </a:rPr>
              <a:t> </a:t>
            </a:r>
            <a:r>
              <a:rPr lang="ko-KR" altLang="en-US" sz="1800" b="1" dirty="0" err="1">
                <a:solidFill>
                  <a:srgbClr val="C8253E"/>
                </a:solidFill>
                <a:latin typeface="KaiTi"/>
              </a:rPr>
              <a:t>用</a:t>
            </a:r>
            <a:r>
              <a:rPr lang="ko-KR" altLang="en-US" sz="1800" b="1" dirty="0">
                <a:solidFill>
                  <a:srgbClr val="C8253E"/>
                </a:solidFill>
                <a:latin typeface="KaiTi"/>
              </a:rPr>
              <a:t> </a:t>
            </a:r>
            <a:r>
              <a:rPr lang="ko-KR" altLang="en-US" sz="1800" b="1" dirty="0" err="1">
                <a:solidFill>
                  <a:srgbClr val="C8253E"/>
                </a:solidFill>
                <a:latin typeface="KaiTi"/>
              </a:rPr>
              <a:t>完</a:t>
            </a:r>
            <a:r>
              <a:rPr lang="ko-KR" altLang="en-US" sz="1800" b="1" dirty="0">
                <a:solidFill>
                  <a:srgbClr val="C8253E"/>
                </a:solidFill>
                <a:latin typeface="KaiTi"/>
              </a:rPr>
              <a:t> </a:t>
            </a:r>
            <a:r>
              <a:rPr lang="ko-KR" altLang="en-US" sz="1800" b="1" dirty="0" err="1">
                <a:solidFill>
                  <a:srgbClr val="C8253E"/>
                </a:solidFill>
                <a:latin typeface="KaiTi"/>
              </a:rPr>
              <a:t>吗</a:t>
            </a:r>
            <a:r>
              <a:rPr lang="en-US" altLang="ko-KR" sz="1800" b="1" dirty="0">
                <a:solidFill>
                  <a:srgbClr val="C8253E"/>
                </a:solidFill>
                <a:latin typeface="KaiTi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885BA2-CFC6-7D3A-D05B-F402432FAE5B}"/>
              </a:ext>
            </a:extLst>
          </p:cNvPr>
          <p:cNvSpPr txBox="1"/>
          <p:nvPr/>
        </p:nvSpPr>
        <p:spPr>
          <a:xfrm>
            <a:off x="651007" y="3676967"/>
            <a:ext cx="3506724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base">
              <a:lnSpc>
                <a:spcPct val="130000"/>
              </a:lnSpc>
            </a:pPr>
            <a:r>
              <a:rPr lang="zh-CN" altLang="zh-CN"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科学家们发明了风力发电机，它能把风的能量提取出来，转化成我们日常需要的电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💧 水 坝  ·  Hydro 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想 一 想 → 看 答 案 — Think, then check the answer!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6970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📸 大 水 坝 + 流 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62272" y="162579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5192" y="1515170"/>
            <a:ext cx="3730752" cy="5129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水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力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!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它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来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自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流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动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的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水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Hydro — it comes from flowing water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水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流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→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推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动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机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器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→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发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电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340" y="3161538"/>
            <a:ext cx="3730752" cy="5129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不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会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!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水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一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直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流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KaiT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No — water keeps flowing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用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不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完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的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源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· Renewable!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17</a:t>
            </a:r>
          </a:p>
        </p:txBody>
      </p:sp>
      <p:pic>
        <p:nvPicPr>
          <p:cNvPr id="17" name="图片 1" descr="图片42(水印标记)">
            <a:extLst>
              <a:ext uri="{FF2B5EF4-FFF2-40B4-BE49-F238E27FC236}">
                <a16:creationId xmlns:a16="http://schemas.microsoft.com/office/drawing/2014/main" id="{A3B2B93A-B393-40DB-CF77-254C12548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86" y="947558"/>
            <a:ext cx="3452050" cy="23492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566525A-1C47-5453-5505-B13E47C6D632}"/>
              </a:ext>
            </a:extLst>
          </p:cNvPr>
          <p:cNvSpPr txBox="1"/>
          <p:nvPr/>
        </p:nvSpPr>
        <p:spPr>
          <a:xfrm>
            <a:off x="416052" y="3351490"/>
            <a:ext cx="3931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科学家发明了水利发电机，它能把水的能量提取出来，转化成我们日常需要的电</a:t>
            </a:r>
            <a:endParaRPr lang="zh-CN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4C3EE4-56D9-2686-D91B-2F5B6325F6EF}"/>
              </a:ext>
            </a:extLst>
          </p:cNvPr>
          <p:cNvSpPr txBox="1"/>
          <p:nvPr/>
        </p:nvSpPr>
        <p:spPr>
          <a:xfrm>
            <a:off x="4572000" y="10552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❓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这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是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什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么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能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855370-44D5-032F-DFB9-99650B64A032}"/>
              </a:ext>
            </a:extLst>
          </p:cNvPr>
          <p:cNvSpPr txBox="1"/>
          <p:nvPr/>
        </p:nvSpPr>
        <p:spPr>
          <a:xfrm>
            <a:off x="4626864" y="27190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❓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会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用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完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吗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C8253E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(水印标记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0" y="67090"/>
            <a:ext cx="9144476" cy="61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 dirty="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在新能源大家族中，太阳能、风能和水能是最常见的能源。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  <a:sym typeface="+mn-ea"/>
            </a:endParaRPr>
          </a:p>
          <a:p>
            <a:pPr algn="ctr" defTabSz="685800" fontAlgn="base">
              <a:lnSpc>
                <a:spcPct val="130000"/>
              </a:lnSpc>
            </a:pPr>
            <a:r>
              <a:rPr lang="zh-CN" altLang="zh-CN" sz="1400" dirty="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随着科技的不断发展，地热能、生物质能、核能等能源也纷纷加入了进来。</a:t>
            </a:r>
            <a:endParaRPr lang="zh-CN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5" name="图片 4" descr="太阳能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849" y="1234785"/>
            <a:ext cx="2132648" cy="2137410"/>
          </a:xfrm>
          <a:prstGeom prst="rect">
            <a:avLst/>
          </a:prstGeom>
        </p:spPr>
      </p:pic>
      <p:pic>
        <p:nvPicPr>
          <p:cNvPr id="6" name="图片 5" descr="水能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6295" y="1583163"/>
            <a:ext cx="1359694" cy="1547336"/>
          </a:xfrm>
          <a:prstGeom prst="rect">
            <a:avLst/>
          </a:prstGeom>
        </p:spPr>
      </p:pic>
      <p:pic>
        <p:nvPicPr>
          <p:cNvPr id="9" name="图片 8" descr="核能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2542" y="2267295"/>
            <a:ext cx="1216343" cy="2141220"/>
          </a:xfrm>
          <a:prstGeom prst="rect">
            <a:avLst/>
          </a:prstGeom>
        </p:spPr>
      </p:pic>
      <p:pic>
        <p:nvPicPr>
          <p:cNvPr id="11" name="图片 10" descr="生物质能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5252" y="1288125"/>
            <a:ext cx="1111091" cy="1805464"/>
          </a:xfrm>
          <a:prstGeom prst="rect">
            <a:avLst/>
          </a:prstGeom>
        </p:spPr>
      </p:pic>
      <p:pic>
        <p:nvPicPr>
          <p:cNvPr id="12" name="图片 11" descr="地热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029" y="2720685"/>
            <a:ext cx="2065973" cy="2117884"/>
          </a:xfrm>
          <a:prstGeom prst="rect">
            <a:avLst/>
          </a:prstGeom>
        </p:spPr>
      </p:pic>
      <p:pic>
        <p:nvPicPr>
          <p:cNvPr id="13" name="图片 12" descr="风能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4201" y="3368385"/>
            <a:ext cx="1886903" cy="14382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82209" y="984753"/>
            <a:ext cx="1118711" cy="3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太阳能</a:t>
            </a: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3574438" y="984753"/>
            <a:ext cx="1118711" cy="3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水能</a:t>
            </a: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6275252" y="931555"/>
            <a:ext cx="1118711" cy="3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生物质能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008528" y="3024056"/>
            <a:ext cx="1118711" cy="3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风能</a:t>
            </a: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473723" y="2927261"/>
            <a:ext cx="1118711" cy="3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地热能</a:t>
            </a: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7625421" y="4339935"/>
            <a:ext cx="1118711" cy="3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核能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  <p:sndAc>
          <p:stSnd>
            <p:snd r:embed="rId7" name="chimes.wav"/>
          </p:stSnd>
        </p:sndAc>
      </p:transition>
    </mc:Choice>
    <mc:Fallback xmlns="">
      <p:transition spd="med">
        <p:fade/>
        <p:sndAc>
          <p:stSnd>
            <p:snd r:embed="rId15" name="chimes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说一说(水印标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054" y="379074"/>
            <a:ext cx="4896240" cy="275413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954348" y="3290316"/>
            <a:ext cx="5493812" cy="12738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你有没有发现身边有哪些有意思的新能源产品？</a:t>
            </a:r>
          </a:p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这个产品用到了哪种新能源？</a:t>
            </a:r>
          </a:p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  <a:sym typeface="+mn-ea"/>
              </a:rPr>
              <a:t>这个产品可以用来做什么？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通用页背景(水印标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339366" y="77924"/>
            <a:ext cx="9144476" cy="36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这是什么？哪些小朋友的家里有用到它？</a:t>
            </a:r>
          </a:p>
        </p:txBody>
      </p:sp>
      <p:pic>
        <p:nvPicPr>
          <p:cNvPr id="2" name="图片 1" descr="图片44(水印标记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6174" y="444948"/>
            <a:ext cx="5957411" cy="4055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A91199-EAA5-C0EC-85D9-58E3BCDE7D09}"/>
              </a:ext>
            </a:extLst>
          </p:cNvPr>
          <p:cNvSpPr txBox="1"/>
          <p:nvPr/>
        </p:nvSpPr>
        <p:spPr>
          <a:xfrm>
            <a:off x="2324862" y="4562782"/>
            <a:ext cx="7395210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685800" fontAlgn="base">
              <a:lnSpc>
                <a:spcPct val="130000"/>
              </a:lnSpc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</a:t>
            </a:r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太阳能热水器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.</a:t>
            </a:r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有了它可以洗一个暖呼呼的热水澡。</a:t>
            </a:r>
          </a:p>
          <a:p>
            <a:pPr algn="l"/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通用页背景(水印标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161688" y="68782"/>
            <a:ext cx="9144476" cy="3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这是什么？哪些小朋友的有用到</a:t>
            </a: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见过</a:t>
            </a:r>
            <a:r>
              <a:rPr lang="zh-CN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它？</a:t>
            </a:r>
          </a:p>
        </p:txBody>
      </p:sp>
      <p:pic>
        <p:nvPicPr>
          <p:cNvPr id="2" name="图片 1" descr="图片45(水印标记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745" y="681514"/>
            <a:ext cx="3360420" cy="3703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 descr="图片46(水印标记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926" y="681514"/>
            <a:ext cx="3419951" cy="3767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73D3A7-95A6-24F9-5DB0-50A00AF4B41B}"/>
              </a:ext>
            </a:extLst>
          </p:cNvPr>
          <p:cNvSpPr txBox="1"/>
          <p:nvPr/>
        </p:nvSpPr>
        <p:spPr>
          <a:xfrm>
            <a:off x="1152144" y="4488238"/>
            <a:ext cx="7863840" cy="72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30000"/>
              </a:lnSpc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</a:t>
            </a:r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太阳能灯太阳能灯在白天吸收太阳的能量，到了晚上用这些能量为我们照明。</a:t>
            </a:r>
          </a:p>
          <a:p>
            <a:pPr algn="l">
              <a:lnSpc>
                <a:spcPct val="150000"/>
              </a:lnSpc>
            </a:pPr>
            <a:endParaRPr kumimoji="1" lang="zh-CN" altLang="en-US" sz="16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通用页背景(水印标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图片 1" descr="图片47(水印标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860" y="767050"/>
            <a:ext cx="4894279" cy="33995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0B6CAB-B163-0CF3-864B-4746FE927F6F}"/>
              </a:ext>
            </a:extLst>
          </p:cNvPr>
          <p:cNvSpPr txBox="1"/>
          <p:nvPr/>
        </p:nvSpPr>
        <p:spPr>
          <a:xfrm>
            <a:off x="1652825" y="90192"/>
            <a:ext cx="6227064" cy="50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这是什么？哪些小朋友的家里有用到它？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通用页背景(水印标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图片 1" descr="图片48(水印标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179" y="634249"/>
            <a:ext cx="5331142" cy="3641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BF500D-7C6B-9703-AB59-1DA86CDA82F8}"/>
              </a:ext>
            </a:extLst>
          </p:cNvPr>
          <p:cNvSpPr txBox="1"/>
          <p:nvPr/>
        </p:nvSpPr>
        <p:spPr>
          <a:xfrm>
            <a:off x="2384155" y="178750"/>
            <a:ext cx="4572000" cy="36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看看这是什么？你有在哪里见到过它吗？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93B3B0-E603-4FED-8A41-67C6ED2B098B}"/>
              </a:ext>
            </a:extLst>
          </p:cNvPr>
          <p:cNvSpPr txBox="1"/>
          <p:nvPr/>
        </p:nvSpPr>
        <p:spPr>
          <a:xfrm>
            <a:off x="1085707" y="4305359"/>
            <a:ext cx="7168896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base">
              <a:lnSpc>
                <a:spcPct val="130000"/>
              </a:lnSpc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	</a:t>
            </a:r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这是空气能空调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;</a:t>
            </a:r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空气能空调能从空气中吸收能量，然后将这些能量转换成冷气或热气，为我们解暑、供暖。</a:t>
            </a:r>
          </a:p>
          <a:p>
            <a:endParaRPr kumimoji="1" lang="zh-CN" alt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通用页背景(水印标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0" y="4506754"/>
            <a:ext cx="9144476" cy="246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en-US" sz="900" dirty="0">
                <a:solidFill>
                  <a:srgbClr val="58B7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</a:t>
            </a:r>
            <a:endParaRPr lang="zh-CN" altLang="zh-CN" sz="900" dirty="0">
              <a:solidFill>
                <a:srgbClr val="4BAFB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2" name="图片 1" descr="图片49(水印标记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431" y="518990"/>
            <a:ext cx="5061138" cy="3457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C1A24B-29F6-01EA-99B7-A2F69144F807}"/>
              </a:ext>
            </a:extLst>
          </p:cNvPr>
          <p:cNvSpPr txBox="1"/>
          <p:nvPr/>
        </p:nvSpPr>
        <p:spPr>
          <a:xfrm>
            <a:off x="2432304" y="75983"/>
            <a:ext cx="4572000" cy="36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看看这是什么？你有在哪里见到过它吗？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4E939-FEE5-8D7D-499D-703474D52731}"/>
              </a:ext>
            </a:extLst>
          </p:cNvPr>
          <p:cNvSpPr txBox="1"/>
          <p:nvPr/>
        </p:nvSpPr>
        <p:spPr>
          <a:xfrm>
            <a:off x="1252728" y="4052453"/>
            <a:ext cx="7333488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685800" fontAlgn="base">
              <a:lnSpc>
                <a:spcPct val="130000"/>
              </a:lnSpc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这是</a:t>
            </a:r>
            <a:r>
              <a:rPr lang="zh-CN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智能电动车充电桩</a:t>
            </a:r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,</a:t>
            </a: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它</a:t>
            </a:r>
            <a:r>
              <a:rPr lang="zh-CN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能取代传统电力</a:t>
            </a:r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,</a:t>
            </a:r>
            <a:r>
              <a:rPr lang="zh-CN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给爸爸妈妈的新能源车充电。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(水印标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1"/>
            </p:custDataLst>
          </p:nvPr>
        </p:nvSpPr>
        <p:spPr>
          <a:xfrm>
            <a:off x="0" y="4249388"/>
            <a:ext cx="9144476" cy="761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30000"/>
              </a:lnSpc>
            </a:pPr>
            <a:r>
              <a:rPr lang="zh-CN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新能源可以运用在生活的方方面面，相信在未来一定还会有更多的新能源技术出现，帮助我们的生活会变得更加环保与美好。</a:t>
            </a:r>
          </a:p>
        </p:txBody>
      </p:sp>
      <p:pic>
        <p:nvPicPr>
          <p:cNvPr id="3" name="图片 2" descr="图片49(水印标记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730" y="2623661"/>
            <a:ext cx="2029778" cy="1493520"/>
          </a:xfrm>
          <a:prstGeom prst="rect">
            <a:avLst/>
          </a:prstGeom>
        </p:spPr>
      </p:pic>
      <p:pic>
        <p:nvPicPr>
          <p:cNvPr id="5" name="图片 4" descr="图片48(水印标记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672" y="2625567"/>
            <a:ext cx="1799749" cy="1492091"/>
          </a:xfrm>
          <a:prstGeom prst="rect">
            <a:avLst/>
          </a:prstGeom>
        </p:spPr>
      </p:pic>
      <p:pic>
        <p:nvPicPr>
          <p:cNvPr id="6" name="图片 5" descr="图片47(水印标记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1811" y="2625091"/>
            <a:ext cx="1783080" cy="1492091"/>
          </a:xfrm>
          <a:prstGeom prst="rect">
            <a:avLst/>
          </a:prstGeom>
        </p:spPr>
      </p:pic>
      <p:pic>
        <p:nvPicPr>
          <p:cNvPr id="7" name="图片 6" descr="图片46(水印标记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2574" y="2602707"/>
            <a:ext cx="1392079" cy="1534001"/>
          </a:xfrm>
          <a:prstGeom prst="rect">
            <a:avLst/>
          </a:prstGeom>
        </p:spPr>
      </p:pic>
      <p:pic>
        <p:nvPicPr>
          <p:cNvPr id="8" name="图片 7" descr="图片45(水印标记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644" y="2602706"/>
            <a:ext cx="1243965" cy="1533525"/>
          </a:xfrm>
          <a:prstGeom prst="rect">
            <a:avLst/>
          </a:prstGeom>
        </p:spPr>
      </p:pic>
      <p:pic>
        <p:nvPicPr>
          <p:cNvPr id="9" name="图片 8" descr="图片41(水印标记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460" y="805339"/>
            <a:ext cx="2162175" cy="1470660"/>
          </a:xfrm>
          <a:prstGeom prst="rect">
            <a:avLst/>
          </a:prstGeom>
        </p:spPr>
      </p:pic>
      <p:pic>
        <p:nvPicPr>
          <p:cNvPr id="10" name="图片 9" descr="图片43(水印标记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3656" y="796767"/>
            <a:ext cx="1642586" cy="1458754"/>
          </a:xfrm>
          <a:prstGeom prst="rect">
            <a:avLst/>
          </a:prstGeom>
        </p:spPr>
      </p:pic>
      <p:pic>
        <p:nvPicPr>
          <p:cNvPr id="11" name="图片 10" descr="图片44(水印标记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7030" y="805339"/>
            <a:ext cx="2192655" cy="1493044"/>
          </a:xfrm>
          <a:prstGeom prst="rect">
            <a:avLst/>
          </a:prstGeom>
        </p:spPr>
      </p:pic>
      <p:pic>
        <p:nvPicPr>
          <p:cNvPr id="12" name="图片 11" descr="图片42(水印标记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5782" y="840105"/>
            <a:ext cx="2168843" cy="14763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🛢️ 煤 / 石 油  ·  Coal / 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A3A"/>
                </a:solidFill>
                <a:latin typeface="KaiTi"/>
              </a:rPr>
              <a:t>📸 一 堆 黑 煤 + 油 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化 石 能 源 — 煤 和 石 油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Fossil energy — coal &amp; oil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烧 了 才 有 能 量 · Burned for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会! 挖 完 了 就 没 了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Yes — once dug up, it's gone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还 会 有 黑 烟 污 染 · Makes smoke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「化 石 能 源 会 用 完.」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Fossil energy runs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🚗 太 阳 能 小 车  ·  Solar toy 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📸 一 辆 太 阳 能 小 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太 阳 能! 车 顶 有 太 阳 能 板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Solar — the panel is on top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晒 到 太 阳 就 会 跑 · Runs in sunlight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只 要 有 太 阳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as long as there's sun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下 午 我 们 就 来 做 一 个! · We'll build one!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「太 阳 能 来 自 太 阳.」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🏆 小 组 游 戏  ·  能 源 大 分 类!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把 8 张 卡 片 分 一 分 — 哪 些 「用 不 完」? 哪 些 「用 得 完」?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A03D"/>
                </a:solidFill>
                <a:latin typeface="KaiTi"/>
              </a:rPr>
              <a:t>✅ 用 不 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Never runs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93192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325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A3A"/>
                </a:solidFill>
                <a:latin typeface="KaiTi"/>
              </a:rPr>
              <a:t>❌ 用 得 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828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Runs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🎴 卡 片 (每 组 一 套 · 8 张):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太 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59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59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7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2032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42032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流 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75304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75304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瀑 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08576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08576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41848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41848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🛢️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0136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石 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天 然 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08392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08392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太 阳 能 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160520"/>
            <a:ext cx="8412480" cy="777240"/>
          </a:xfrm>
          <a:prstGeom prst="roundRect">
            <a:avLst/>
          </a:prstGeom>
          <a:solidFill>
            <a:srgbClr val="42A5F5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2336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👥 全 班 分 4-5 组 · 把 卡 片 放 到 对 的 一 边!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5445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Split into groups · sort the 8 cards into the right bin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🔤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📚 下 午 2:00–2:45  ·  词 汇 + 节 约 + 游 戏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D2B9F-A142-D418-D494-0890EECB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9AD486-747F-C758-3555-BE16ACDF6912}"/>
              </a:ext>
            </a:extLst>
          </p:cNvPr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EC6DA-A292-8D91-F769-61621F260C6C}"/>
              </a:ext>
            </a:extLst>
          </p:cNvPr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🎮 复 习 · Bamboozle 大 复 习  · 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D02C6-218C-FE4D-9B84-7082BF00C096}"/>
              </a:ext>
            </a:extLst>
          </p:cNvPr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复 习 游 戏 — 分 组 抢 答!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0D8EB6-F6B7-BCE8-3C44-273B76FB119C}"/>
              </a:ext>
            </a:extLst>
          </p:cNvPr>
          <p:cNvSpPr/>
          <p:nvPr/>
        </p:nvSpPr>
        <p:spPr>
          <a:xfrm>
            <a:off x="365760" y="1143000"/>
            <a:ext cx="4023360" cy="324612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A105C-48E7-566B-0DF6-2EA704B840F7}"/>
              </a:ext>
            </a:extLst>
          </p:cNvPr>
          <p:cNvSpPr txBox="1"/>
          <p:nvPr/>
        </p:nvSpPr>
        <p:spPr>
          <a:xfrm>
            <a:off x="365760" y="14173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600" b="0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🎮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0A57F1-BB8A-795C-B2C3-C57DEC8CEF30}"/>
              </a:ext>
            </a:extLst>
          </p:cNvPr>
          <p:cNvSpPr/>
          <p:nvPr/>
        </p:nvSpPr>
        <p:spPr>
          <a:xfrm>
            <a:off x="960120" y="2606040"/>
            <a:ext cx="2103120" cy="54864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9C054-09AD-C63D-408D-CE93C14126B7}"/>
              </a:ext>
            </a:extLst>
          </p:cNvPr>
          <p:cNvSpPr txBox="1"/>
          <p:nvPr/>
        </p:nvSpPr>
        <p:spPr>
          <a:xfrm>
            <a:off x="960120" y="26974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▶️  开 始 复 习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C4CF23-E97F-FC34-F2B4-78D7AC965B9D}"/>
              </a:ext>
            </a:extLst>
          </p:cNvPr>
          <p:cNvSpPr/>
          <p:nvPr/>
        </p:nvSpPr>
        <p:spPr>
          <a:xfrm>
            <a:off x="640080" y="3611880"/>
            <a:ext cx="3474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6CCB87-B583-7158-C3E2-A5BFE79FFE26}"/>
              </a:ext>
            </a:extLst>
          </p:cNvPr>
          <p:cNvSpPr txBox="1"/>
          <p:nvPr/>
        </p:nvSpPr>
        <p:spPr>
          <a:xfrm>
            <a:off x="777240" y="37033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🔗 链 接: ______________  (老 师 粘 贴)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8A93650-9877-D4F5-B287-55680847FCF9}"/>
              </a:ext>
            </a:extLst>
          </p:cNvPr>
          <p:cNvSpPr/>
          <p:nvPr/>
        </p:nvSpPr>
        <p:spPr>
          <a:xfrm>
            <a:off x="4663440" y="1143000"/>
            <a:ext cx="4114800" cy="3246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7541AD3-5C6A-C480-4519-EED7402D78A4}"/>
              </a:ext>
            </a:extLst>
          </p:cNvPr>
          <p:cNvSpPr/>
          <p:nvPr/>
        </p:nvSpPr>
        <p:spPr>
          <a:xfrm>
            <a:off x="4663440" y="1143000"/>
            <a:ext cx="411480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8775CF-83CE-F987-653E-C8DE151734FC}"/>
              </a:ext>
            </a:extLst>
          </p:cNvPr>
          <p:cNvSpPr txBox="1"/>
          <p:nvPr/>
        </p:nvSpPr>
        <p:spPr>
          <a:xfrm>
            <a:off x="4800600" y="1207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📋 怎 么 玩  How to Play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1E32C-B09F-DB6F-BF8A-18EFAA6FC1C0}"/>
              </a:ext>
            </a:extLst>
          </p:cNvPr>
          <p:cNvSpPr txBox="1"/>
          <p:nvPr/>
        </p:nvSpPr>
        <p:spPr>
          <a:xfrm>
            <a:off x="4800600" y="178308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1. 老 师 点 开 上 面 的 链 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3BA0A0-69C6-F2E6-790B-AE58CAECD0E4}"/>
              </a:ext>
            </a:extLst>
          </p:cNvPr>
          <p:cNvSpPr txBox="1"/>
          <p:nvPr/>
        </p:nvSpPr>
        <p:spPr>
          <a:xfrm>
            <a:off x="4800600" y="235000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2. 全 班 分 2-3 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2DEC52-29C2-173C-77F8-C47CED69AC1B}"/>
              </a:ext>
            </a:extLst>
          </p:cNvPr>
          <p:cNvSpPr txBox="1"/>
          <p:nvPr/>
        </p:nvSpPr>
        <p:spPr>
          <a:xfrm>
            <a:off x="4800600" y="2916936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3. 轮 流 抢 答, 答 对 加 分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56E74-D90E-4DD9-9ED8-E10CAE58AFFA}"/>
              </a:ext>
            </a:extLst>
          </p:cNvPr>
          <p:cNvSpPr txBox="1"/>
          <p:nvPr/>
        </p:nvSpPr>
        <p:spPr>
          <a:xfrm>
            <a:off x="4800600" y="3483863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4. 复 习 今 天: 能 源 + 节 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19F297-C870-8050-6F71-ADE1E6E9872D}"/>
              </a:ext>
            </a:extLst>
          </p:cNvPr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aiTi"/>
                <a:ea typeface="+mn-ea"/>
                <a:cs typeface="+mn-c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57137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地 球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dì qiú  ·  Earth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2A5F5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蓝 色 的 地 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2A5F5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 们 住 在 地 球 上.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We live on Earth.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资 源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8B5A2B"/>
                </a:solidFill>
                <a:latin typeface="KaiTi"/>
              </a:rPr>
              <a:t>资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zī yuán  · 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5A2B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5A2B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5A2B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水 / 树 / 矿 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B5A2B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地 球 的 资 源 有 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Earth's resources are limited.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能 源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65C00"/>
                </a:solidFill>
                <a:latin typeface="KaiTi"/>
              </a:rPr>
              <a:t>能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néng yuán  · 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C00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5C00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C00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闪 电 / 电 池 / 插 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5C00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灯 和 车 都 需 要 能 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Lights and cars need energy.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太 阳 能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tài yáng néng  ·  solar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C242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太 阳 + 太 阳 能 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C242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太 阳 能 来 自 太 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节 约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jié yuē  ·  save / conserve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A03D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关 灯 的 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A03D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 们 要 节 约 用 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We should save electricity.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🔗 配 对 游 戏  ·  Match the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把 字 跟 图 连 起 来!  Match each word with its picture!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8016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01952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5A2B"/>
                </a:solidFill>
                <a:latin typeface="KaiT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A2B"/>
                </a:solidFill>
                <a:latin typeface="KaiTi"/>
              </a:rPr>
              <a:t>资 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15184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06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06624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5C00"/>
                </a:solidFill>
                <a:latin typeface="KaiTi"/>
              </a:rPr>
              <a:t>能 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28415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419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1985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41648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33087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1188720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234440"/>
            <a:ext cx="2606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dirty="0" err="1">
                <a:solidFill>
                  <a:srgbClr val="2C2C2C"/>
                </a:solidFill>
                <a:latin typeface="KaiTi"/>
              </a:rPr>
              <a:t>换节约图片</a:t>
            </a:r>
            <a:endParaRPr sz="2800" b="0" dirty="0">
              <a:solidFill>
                <a:srgbClr val="2C2C2C"/>
              </a:solidFill>
              <a:latin typeface="KaiT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94960" y="1901952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6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9476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2615184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2706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66090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3328415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94960" y="3419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374135"/>
            <a:ext cx="2606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dirty="0" err="1">
                <a:solidFill>
                  <a:srgbClr val="2C2C2C"/>
                </a:solidFill>
                <a:latin typeface="KaiTi"/>
              </a:rPr>
              <a:t>换资源图片</a:t>
            </a:r>
            <a:endParaRPr sz="2800" b="0" dirty="0">
              <a:solidFill>
                <a:srgbClr val="2C2C2C"/>
              </a:solidFill>
              <a:latin typeface="KaiT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394960" y="4041648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94960" y="41330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4087368"/>
            <a:ext cx="2606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rgbClr val="2C2C2C"/>
                </a:solidFill>
                <a:latin typeface="KaiTi"/>
              </a:rPr>
              <a:t>换能源图片</a:t>
            </a:r>
            <a:endParaRPr lang="ko-KR" altLang="en-US" sz="2800" dirty="0">
              <a:solidFill>
                <a:srgbClr val="2C2C2C"/>
              </a:solidFill>
              <a:latin typeface="KaiT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65760" y="4754880"/>
            <a:ext cx="8412480" cy="2743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✏️ 我 会 写 · 地 球  I Can Write · Earth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310896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840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88"/>
                </a:solidFill>
                <a:latin typeface="KaiTi"/>
              </a:rPr>
              <a:t>dì  qiú  ·  Earth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2A5F5"/>
                </a:solidFill>
                <a:latin typeface="KaiTi"/>
              </a:rPr>
              <a:t>17 笔 / 17 strokes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91440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2A5F5"/>
                </a:solidFill>
                <a:latin typeface="KaiTi"/>
              </a:rPr>
              <a:t>✏️ 3 步练习  3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17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看老师写  Watch 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2️⃣ 用手指空中写  Air-write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3️⃣ 在田字格写 3 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5206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562356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0362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7512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667512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5518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26679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7726679" y="3086100"/>
            <a:ext cx="960121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0674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36118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在 田 字 格 里 写 3 次 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14800"/>
            <a:ext cx="8412480" cy="56692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2A5F5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和 我 一 起 写 「地 球」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1605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2A5F5"/>
                </a:solidFill>
                <a:latin typeface="KaiTi"/>
              </a:rPr>
              <a:t>🧒 学生 Student does: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8912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看 → 空中写 → 田字格写 3 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✏️ 我 会 写 · 节 约  I Can Write · save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310896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840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88"/>
                </a:solidFill>
                <a:latin typeface="KaiTi"/>
              </a:rPr>
              <a:t>jié  yuē  ·  save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A03D"/>
                </a:solidFill>
                <a:latin typeface="KaiTi"/>
              </a:rPr>
              <a:t>11 笔 / 11 strokes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91440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A03D"/>
                </a:solidFill>
                <a:latin typeface="KaiTi"/>
              </a:rPr>
              <a:t>✏️ 3 步练习  3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17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看老师写  Watch 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2️⃣ 用手指空中写  Air-write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3️⃣ 在田字格写 3 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5206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562356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0362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7512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667512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5518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26679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7726679" y="3086100"/>
            <a:ext cx="960121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0674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36118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在 田 字 格 里 写 3 次 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14800"/>
            <a:ext cx="8412480" cy="56692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A03D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和 我 一 起 写 「节 约」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1605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A03D"/>
                </a:solidFill>
                <a:latin typeface="KaiTi"/>
              </a:rPr>
              <a:t>🧒 学生 Student does: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8912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看 → 空中写 → 田字格写 3 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💭 今 天 我 学 会 了 ...  Today I Learned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KaiTi"/>
              </a:rPr>
              <a:t>想 一 想 — 用 一 句 话 说 出 你 学 到 的!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8046720" cy="137160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KaiTi"/>
              </a:rPr>
              <a:t>「今 天 我 学 会 了 ____________.」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3E0"/>
                </a:solidFill>
                <a:latin typeface="KaiTi"/>
              </a:rPr>
              <a:t>"Today I learned ___."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899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899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19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太 阳 能 来 自 太 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1739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1739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7459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风 能 来 自 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0580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0580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6970"/>
                </a:solidFill>
                <a:latin typeface="KaiTi"/>
              </a:rPr>
              <a:t>水 力 来 自 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9420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89420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5140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我 会 节 约 资 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🔧 Session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🔧 下 午  ·  我 是 小 小 能 源 工 程 师!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FFFFF"/>
                </a:solidFill>
                <a:latin typeface="KaiTi"/>
              </a:rPr>
              <a:t>📓 </a:t>
            </a:r>
            <a:r>
              <a:rPr sz="2000" b="1" dirty="0" err="1">
                <a:solidFill>
                  <a:srgbClr val="FFFFFF"/>
                </a:solidFill>
                <a:latin typeface="KaiTi"/>
              </a:rPr>
              <a:t>先</a:t>
            </a:r>
            <a:r>
              <a:rPr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KaiTi"/>
              </a:rPr>
              <a:t>完</a:t>
            </a:r>
            <a:r>
              <a:rPr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KaiTi"/>
              </a:rPr>
              <a:t>成</a:t>
            </a:r>
            <a:r>
              <a:rPr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KaiTi"/>
              </a:rPr>
              <a:t>练</a:t>
            </a:r>
            <a:r>
              <a:rPr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KaiTi"/>
              </a:rPr>
              <a:t>习</a:t>
            </a:r>
            <a:r>
              <a:rPr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KaiTi"/>
              </a:rPr>
              <a:t>册</a:t>
            </a:r>
            <a:r>
              <a:rPr sz="2000" b="1" dirty="0">
                <a:solidFill>
                  <a:srgbClr val="FFFFFF"/>
                </a:solidFill>
                <a:latin typeface="KaiTi"/>
              </a:rPr>
              <a:t>!  ·  Booklet First</a:t>
            </a:r>
            <a:r>
              <a:rPr lang="zh-CN" altLang="en-US"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KaiTi"/>
              </a:rPr>
              <a:t>–</a:t>
            </a:r>
            <a:r>
              <a:rPr lang="zh-CN" altLang="en-US" sz="2000" b="1" dirty="0">
                <a:solidFill>
                  <a:srgbClr val="FFFFFF"/>
                </a:solidFill>
                <a:latin typeface="KaiTi"/>
              </a:rPr>
              <a:t> 放截图</a:t>
            </a:r>
            <a:endParaRPr sz="2000" b="1" dirty="0">
              <a:solidFill>
                <a:srgbClr val="FFFFFF"/>
              </a:solidFill>
              <a:latin typeface="KaiT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KaiTi"/>
              </a:rPr>
              <a:t>Project</a:t>
            </a:r>
            <a:r>
              <a:rPr lang="zh-CN" altLang="en-US"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KaiTi"/>
              </a:rPr>
              <a:t>-</a:t>
            </a:r>
            <a:r>
              <a:rPr lang="zh-CN" altLang="en-US" sz="2000" b="1" dirty="0">
                <a:solidFill>
                  <a:srgbClr val="FFFFFF"/>
                </a:solidFill>
                <a:latin typeface="KaiTi"/>
              </a:rPr>
              <a:t> </a:t>
            </a:r>
            <a:endParaRPr sz="2000" b="1" dirty="0">
              <a:solidFill>
                <a:srgbClr val="FFFFFF"/>
              </a:solidFill>
              <a:latin typeface="KaiT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FAB5-AA94-EC8A-4CCF-A9DB144F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2A7A8DF-0110-75F4-C421-63FE7CA2BEBF}"/>
              </a:ext>
            </a:extLst>
          </p:cNvPr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411B6-ADF4-DD33-F042-D1103E281FFD}"/>
              </a:ext>
            </a:extLst>
          </p:cNvPr>
          <p:cNvSpPr txBox="1"/>
          <p:nvPr/>
        </p:nvSpPr>
        <p:spPr>
          <a:xfrm>
            <a:off x="365760" y="164592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KaiTi"/>
              </a:rPr>
              <a:t>Project</a:t>
            </a:r>
            <a:r>
              <a:rPr lang="zh-CN" altLang="en-US"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KaiTi"/>
              </a:rPr>
              <a:t>-</a:t>
            </a:r>
            <a:r>
              <a:rPr lang="zh-CN" altLang="en-US" sz="2000" b="1" dirty="0">
                <a:solidFill>
                  <a:srgbClr val="FFFFFF"/>
                </a:solidFill>
                <a:latin typeface="KaiTi"/>
              </a:rPr>
              <a:t> </a:t>
            </a:r>
            <a:endParaRPr sz="2000" b="1" dirty="0">
              <a:solidFill>
                <a:srgbClr val="FFFFFF"/>
              </a:solidFill>
              <a:latin typeface="KaiT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5D97E-AE63-DAD2-ACC3-2975741BC333}"/>
              </a:ext>
            </a:extLst>
          </p:cNvPr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420168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3589D-FBB3-1500-B719-00DDA0417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A6796BE-E858-72F0-9786-33BFE96473EB}"/>
              </a:ext>
            </a:extLst>
          </p:cNvPr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662D9-890D-0235-528B-426DB1C0ADD1}"/>
              </a:ext>
            </a:extLst>
          </p:cNvPr>
          <p:cNvSpPr txBox="1"/>
          <p:nvPr/>
        </p:nvSpPr>
        <p:spPr>
          <a:xfrm>
            <a:off x="365760" y="164592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KaiTi"/>
              </a:rPr>
              <a:t>Project</a:t>
            </a:r>
            <a:r>
              <a:rPr lang="zh-CN" altLang="en-US" sz="2000" b="1" dirty="0">
                <a:solidFill>
                  <a:srgbClr val="FFFFFF"/>
                </a:solidFill>
                <a:latin typeface="KaiTi"/>
              </a:rPr>
              <a:t> </a:t>
            </a:r>
            <a:r>
              <a:rPr lang="en-US" altLang="zh-CN" sz="2000" b="1" dirty="0">
                <a:solidFill>
                  <a:srgbClr val="FFFFFF"/>
                </a:solidFill>
                <a:latin typeface="KaiTi"/>
              </a:rPr>
              <a:t>-</a:t>
            </a:r>
            <a:r>
              <a:rPr lang="zh-CN" altLang="en-US" sz="2000" b="1" dirty="0">
                <a:solidFill>
                  <a:srgbClr val="FFFFFF"/>
                </a:solidFill>
                <a:latin typeface="KaiTi"/>
              </a:rPr>
              <a:t> </a:t>
            </a:r>
            <a:endParaRPr sz="2000" b="1" dirty="0">
              <a:solidFill>
                <a:srgbClr val="FFFFFF"/>
              </a:solidFill>
              <a:latin typeface="KaiT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4B576E-3ED2-B867-EE1F-D4744600AD54}"/>
              </a:ext>
            </a:extLst>
          </p:cNvPr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3672724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🎤 分 享 + 再 见!  Share + Goodbye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8412480" cy="1874519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💬 今 天 我 学 了 — 句 型  Today's Sentence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「___ 能 来 自 ___.」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「我 会 节 约 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3E0"/>
                </a:solidFill>
                <a:latin typeface="KaiTi"/>
              </a:rPr>
              <a:t>___ energy comes from ___.  ·  I will save 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26080"/>
            <a:ext cx="8412480" cy="1920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2A5F5"/>
                </a:solidFill>
                <a:latin typeface="KaiTi"/>
              </a:rPr>
              <a:t>🔮 明 天 见  See You Tomorrow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2C2C"/>
                </a:solidFill>
                <a:latin typeface="KaiTi"/>
              </a:rPr>
              <a:t>🌍  更 多 爱 护 地 球 的 行 动!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More ways to protect our Earth!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👋 想 一 想: 你 今 天 最 喜 欢 的 是 什 么?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49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DC3B3"/>
        </a:solidFill>
        <a:ln>
          <a:noFill/>
        </a:ln>
      </a:spPr>
      <a:bodyPr rtlCol="0" anchor="ctr"/>
      <a:lstStyle>
        <a:defPPr marL="342900" indent="-342900" algn="l">
          <a:lnSpc>
            <a:spcPct val="150000"/>
          </a:lnSpc>
          <a:buFont typeface="Wingdings" panose="05000000000000000000" charset="0"/>
          <a:buChar char="l"/>
          <a:defRPr lang="zh-CN" altLang="en-US" sz="2400">
            <a:solidFill>
              <a:schemeClr val="tx1"/>
            </a:solidFill>
            <a:latin typeface="黑体" panose="02010609060101010101" charset="-122"/>
            <a:ea typeface="黑体" panose="02010609060101010101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lang="zh-CN" altLang="zh-CN" sz="2000">
            <a:solidFill>
              <a:srgbClr val="FF0000"/>
            </a:solidFill>
            <a:latin typeface="黑体" panose="02010609060101010101" charset="-122"/>
            <a:ea typeface="黑体" panose="02010609060101010101" charset="-122"/>
            <a:cs typeface="黑体" panose="02010609060101010101" charset="-122"/>
            <a:sym typeface="+mn-ea"/>
          </a:defRPr>
        </a:defPPr>
      </a:lstStyle>
    </a:tx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3610</Words>
  <Application>Microsoft Macintosh PowerPoint</Application>
  <PresentationFormat>On-screen Show (16:9)</PresentationFormat>
  <Paragraphs>484</Paragraphs>
  <Slides>45</Slides>
  <Notes>36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KaiTi</vt:lpstr>
      <vt:lpstr>黑体</vt:lpstr>
      <vt:lpstr>Arial</vt:lpstr>
      <vt:lpstr>Calibri</vt:lpstr>
      <vt:lpstr>Wingdings</vt:lpstr>
      <vt:lpstr>Office Theme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什么是新能源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Huan Li</cp:lastModifiedBy>
  <cp:revision>15</cp:revision>
  <dcterms:created xsi:type="dcterms:W3CDTF">2013-01-27T09:14:16Z</dcterms:created>
  <dcterms:modified xsi:type="dcterms:W3CDTF">2026-06-03T04:52:26Z</dcterms:modified>
  <cp:category/>
</cp:coreProperties>
</file>