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📍 Day 2 · 能 量 从 哪 里 来? (可 再 生 能 源)</a:t>
            </a:r>
          </a:p>
          <a:p>
            <a:r>
              <a:t>👩‍🏫 老 师 说: 「今 天 我 们 是 小 小 能 源 工 程 师 — 帮 地 球 找 用 不 完 的 能 源!」</a:t>
            </a:r>
          </a:p>
          <a:p>
            <a:r>
              <a:t>⏱️ 1 分 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热 身 3-4 分 钟</a:t>
            </a:r>
          </a:p>
          <a:p>
            <a:r>
              <a:t>👩‍🏫 问: 「这 些 东 西 不 动 了 — 少 了 什 么?」</a:t>
            </a:r>
          </a:p>
          <a:p>
            <a:r>
              <a:t>💡 引 出 「能 量 / 能 源」, 先 不 讲 来 源 — 留 给 下 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概 念 2-3 分 钟</a:t>
            </a:r>
          </a:p>
          <a:p>
            <a:r>
              <a:t>💡 用 身 边 例 子: 教 室 的 灯, 校 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Think-Pair-Share 3-4 分 钟</a:t>
            </a:r>
          </a:p>
          <a:p>
            <a:r>
              <a:t>💡 老 师 把 答 案 记 在 黑 板: 太 阳? 风? 电? 油? — 不 评 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 石 能 源 3 分 钟</a:t>
            </a:r>
          </a:p>
          <a:p>
            <a:r>
              <a:t>💡 重 点: 煤/石 油/天 然 气 = 现 在 用 得 最 多 的 能 源</a:t>
            </a:r>
          </a:p>
          <a:p>
            <a:r>
              <a:t>下 一 页 揭 出 「问 题」: 会 用 完 + 污 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个 问 题 3 分 钟</a:t>
            </a:r>
          </a:p>
          <a:p>
            <a:r>
              <a:t>💡 目 标 1: 地 球 资 源 有 限</a:t>
            </a:r>
          </a:p>
          <a:p>
            <a:r>
              <a:t>用 手 比 划: 「挖 — 挖 — 没 了!」</a:t>
            </a:r>
          </a:p>
          <a:p>
            <a:r>
              <a:t>引 出 下 一 页 的 对 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 比 4 分 钟 — 全 课 的 核 心!</a:t>
            </a:r>
          </a:p>
          <a:p>
            <a:r>
              <a:t>💡 目 标 1+2: 资 源 有 限 → 选 可 再 生</a:t>
            </a:r>
          </a:p>
          <a:p>
            <a:r>
              <a:t>左 边 (黑): 用 得 完 + 污 染; 右 边 (绿): 用 不 完 + 干 净</a:t>
            </a:r>
          </a:p>
          <a:p>
            <a:r>
              <a:t>问: 「你 想 用 哪 种? 为 什 么?」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 持 续 2-3 分 钟</a:t>
            </a:r>
          </a:p>
          <a:p>
            <a:r>
              <a:t>💡 目 标 2: 不 用 把 「可 持 续 发 展」 讲 太 深 — 「用 不 完 = 地 球 一 直 够 用」 即 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太 阳 能 2-3 分 钟</a:t>
            </a:r>
          </a:p>
          <a:p>
            <a:r>
              <a:t>💡 用 句 型 「太 阳 能 来 自 ___」 跟 读 3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 能 2-3 分 钟</a:t>
            </a:r>
          </a:p>
          <a:p>
            <a:r>
              <a:t>💡 用 句 型 「风 能 来 自 ___」 跟 读 3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水 力 2-3 分 钟</a:t>
            </a:r>
          </a:p>
          <a:p>
            <a:r>
              <a:t>💡 用 句 型 「水 力 来 自 ___」 跟 读 3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猜 一 猜 2 分 钟</a:t>
            </a:r>
          </a:p>
          <a:p>
            <a:r>
              <a:t>💡 答 案: B 风 能! 风 吹 → 风 车 转 → 发 电</a:t>
            </a:r>
          </a:p>
          <a:p>
            <a:r>
              <a:t>让 学 生 用 句 型: 「风 能 来 自 风」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☀️ 太 阳 能 板 1-2 分 钟</a:t>
            </a:r>
          </a:p>
          <a:p>
            <a:r>
              <a:t>💡 全 班 用 句 型 说 一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💨 风 力 发 电 机 1-2 分 钟</a:t>
            </a:r>
          </a:p>
          <a:p>
            <a:r>
              <a:t>💡 全 班 用 句 型 说 一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💧 水 坝 1-2 分 钟</a:t>
            </a:r>
          </a:p>
          <a:p>
            <a:r>
              <a:t>💡 全 班 用 句 型 说 一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🛢️ 煤 / 石 油 1-2 分 钟</a:t>
            </a:r>
          </a:p>
          <a:p>
            <a:r>
              <a:t>💡 全 班 用 句 型 说 一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🚗 太 阳 能 小 车 1-2 分 钟</a:t>
            </a:r>
          </a:p>
          <a:p>
            <a:r>
              <a:t>💡 全 班 用 句 型 说 一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 类 游 戏 5-6 分 钟</a:t>
            </a:r>
          </a:p>
          <a:p>
            <a:r>
              <a:t>💡 答 案: 用 不 完 = 太 阳/风/流 水/瀑 布/太 阳 能 板; 用 得 完 = 煤/石 油/天 然 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 布 答 案 3-4 分 钟</a:t>
            </a:r>
          </a:p>
          <a:p>
            <a:r>
              <a:t>💡 重 点 不 是 输 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 5-6 分 钟 (5-8 位 学 生)</a:t>
            </a:r>
          </a:p>
          <a:p>
            <a:r>
              <a:t>💡 K 级: 说 「太 阳 能」 即 可; G1-3: 整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 会 认 · 地 球 2-3 分 钟</a:t>
            </a:r>
          </a:p>
          <a:p>
            <a:r>
              <a:t>💡 跟 读 3 遍 + 造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 会 认 · 资 源 2-3 分 钟</a:t>
            </a:r>
          </a:p>
          <a:p>
            <a:r>
              <a:t>💡 跟 读 3 遍 + 造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 会 认 · 能 源 2-3 分 钟</a:t>
            </a:r>
          </a:p>
          <a:p>
            <a:r>
              <a:t>💡 跟 读 3 遍 + 造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 会 认 · 太 阳 能 2-3 分 钟</a:t>
            </a:r>
          </a:p>
          <a:p>
            <a:r>
              <a:t>💡 跟 读 3 遍 + 造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 会 认 · 节 约 2-3 分 钟</a:t>
            </a:r>
          </a:p>
          <a:p>
            <a:r>
              <a:t>💡 跟 读 3 遍 + 造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 对 3-4 分 钟</a:t>
            </a:r>
          </a:p>
          <a:p>
            <a:r>
              <a:t>💡 1地球-E🌍 · 2资源-D⛏️ · 3能源-A⚡ · 4太阳能-B☀️ · 5节约-C💡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拍 词 卡 4-5 分 钟</a:t>
            </a:r>
          </a:p>
          <a:p>
            <a:r>
              <a:t>💡 轻 拍! 不 是 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句 型 练 习 5 分 钟 — 两 个 目 标 句 型</a:t>
            </a:r>
          </a:p>
          <a:p>
            <a:r>
              <a:t>💡 走 动 听, 请 2-3 对 上 来 示 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 会 写 · 地 球 3-4 分 钟</a:t>
            </a:r>
          </a:p>
          <a:p>
            <a:r>
              <a:t>💡 看 老 师 写 → 空 中 写 → 田 字 格 写 3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 会 写 · 节 约 3-4 分 钟</a:t>
            </a:r>
          </a:p>
          <a:p>
            <a:r>
              <a:t>💡 看 老 师 写 → 空 中 写 → 田 字 格 写 3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 约 4 分 钟 — 目 标 4</a:t>
            </a:r>
          </a:p>
          <a:p>
            <a:r>
              <a:t>💡 每 个 学 生 说 一 句 「我 会 节 约 ___」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Bamboozle 8-10 分 钟</a:t>
            </a:r>
          </a:p>
          <a:p>
            <a:r>
              <a:t>💡 CSV 在 同 一 文 件 夹: bamboozle_day2_energy.csv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反 思 3-4 分 钟</a:t>
            </a:r>
          </a:p>
          <a:p>
            <a:r>
              <a:t>💡 每 个 学 生 说 一 句, 老 师 不 评 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 项 1-2 分 钟</a:t>
            </a:r>
          </a:p>
          <a:p>
            <a:r>
              <a:t>💡 老 师 根 据 现 有 太 阳 能 套 件 二 选 一</a:t>
            </a:r>
          </a:p>
          <a:p>
            <a:r>
              <a:t>两 个 项 目 的 步 骤 图 / 视 频 都 在 单 元 文 件 夹 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材 料 2 分 钟</a:t>
            </a:r>
          </a:p>
          <a:p>
            <a:r>
              <a:t>💡 太 阳 能 套 件: 太 阳 能 板 + 马 达 + (小 车 轮 子 / LED 灯)</a:t>
            </a:r>
          </a:p>
          <a:p>
            <a:r>
              <a:t>图 来 自 单 元 「步 骤 图/1-彩 色 版/1-材 料 准 备」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 骤 4-5 分 钟</a:t>
            </a:r>
          </a:p>
          <a:p>
            <a:r>
              <a:t>💡 图 来 自 单 元 步 骤 图 (彩 色 版)</a:t>
            </a:r>
          </a:p>
          <a:p>
            <a:r>
              <a:t>小 车: 步 骤 1、2 / 3、4 · 发 电: 步 骤 图 1 /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 范 3-4 分 钟</a:t>
            </a:r>
          </a:p>
          <a:p>
            <a:r>
              <a:t>💡 视 频 是 本 地 文 件 (单 元 文 件 夹). 若 链 接 打 不 开, 老 师 直 接 双 击 mp4 播 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 手 35 分 钟</a:t>
            </a:r>
          </a:p>
          <a:p>
            <a:r>
              <a:t>💡 K-2 需 要 老 师 帮 接 线; 接 线 是 唯 一 需 要 帮 忙 的 步 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 试 5 分 钟 — 最 兴 奋 的 环 节!</a:t>
            </a:r>
          </a:p>
          <a:p>
            <a:r>
              <a:t>💡 遮 光 实 验: 让 学 生 亲 眼 看 到 「有 太 阳 才 有 能 量」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Gallery Walk 5 分 钟</a:t>
            </a:r>
          </a:p>
          <a:p>
            <a:r>
              <a:t>💡 规 则: 静 走, 不 碰 别 人 的 作 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 享 5-6 分 钟</a:t>
            </a:r>
          </a:p>
          <a:p>
            <a:r>
              <a:t>💡 K 级: 「太 阳 能!」 + 指 作 品; G1-3: 整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活 动 延 伸 2-3 分 钟</a:t>
            </a:r>
          </a:p>
          <a:p>
            <a:r>
              <a:t>💡 家 园 共 育: 节 约 用 电 用 水 + 找 太 阳 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 尾 2 分 钟</a:t>
            </a:r>
          </a:p>
          <a:p>
            <a:r>
              <a:t>💡 给 每 人 一 张 「小 小 能 源 工 程 师」 贴 纸 / 印 章</a:t>
            </a:r>
          </a:p>
          <a:p>
            <a:r>
              <a:t>预 告 下 一 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aamboozle.com/" TargetMode="External"/><Relationship Id="rId3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&#20114;&#21160;&#29256;_&#22826;&#38451;&#33021;&#23567;&#36710;_&#31185;&#23398;&#21306;_&#22823;&#29677;/&#22826;&#38451;&#33021;&#23567;&#36710;_&#31185;&#23398;&#21306;_&#22823;&#29677;_&#25805;&#20316;&#35270;&#39057;.mp4" TargetMode="External"/><Relationship Id="rId3" Type="http://schemas.openxmlformats.org/officeDocument/2006/relationships/hyperlink" Target="&#20114;&#21160;&#29256;_&#22826;&#38451;&#33021;&#21457;&#30005;_&#31185;&#23398;&#21306;_&#22823;&#29677;/&#22826;&#38451;&#33021;&#21457;&#30005;_&#31185;&#23398;&#21306;_&#22823;&#29677;_&#25805;&#20316;&#35270;&#39057;.mp4" TargetMode="External"/><Relationship Id="rId4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♻️  零 废 弃 与 可 持 续 发 展  Zero Waste &amp; Sustainability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KaiTi"/>
              </a:rPr>
              <a:t>Day 2 · 能 量 从 哪 里 来?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BBBB"/>
                </a:solidFill>
                <a:latin typeface="KaiTi"/>
              </a:rPr>
              <a:t>Where Does Energy Come From?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42A5F5"/>
                </a:solidFill>
                <a:latin typeface="KaiTi"/>
              </a:rPr>
              <a:t>☀️  💨  💧  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00400"/>
            <a:ext cx="6949440" cy="1417320"/>
          </a:xfrm>
          <a:prstGeom prst="roundRect">
            <a:avLst/>
          </a:prstGeom>
          <a:solidFill>
            <a:srgbClr val="42A5F5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242"/>
                </a:solidFill>
                <a:latin typeface="KaiTi"/>
              </a:rPr>
              <a:t>🤔 今 天 的 探 究 问 题  Today's Inquiry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KaiTi"/>
              </a:rPr>
              <a:t>用 不 完 的 能 源 在 哪 里?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3E0"/>
                </a:solidFill>
                <a:latin typeface="KaiTi"/>
              </a:rPr>
              <a:t>Where can we find energy that never runs out?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2A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KaiTi"/>
              </a:rPr>
              <a:t>⚡ Session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🔍 上 午 10:00–10:45 / 11:00–11:45  ·  能 量 从 哪 里 来?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731520" y="429768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1645920" y="411480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7132320" y="411480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7863840" y="429768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🎯 今 天 的 学 习 目 标  Today's 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上 完 这 节 课, 你 会……  By the end, you'll be able to…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731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5C00"/>
                </a:solidFill>
                <a:latin typeface="KaiTi"/>
              </a:rPr>
              <a:t>1️⃣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6187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明 白 地 球 的 资 源 有 限 — 有 些 能 源 会 用 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819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Earth's resources are limited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8229600" cy="731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BA03D"/>
                </a:solidFill>
                <a:latin typeface="KaiTi"/>
              </a:rPr>
              <a:t>2️⃣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305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初 步 懂 得 「可 持 续」 — 用 不 完 的 能 源 更 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450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Sustainability — pick energy that lasts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8229600" cy="731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99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C242"/>
                </a:solidFill>
                <a:latin typeface="KaiTi"/>
              </a:rPr>
              <a:t>3️⃣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992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认 识 太 阳 能 · 风 能 · 水 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192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Know solar, wind &amp; hydro energy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94759"/>
            <a:ext cx="8229600" cy="731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867911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2A5F5"/>
                </a:solidFill>
                <a:latin typeface="KaiTi"/>
              </a:rPr>
              <a:t>4️⃣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67911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学 会 句 型: 「___ 能 来 自 ___」「我 会 节 约 ___」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187951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Use the sentence frames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⚡ 热 身  ·  什 么 需 要 能 量?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看 一 看 — 这 些 东 西 要 动 起 来, 需 要 什 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What do all these things need to work?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920240" cy="1783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电 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417320"/>
            <a:ext cx="1920240" cy="1783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3317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65C00"/>
                </a:solidFill>
                <a:latin typeface="KaiTi"/>
              </a:rPr>
              <a:t>汽 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Car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417320"/>
            <a:ext cx="1920240" cy="1783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317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手 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Phone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1417320"/>
            <a:ext cx="1920240" cy="1783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3317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6970"/>
                </a:solidFill>
                <a:latin typeface="KaiTi"/>
              </a:rPr>
              <a:t>电 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TV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474720"/>
            <a:ext cx="8412480" cy="1417320"/>
          </a:xfrm>
          <a:prstGeom prst="roundRect">
            <a:avLst/>
          </a:prstGeom>
          <a:solidFill>
            <a:srgbClr val="42A5F5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611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C242"/>
                </a:solidFill>
                <a:latin typeface="KaiTi"/>
              </a:rPr>
              <a:t>⚡ 都 需 要 — 能 量 (能 源)!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1605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3E0"/>
                </a:solidFill>
                <a:latin typeface="KaiTi"/>
              </a:rPr>
              <a:t>They all need ENERGY!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4805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KaiTi"/>
              </a:rPr>
              <a:t>🤔 那 — 能 量 从 哪 里 来 呢?  Where does energy come from?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💡 能 源 是 什 么?  ·  What Is Energy?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2A5F5"/>
                </a:solidFill>
                <a:latin typeface="KaiTi"/>
              </a:rPr>
              <a:t>能 源 = 让 东 西 「动 起 来」 的 力 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Energy is the power that makes things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2651760" cy="2011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C2C2C"/>
                </a:solidFill>
                <a:latin typeface="KaiTi"/>
              </a:rPr>
              <a:t>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C242"/>
                </a:solidFill>
                <a:latin typeface="KaiTi"/>
              </a:rPr>
              <a:t>能 源 让 灯 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Energy lights the lamp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783080"/>
            <a:ext cx="2651760" cy="2011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9202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C2C2C"/>
                </a:solidFill>
                <a:latin typeface="KaiTi"/>
              </a:rPr>
              <a:t>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743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5C00"/>
                </a:solidFill>
                <a:latin typeface="KaiTi"/>
              </a:rPr>
              <a:t>能 源 让 车 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39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Energy moves the car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783080"/>
            <a:ext cx="2651760" cy="2011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9202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C2C2C"/>
                </a:solidFill>
                <a:latin typeface="KaiTi"/>
              </a:rPr>
              <a:t>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743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6970"/>
                </a:solidFill>
                <a:latin typeface="KaiTi"/>
              </a:rPr>
              <a:t>能 源 让 机 器 工 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Energy runs machines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069080"/>
            <a:ext cx="8412480" cy="868680"/>
          </a:xfrm>
          <a:prstGeom prst="roundRect">
            <a:avLst/>
          </a:prstGeom>
          <a:solidFill>
            <a:srgbClr val="0F1A3A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60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C242"/>
                </a:solidFill>
                <a:latin typeface="KaiTi"/>
              </a:rPr>
              <a:t>🤔 这 么 多 能 量 — 都 从 哪 里 来?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3E0"/>
                </a:solidFill>
                <a:latin typeface="KaiTi"/>
              </a:rPr>
              <a:t>Where does all this energy come from?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🤝 想 一 想 · 说 一 说  ·  Think-Pair-Share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8412480" cy="960120"/>
          </a:xfrm>
          <a:prstGeom prst="roundRect">
            <a:avLst/>
          </a:prstGeom>
          <a:solidFill>
            <a:srgbClr val="42A5F5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C242"/>
                </a:solidFill>
                <a:latin typeface="KaiTi"/>
              </a:rPr>
              <a:t>❓ 能 量 可 能 从 哪 里 来?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3E0"/>
                </a:solidFill>
                <a:latin typeface="KaiTi"/>
              </a:rPr>
              <a:t>Where might energy come from?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59" y="2057400"/>
            <a:ext cx="2606040" cy="1691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59" y="2194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59" y="2880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6970"/>
                </a:solidFill>
                <a:latin typeface="KaiTi"/>
              </a:rPr>
              <a:t>想 一 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499" y="327355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Think · 自 己 想 30 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8979" y="2057400"/>
            <a:ext cx="2606040" cy="1691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8979" y="2194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8979" y="2880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A03D"/>
                </a:solidFill>
                <a:latin typeface="KaiTi"/>
              </a:rPr>
              <a:t>两 人 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0420" y="327355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Pair · 跟 同 桌 说 1 分 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7900" y="2057400"/>
            <a:ext cx="2606040" cy="1691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7900" y="2194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7900" y="2880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65C00"/>
                </a:solidFill>
                <a:latin typeface="KaiTi"/>
              </a:rPr>
              <a:t>全 班 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9340" y="327355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Share · 几 位 同 学 分 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931920"/>
            <a:ext cx="8412480" cy="960120"/>
          </a:xfrm>
          <a:prstGeom prst="roundRect">
            <a:avLst/>
          </a:prstGeom>
          <a:solidFill>
            <a:srgbClr val="F5C242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A3A"/>
                </a:solidFill>
                <a:latin typeface="KaiTi"/>
              </a:rPr>
              <a:t>⏱️ 计 时: 30 秒 · 60 秒 · 60 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34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A3A"/>
                </a:solidFill>
                <a:latin typeface="KaiTi"/>
              </a:rPr>
              <a:t>Timer: 30s think · 60s pair · 60s share  (~3 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0F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🛢️  化 石 能 源  ·  Fossil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3931920" cy="306324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0F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3931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>
                <a:solidFill>
                  <a:srgbClr val="2C2C2C"/>
                </a:solidFill>
                <a:latin typeface="KaiTi"/>
              </a:rPr>
              <a:t>🛢️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02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F1A3A"/>
                </a:solidFill>
                <a:latin typeface="KaiTi"/>
              </a:rPr>
              <a:t>化 石 能 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889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2C2C"/>
                </a:solidFill>
                <a:latin typeface="KaiTi"/>
              </a:rPr>
              <a:t>Fossil Energy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868680"/>
            <a:ext cx="4297680" cy="3063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F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868680"/>
            <a:ext cx="4297680" cy="457200"/>
          </a:xfrm>
          <a:prstGeom prst="roundRect">
            <a:avLst/>
          </a:prstGeom>
          <a:solidFill>
            <a:srgbClr val="0F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93268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KaiTi"/>
              </a:rPr>
              <a:t>✦ 例 子 + 提 醒  Examples + Tips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A3A"/>
                </a:solidFill>
                <a:latin typeface="KaiTi"/>
              </a:rPr>
              <a:t>⛏️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417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煤 — 从 地 下 挖 出 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65506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Coal — dug from the 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91109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A3A"/>
                </a:solidFill>
                <a:latin typeface="KaiTi"/>
              </a:rPr>
              <a:t>🛢️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91109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石 油 — 从 地 下 抽 出 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14883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Oil — pumped from the 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404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A3A"/>
                </a:solidFill>
                <a:latin typeface="KaiTi"/>
              </a:rPr>
              <a:t>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404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天 然 气 — 烧 了 才 有 能 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642615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Natural gas — burned for energy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8986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A3A"/>
                </a:solidFill>
                <a:latin typeface="KaiTi"/>
              </a:rPr>
              <a:t>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8986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汽 车 · 工 厂 都 在 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13639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Cars &amp; factories use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39242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A3A"/>
                </a:solidFill>
                <a:latin typeface="KaiTi"/>
              </a:rPr>
              <a:t>⚠️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3924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现 在 用 得 最 多 — 但 有 问 题…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6301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Most-used today — but there's a problem…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16052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0624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「化 石 能 源 来 自 地 下.」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46227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Fossil energy comes from underground.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0F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⚠️ 化 石 能 源 的 2 个 问 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煤 和 石 油 很 好 用 — 但 是 有 大 问 题!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59" y="1188720"/>
            <a:ext cx="4069080" cy="3017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371600"/>
            <a:ext cx="4069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C2C2C"/>
                </a:solidFill>
                <a:latin typeface="KaiTi"/>
              </a:rPr>
              <a:t>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" y="2468880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65C00"/>
                </a:solidFill>
                <a:latin typeface="KaiTi"/>
              </a:rPr>
              <a:t>会 用 完!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999232"/>
            <a:ext cx="3977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Runs out!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39" y="3383280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挖 完 了 就 没 有 了 — 不 会 再 长 出 来.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39" y="379476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Once it's gone, it's gone forever.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1188720"/>
            <a:ext cx="4069080" cy="3017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371600"/>
            <a:ext cx="4069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C2C2C"/>
                </a:solidFill>
                <a:latin typeface="KaiTi"/>
              </a:rPr>
              <a:t>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468880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1A3A"/>
                </a:solidFill>
                <a:latin typeface="KaiTi"/>
              </a:rPr>
              <a:t>会 污 染!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999232"/>
            <a:ext cx="3977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Pollutes!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383280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烧 的 时 候 冒 黑 烟 — 弄 脏 空 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79476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Burning makes smoke that dirties the air.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343400"/>
            <a:ext cx="8412480" cy="594360"/>
          </a:xfrm>
          <a:prstGeom prst="roundRect">
            <a:avLst/>
          </a:prstGeom>
          <a:solidFill>
            <a:srgbClr val="0F1A3A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42569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C242"/>
                </a:solidFill>
                <a:latin typeface="KaiTi"/>
              </a:rPr>
              <a:t>🌍 地 球 的 资 源 有 限 — 我 们 要 找 用 不 完 的 能 源!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⚖️ 用 得 完  vs  用 不 完  ·  Runs Out vs Never Runs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4251960" cy="3246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F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4251960" cy="457200"/>
          </a:xfrm>
          <a:prstGeom prst="roundRect">
            <a:avLst/>
          </a:prstGeom>
          <a:solidFill>
            <a:srgbClr val="0F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78408"/>
            <a:ext cx="3977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KaiTi"/>
              </a:rPr>
              <a:t>化 石 能 源  Fossil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978408"/>
            <a:ext cx="1645920" cy="329184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005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A3A"/>
                </a:solidFill>
                <a:latin typeface="KaiTi"/>
              </a:rPr>
              <a:t>❌ 会 用 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81328"/>
            <a:ext cx="4251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C2C2C"/>
                </a:solidFill>
                <a:latin typeface="KaiTi"/>
              </a:rPr>
              <a:t>🛢️ ⛏️ 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86000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A3A"/>
                </a:solidFill>
                <a:latin typeface="KaiTi"/>
              </a:rPr>
              <a:t>用 得 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97480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Runs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3580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A3A"/>
                </a:solidFill>
                <a:latin typeface="KaiTi"/>
              </a:rPr>
              <a:t>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03580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挖 完 就 没 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1985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A3A"/>
                </a:solidFill>
                <a:latin typeface="KaiTi"/>
              </a:rPr>
              <a:t>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41985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烧 了 会 污 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0390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A3A"/>
                </a:solidFill>
                <a:latin typeface="KaiTi"/>
              </a:rPr>
              <a:t>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803904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对 地 球 不 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914400"/>
            <a:ext cx="4251960" cy="3246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17720" y="914400"/>
            <a:ext cx="4251960" cy="45720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978408"/>
            <a:ext cx="3977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KaiTi"/>
              </a:rPr>
              <a:t>可 再 生 能 源  Renewable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599" y="978408"/>
            <a:ext cx="1645920" cy="329184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599" y="1005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A3A"/>
                </a:solidFill>
                <a:latin typeface="KaiTi"/>
              </a:rPr>
              <a:t>✅ 用 不 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1481328"/>
            <a:ext cx="4251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C2C2C"/>
                </a:solidFill>
                <a:latin typeface="KaiTi"/>
              </a:rPr>
              <a:t>☀️ 💨 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286000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BA03D"/>
                </a:solidFill>
                <a:latin typeface="KaiTi"/>
              </a:rPr>
              <a:t>用 不 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697480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Never Runs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03580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BA03D"/>
                </a:solidFill>
                <a:latin typeface="KaiTi"/>
              </a:rPr>
              <a:t>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303580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太 阳/风/水 一 直 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41985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BA03D"/>
                </a:solidFill>
                <a:latin typeface="KaiTi"/>
              </a:rPr>
              <a:t>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341985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干 净 — 不 污 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380390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BA03D"/>
                </a:solidFill>
                <a:latin typeface="KaiTi"/>
              </a:rPr>
              <a:t>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4648" y="3803904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对 地 球 好</a:t>
            </a:r>
          </a:p>
        </p:txBody>
      </p:sp>
      <p:sp>
        <p:nvSpPr>
          <p:cNvPr id="32" name="Oval 31"/>
          <p:cNvSpPr/>
          <p:nvPr/>
        </p:nvSpPr>
        <p:spPr>
          <a:xfrm>
            <a:off x="4261104" y="2244852"/>
            <a:ext cx="603504" cy="603504"/>
          </a:xfrm>
          <a:prstGeom prst="ellipse">
            <a:avLst/>
          </a:prstGeom>
          <a:solidFill>
            <a:srgbClr val="E65C00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61104" y="2336291"/>
            <a:ext cx="603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KaiTi"/>
              </a:rPr>
              <a:t>VS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429768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「我 们 要 用 「用 不 完」 的 能 源.」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5994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We should use energy that never runs out.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🌱 可 持 续  · 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42A5F5"/>
                </a:solidFill>
                <a:latin typeface="KaiTi"/>
              </a:rPr>
              <a:t>可 持 续 = 用 「用 不 完」 的 能 源, 地 球 一 直 都 够 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Sustainability = using energy that lasts, so Earth keeps enough for everyone.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2651760" cy="1874519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C242"/>
                </a:solidFill>
                <a:latin typeface="KaiTi"/>
              </a:rPr>
              <a:t>太 阳 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186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Solar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783080"/>
            <a:ext cx="2651760" cy="1874519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9202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743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2A5F5"/>
                </a:solidFill>
                <a:latin typeface="KaiTi"/>
              </a:rPr>
              <a:t>风 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186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Wind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783080"/>
            <a:ext cx="2651760" cy="1874519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9202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743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6970"/>
                </a:solidFill>
                <a:latin typeface="KaiTi"/>
              </a:rPr>
              <a:t>水 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32186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Hydro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931920"/>
            <a:ext cx="8412480" cy="960120"/>
          </a:xfrm>
          <a:prstGeom prst="roundRect">
            <a:avLst/>
          </a:prstGeom>
          <a:solidFill>
            <a:srgbClr val="6BA03D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C242"/>
                </a:solidFill>
                <a:latin typeface="KaiTi"/>
              </a:rPr>
              <a:t>🌍 这 3 种 都 「用 不 完」 — 我 们 来 一 个 一 个 认 识!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4988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3E0"/>
                </a:solidFill>
                <a:latin typeface="KaiTi"/>
              </a:rPr>
              <a:t>All 3 never run out — let's meet them one by one!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☀️  太 阳 能  ·  Solar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3931920" cy="306324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3931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02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C242"/>
                </a:solidFill>
                <a:latin typeface="KaiTi"/>
              </a:rPr>
              <a:t>太 阳 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889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2C2C"/>
                </a:solidFill>
                <a:latin typeface="KaiTi"/>
              </a:rPr>
              <a:t>Solar Energy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868680"/>
            <a:ext cx="4297680" cy="3063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868680"/>
            <a:ext cx="4297680" cy="45720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93268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KaiTi"/>
              </a:rPr>
              <a:t>✦ 例 子 + 提 醒  Examples + Tips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C242"/>
                </a:solidFill>
                <a:latin typeface="KaiTi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417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太 阳 能 板 — 晒 太 阳 发 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65506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Solar panels make electricity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91109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C242"/>
                </a:solidFill>
                <a:latin typeface="KaiT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91109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太 阳 能 热 水 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14883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Solar water heaters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404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C242"/>
                </a:solidFill>
                <a:latin typeface="KaiTi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404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太 阳 能 小 车 / 计 算 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642615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Solar toy cars, calculators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8986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C242"/>
                </a:solidFill>
                <a:latin typeface="KaiTi"/>
              </a:rPr>
              <a:t>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8986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太 阳 每 天 都 来 — 用 不 完!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13639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The sun comes every day — never runs out!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39242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C242"/>
                </a:solidFill>
                <a:latin typeface="KaiTi"/>
              </a:rPr>
              <a:t>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3924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白 天 有 太 阳 才 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6301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Needs daytime sunshine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16052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0624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「太 阳 能 来 自 太 阳.」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46227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Solar energy comes from the sun.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💨  风 能  ·  Wind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3931920" cy="306324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3931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>
                <a:solidFill>
                  <a:srgbClr val="2C2C2C"/>
                </a:solidFill>
                <a:latin typeface="KaiTi"/>
              </a:rPr>
              <a:t>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02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2A5F5"/>
                </a:solidFill>
                <a:latin typeface="KaiTi"/>
              </a:rPr>
              <a:t>风 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889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2C2C"/>
                </a:solidFill>
                <a:latin typeface="KaiTi"/>
              </a:rPr>
              <a:t>Wind Energy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868680"/>
            <a:ext cx="4297680" cy="3063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868680"/>
            <a:ext cx="4297680" cy="45720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93268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KaiTi"/>
              </a:rPr>
              <a:t>✦ 例 子 + 提 醒  Examples + Tips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2A5F5"/>
                </a:solidFill>
                <a:latin typeface="KaiTi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417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风 车 / 风 力 发 电 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65506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Wind turbines make electricity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91109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2A5F5"/>
                </a:solidFill>
                <a:latin typeface="KaiT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91109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帆 船 — 风 推 着 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14883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Sailboats pushed by wind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404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2A5F5"/>
                </a:solidFill>
                <a:latin typeface="KaiTi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404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风 筝 — 风 让 它 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642615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Kites fly on wind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8986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2A5F5"/>
                </a:solidFill>
                <a:latin typeface="KaiTi"/>
              </a:rPr>
              <a:t>🌬️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8986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风 一 直 吹 — 用 不 完!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13639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Wind keeps blowing — never runs out!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39242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2A5F5"/>
                </a:solidFill>
                <a:latin typeface="KaiTi"/>
              </a:rPr>
              <a:t>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3924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有 风 的 时 候 才 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6301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Needs windy weather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16052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0624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「风 能 来 自 风.」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46227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Wind energy comes from wind.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00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💧  水 力  ·  Hydro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3931920" cy="306324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3931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>
                <a:solidFill>
                  <a:srgbClr val="2C2C2C"/>
                </a:solidFill>
                <a:latin typeface="KaiTi"/>
              </a:rPr>
              <a:t>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02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6970"/>
                </a:solidFill>
                <a:latin typeface="KaiTi"/>
              </a:rPr>
              <a:t>水 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889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2C2C"/>
                </a:solidFill>
                <a:latin typeface="KaiTi"/>
              </a:rPr>
              <a:t>Hydro Energy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868680"/>
            <a:ext cx="4297680" cy="3063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868680"/>
            <a:ext cx="4297680" cy="457200"/>
          </a:xfrm>
          <a:prstGeom prst="roundRect">
            <a:avLst/>
          </a:prstGeom>
          <a:solidFill>
            <a:srgbClr val="00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93268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KaiTi"/>
              </a:rPr>
              <a:t>✦ 例 子 + 提 醒  Examples + Tips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970"/>
                </a:solidFill>
                <a:latin typeface="KaiTi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417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水 坝 / 水 电 站 发 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65506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Dams make electricity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91109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970"/>
                </a:solidFill>
                <a:latin typeface="KaiT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91109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水 车 — 水 流 推 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14883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Waterwheels turned by flowing water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404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970"/>
                </a:solidFill>
                <a:latin typeface="KaiTi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404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瀑 布 的 大 力 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642615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Powerful waterfalls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8986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970"/>
                </a:solidFill>
                <a:latin typeface="KaiTi"/>
              </a:rPr>
              <a:t>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8986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水 一 直 流 — 用 不 完!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13639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Water keeps flowing — never runs out!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39242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970"/>
                </a:solidFill>
                <a:latin typeface="KaiTi"/>
              </a:rPr>
              <a:t>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3924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要 有 流 动 的 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6301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Needs moving water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16052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0624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「水 力 来 自 流 动 的 水.」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46227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Hydro energy comes from flowing water.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🎯 猜 一 猜!  ·  Guess the Energy!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2C2C"/>
                </a:solidFill>
                <a:latin typeface="KaiTi"/>
              </a:rPr>
              <a:t>这 个 大 风 车 用 什 么 能 源 发 电?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What energy does this turbine use?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59" y="1508760"/>
            <a:ext cx="2606040" cy="2926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4651" y="1645920"/>
            <a:ext cx="457200" cy="457200"/>
          </a:xfrm>
          <a:prstGeom prst="ellipse">
            <a:avLst/>
          </a:prstGeom>
          <a:solidFill>
            <a:srgbClr val="F5C242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1" y="16733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KaiT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59" y="169164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59" y="27432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C242"/>
                </a:solidFill>
                <a:latin typeface="KaiTi"/>
              </a:rPr>
              <a:t>太 阳 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499" y="32461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Solar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8979" y="1508760"/>
            <a:ext cx="2606040" cy="2926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33572" y="1645920"/>
            <a:ext cx="457200" cy="457200"/>
          </a:xfrm>
          <a:prstGeom prst="ellipse">
            <a:avLst/>
          </a:prstGeom>
          <a:solidFill>
            <a:srgbClr val="42A5F5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3572" y="16733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KaiT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8979" y="169164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2C2C2C"/>
                </a:solidFill>
                <a:latin typeface="KaiTi"/>
              </a:rPr>
              <a:t>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8979" y="27432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2A5F5"/>
                </a:solidFill>
                <a:latin typeface="KaiTi"/>
              </a:rPr>
              <a:t>风 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0420" y="32461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Wind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7900" y="1508760"/>
            <a:ext cx="2606040" cy="2926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22492" y="1645920"/>
            <a:ext cx="457200" cy="457200"/>
          </a:xfrm>
          <a:prstGeom prst="ellipse">
            <a:avLst/>
          </a:prstGeom>
          <a:solidFill>
            <a:srgbClr val="006970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492" y="16733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KaiT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7900" y="169164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2C2C2C"/>
                </a:solidFill>
                <a:latin typeface="KaiTi"/>
              </a:rPr>
              <a:t>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7900" y="27432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6970"/>
                </a:solidFill>
                <a:latin typeface="KaiTi"/>
              </a:rPr>
              <a:t>水 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9340" y="32461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Hydro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617720"/>
            <a:ext cx="8412480" cy="36576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242"/>
                </a:solidFill>
                <a:latin typeface="KaiTi"/>
              </a:rPr>
              <a:t>🙋 大 声 喊 出 你 的 选 择: A、B 还 是 C?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☀️ 太 阳 能 板  ·  Solar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想 一 想 → 看 答 案 — Think, then check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50976"/>
            <a:ext cx="3931920" cy="3246120"/>
          </a:xfrm>
          <a:prstGeom prst="roundRect">
            <a:avLst/>
          </a:prstGeom>
          <a:solidFill>
            <a:srgbClr val="E8EEE0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911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242"/>
                </a:solidFill>
                <a:latin typeface="KaiTi"/>
              </a:rPr>
              <a:t>📸 屋 顶 上 的 太 阳 能 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95097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51104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KaiT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101498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E7D32"/>
                </a:solidFill>
                <a:latin typeface="KaiTi"/>
              </a:rPr>
              <a:t>❓ 这 是 什 么 能 源?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太 阳 能! 它 来 自 太 阳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Solar — it comes from the sun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晒 太 阳 就 能 发 电 · Sunlight → electricity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1975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317982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253E"/>
                </a:solidFill>
                <a:latin typeface="KaiTi"/>
              </a:rPr>
              <a:t>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68376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8253E"/>
                </a:solidFill>
                <a:latin typeface="KaiTi"/>
              </a:rPr>
              <a:t>❓ 会 用 完 吗?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不 会! 太 阳 每 天 都 来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No — the sun comes every day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用 不 完 的 能 源 · Renewable!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29768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「太 阳 能 来 自 太 阳.」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994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Solar energy comes from the sun.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💨 风 力 发 电 机  ·  Wind turbine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想 一 想 → 看 答 案 — Think, then check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50976"/>
            <a:ext cx="3931920" cy="3246120"/>
          </a:xfrm>
          <a:prstGeom prst="roundRect">
            <a:avLst/>
          </a:prstGeom>
          <a:solidFill>
            <a:srgbClr val="E8EEE0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911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2A5F5"/>
                </a:solidFill>
                <a:latin typeface="KaiTi"/>
              </a:rPr>
              <a:t>📸 大 大 的 白 色 风 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95097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51104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KaiT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101498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E7D32"/>
                </a:solidFill>
                <a:latin typeface="KaiTi"/>
              </a:rPr>
              <a:t>❓ 这 是 什 么 能 源?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风 能! 它 来 自 风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Wind — it comes from the wind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风 吹 → 风 车 转 → 发 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1975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317982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253E"/>
                </a:solidFill>
                <a:latin typeface="KaiTi"/>
              </a:rPr>
              <a:t>🌬️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68376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8253E"/>
                </a:solidFill>
                <a:latin typeface="KaiTi"/>
              </a:rPr>
              <a:t>❓ 会 用 完 吗?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不 会! 风 一 直 吹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No — wind keeps blowing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用 不 完 的 能 源 · Renewable!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29768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「风 能 来 自 风.」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994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Wind energy comes from wind.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00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💧 水 坝  ·  Hydro dam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想 一 想 → 看 答 案 — Think, then check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50976"/>
            <a:ext cx="3931920" cy="3246120"/>
          </a:xfrm>
          <a:prstGeom prst="roundRect">
            <a:avLst/>
          </a:prstGeom>
          <a:solidFill>
            <a:srgbClr val="E8EEE0"/>
          </a:solidFill>
          <a:ln w="254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911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6970"/>
                </a:solidFill>
                <a:latin typeface="KaiTi"/>
              </a:rPr>
              <a:t>📸 大 水 坝 + 流 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95097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51104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KaiT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101498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E7D32"/>
                </a:solidFill>
                <a:latin typeface="KaiTi"/>
              </a:rPr>
              <a:t>❓ 这 是 什 么 能 源?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水 力! 它 来 自 流 动 的 水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Hydro — it comes from flowing water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水 流 → 推 动 机 器 → 发 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1975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317982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253E"/>
                </a:solidFill>
                <a:latin typeface="KaiTi"/>
              </a:rPr>
              <a:t>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68376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8253E"/>
                </a:solidFill>
                <a:latin typeface="KaiTi"/>
              </a:rPr>
              <a:t>❓ 会 用 完 吗?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不 会! 水 一 直 流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No — water keeps flowing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用 不 完 的 能 源 · Renewable!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29768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「水 力 来 自 流 动 的 水.」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994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Hydro energy comes from flowing water.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0F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🛢️ 煤 / 石 油  ·  Coal / 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想 一 想 → 看 答 案 — Think, then check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50976"/>
            <a:ext cx="3931920" cy="3246120"/>
          </a:xfrm>
          <a:prstGeom prst="roundRect">
            <a:avLst/>
          </a:prstGeom>
          <a:solidFill>
            <a:srgbClr val="E8EEE0"/>
          </a:solidFill>
          <a:ln w="25400">
            <a:solidFill>
              <a:srgbClr val="0F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911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A3A"/>
                </a:solidFill>
                <a:latin typeface="KaiTi"/>
              </a:rPr>
              <a:t>📸 一 堆 黑 煤 + 油 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95097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51104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253E"/>
                </a:solidFill>
                <a:latin typeface="KaiTi"/>
              </a:rPr>
              <a:t>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101498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8253E"/>
                </a:solidFill>
                <a:latin typeface="KaiTi"/>
              </a:rPr>
              <a:t>❓ 这 是 什 么 能 源?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化 石 能 源 — 煤 和 石 油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Fossil energy — coal &amp; oil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烧 了 才 有 能 量 · Burned for energy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1975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317982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253E"/>
                </a:solidFill>
                <a:latin typeface="KaiTi"/>
              </a:rP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68376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8253E"/>
                </a:solidFill>
                <a:latin typeface="KaiTi"/>
              </a:rPr>
              <a:t>❓ 会 用 完 吗?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会! 挖 完 了 就 没 了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Yes — once dug up, it's gone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还 会 有 黑 烟 污 染 · Makes smoke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29768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「化 石 能 源 会 用 完.」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994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Fossil energy runs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🚗 太 阳 能 小 车  ·  Solar toy 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想 一 想 → 看 答 案 — Think, then check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50976"/>
            <a:ext cx="3931920" cy="3246120"/>
          </a:xfrm>
          <a:prstGeom prst="roundRect">
            <a:avLst/>
          </a:prstGeom>
          <a:solidFill>
            <a:srgbClr val="E8EEE0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911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242"/>
                </a:solidFill>
                <a:latin typeface="KaiTi"/>
              </a:rPr>
              <a:t>📸 一 辆 太 阳 能 小 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95097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51104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KaiT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101498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E7D32"/>
                </a:solidFill>
                <a:latin typeface="KaiTi"/>
              </a:rPr>
              <a:t>❓ 这 是 什 么 能 源?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太 阳 能! 车 顶 有 太 阳 能 板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Solar — the panel is on top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晒 到 太 阳 就 会 跑 · Runs in sunlight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1975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317982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253E"/>
                </a:solidFill>
                <a:latin typeface="KaiTi"/>
              </a:rPr>
              <a:t>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68376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8253E"/>
                </a:solidFill>
                <a:latin typeface="KaiTi"/>
              </a:rPr>
              <a:t>❓ 会 用 完 吗?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不 会! 只 要 有 太 阳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No — as long as there's sun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下 午 我 们 就 来 做 一 个! · We'll build one!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29768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「太 阳 能 来 自 太 阳.」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994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Solar energy comes from the sun.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🏆 小 组 游 戏  ·  能 源 大 分 类!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把 8 张 卡 片 分 一 分 — 哪 些 「用 不 完」? 哪 些 「用 得 完」?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93192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A03D"/>
                </a:solidFill>
                <a:latin typeface="KaiTi"/>
              </a:rPr>
              <a:t>✅ 用 不 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Never runs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188720"/>
            <a:ext cx="393192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325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A3A"/>
                </a:solidFill>
                <a:latin typeface="KaiTi"/>
              </a:rPr>
              <a:t>❌ 用 得 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1828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Runs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🎴 卡 片 (每 组 一 套 · 8 张):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7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太 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59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59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7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42032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2032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流 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75304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3592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瀑 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08576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⛏️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41848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41848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🛢️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0136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石 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8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天 然 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08392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08392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太 阳 能 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4160520"/>
            <a:ext cx="8412480" cy="777240"/>
          </a:xfrm>
          <a:prstGeom prst="roundRect">
            <a:avLst/>
          </a:prstGeom>
          <a:solidFill>
            <a:srgbClr val="42A5F5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23367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👥 全 班 分 4-5 组 · 把 卡 片 放 到 对 的 一 边!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5445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Split into groups · sort the 8 cards into the right bin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🏆 公 布 答 案 + 比 一 比!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242"/>
                </a:solidFill>
                <a:latin typeface="KaiTi"/>
              </a:rPr>
              <a:t>老 师 念 答 案 — 每 组 数 一 数 你 们 对 了 几 张!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84124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A5F5"/>
                </a:solidFill>
                <a:latin typeface="KaiTi"/>
              </a:rPr>
              <a:t>✅ 答 案  Answer Key: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179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A03D"/>
                </a:solidFill>
                <a:latin typeface="KaiTi"/>
              </a:rPr>
              <a:t>✅ 用 不 完: ☀️太 阳 · 💨风 · 💧流 水 · 🌊瀑 布 · 🔆太 阳 能 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739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5C00"/>
                </a:solidFill>
                <a:latin typeface="KaiTi"/>
              </a:rPr>
              <a:t>❌ 用 得 完: ⛏️煤 · 🛢️石 油 · 🔥天 然 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59" y="2240280"/>
            <a:ext cx="2606040" cy="1783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59" y="23774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59" y="31546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C107"/>
                </a:solidFill>
                <a:latin typeface="KaiTi"/>
              </a:rPr>
              <a:t>第 一 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499" y="36118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1st Place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8979" y="2240280"/>
            <a:ext cx="2606040" cy="1783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8979" y="23774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8979" y="31546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0B0B0"/>
                </a:solidFill>
                <a:latin typeface="KaiTi"/>
              </a:rPr>
              <a:t>第 二 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420" y="36118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2nd Place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57900" y="2240280"/>
            <a:ext cx="2606040" cy="1783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57900" y="23774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7900" y="31546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D7F32"/>
                </a:solidFill>
                <a:latin typeface="KaiTi"/>
              </a:rPr>
              <a:t>第 三 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9340" y="36118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3rd Place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206240"/>
            <a:ext cx="8412480" cy="7315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97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A3A"/>
                </a:solidFill>
                <a:latin typeface="KaiTi"/>
              </a:rPr>
              <a:t>🎉 🎊  全 班 鼓 掌!  你 们 都 是 小 小 能 源 工 程 师!  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4515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A3A"/>
                </a:solidFill>
                <a:latin typeface="KaiTi"/>
              </a:rPr>
              <a:t>Big applause — every team is a Little Energy Engineer!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🎫 出 门 票  ·  用 句 型 说 一 个!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请 5-8 位 同 学 — 指 一 种 能 源, 用 句 型 说 一 句!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8046720" cy="1417320"/>
          </a:xfrm>
          <a:prstGeom prst="roundRect">
            <a:avLst/>
          </a:prstGeom>
          <a:solidFill>
            <a:srgbClr val="42A5F5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242"/>
                </a:solidFill>
                <a:latin typeface="KaiTi"/>
              </a:rPr>
              <a:t>1️⃣  句 型 一  ·  Sentence Frame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KaiTi"/>
              </a:rPr>
              <a:t>「______ 能 来 自 ______.」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3E0"/>
                </a:solidFill>
                <a:latin typeface="KaiTi"/>
              </a:rPr>
              <a:t>"___ energy comes from ___."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834640"/>
            <a:ext cx="8412480" cy="20574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926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A5F5"/>
                </a:solidFill>
                <a:latin typeface="KaiTi"/>
              </a:rPr>
              <a:t>💡 举 个 例 子  Examples: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  <a:latin typeface="KaiTi"/>
              </a:rPr>
              <a:t>☀️ 「太 阳 能 来 自 太 阳.」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2160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  <a:latin typeface="KaiTi"/>
              </a:rPr>
              <a:t>💨 「风 能 来 自 风.」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9709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  <a:latin typeface="KaiTi"/>
              </a:rPr>
              <a:t>💧 「水 力 来 自 流 动 的 水.」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451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A5F5"/>
                </a:solidFill>
                <a:latin typeface="KaiTi"/>
              </a:rPr>
              <a:t>👏 说 对 了 — 你 就 是 今 天 的 小 小 能 源 工 程 师!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2A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KaiTi"/>
              </a:rPr>
              <a:t>🔤 Session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📚 下 午 2:00–2:45  ·  词 汇 + 节 约 + 游 戏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731520" y="429768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1645920" y="411480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7132320" y="411480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7863840" y="429768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 会 认 · 地 球  I Can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4160520" cy="301752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2A5F5"/>
                </a:solidFill>
                <a:latin typeface="KaiTi"/>
              </a:rPr>
              <a:t>地 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dì qiú  ·  Earth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2A5F5"/>
                </a:solidFill>
                <a:latin typeface="KaiTi"/>
              </a:rPr>
              <a:t>👉 跟 我 读!  Read after me!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4114800" cy="3017520"/>
          </a:xfrm>
          <a:prstGeom prst="rect">
            <a:avLst/>
          </a:prstGeom>
          <a:solidFill>
            <a:srgbClr val="E8EEE0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2A5F5"/>
                </a:solidFill>
                <a:latin typeface="KaiTi"/>
              </a:rPr>
              <a:t>📷 真 实 照 片 · Real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2A5F5"/>
                </a:solidFill>
                <a:latin typeface="KaiTi"/>
              </a:rPr>
              <a:t>👇 在 这 里 插 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7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📸 蓝 色 的 地 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718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Image placeholder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9651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2A5F5"/>
                </a:solidFill>
                <a:latin typeface="KaiTi"/>
              </a:rPr>
              <a:t>📌 例 句 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 们 住 在 地 球 上.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90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We live on Earth.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 会 认 · 资 源  I Can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4160520" cy="301752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⛏️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8B5A2B"/>
                </a:solidFill>
                <a:latin typeface="KaiTi"/>
              </a:rPr>
              <a:t>资 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zī yuán  ·  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B5A2B"/>
                </a:solidFill>
                <a:latin typeface="KaiTi"/>
              </a:rPr>
              <a:t>👉 跟 我 读!  Read after me!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4114800" cy="3017520"/>
          </a:xfrm>
          <a:prstGeom prst="rect">
            <a:avLst/>
          </a:prstGeom>
          <a:solidFill>
            <a:srgbClr val="E8EEE0"/>
          </a:solidFill>
          <a:ln w="2540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B5A2B"/>
                </a:solidFill>
                <a:latin typeface="KaiTi"/>
              </a:rPr>
              <a:t>📷 真 实 照 片 · Real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B5A2B"/>
                </a:solidFill>
                <a:latin typeface="KaiTi"/>
              </a:rPr>
              <a:t>👇 在 这 里 插 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7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📸 水 / 树 / 矿 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718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Image placeholder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9651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B5A2B"/>
                </a:solidFill>
                <a:latin typeface="KaiTi"/>
              </a:rPr>
              <a:t>📌 例 句 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地 球 的 资 源 有 限.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90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Earth's resources are limited.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 会 认 · 能 源  I Can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4160520" cy="301752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65C00"/>
                </a:solidFill>
                <a:latin typeface="KaiTi"/>
              </a:rPr>
              <a:t>能 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néng yuán  · 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C00"/>
                </a:solidFill>
                <a:latin typeface="KaiTi"/>
              </a:rPr>
              <a:t>👉 跟 我 读!  Read after me!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4114800" cy="3017520"/>
          </a:xfrm>
          <a:prstGeom prst="rect">
            <a:avLst/>
          </a:prstGeom>
          <a:solidFill>
            <a:srgbClr val="E8EEE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5C00"/>
                </a:solidFill>
                <a:latin typeface="KaiTi"/>
              </a:rPr>
              <a:t>📷 真 实 照 片 · Real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C00"/>
                </a:solidFill>
                <a:latin typeface="KaiTi"/>
              </a:rPr>
              <a:t>👇 在 这 里 插 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7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📸 闪 电 / 电 池 / 插 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718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Image placeholder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9651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5C00"/>
                </a:solidFill>
                <a:latin typeface="KaiTi"/>
              </a:rPr>
              <a:t>📌 例 句 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灯 和 车 都 需 要 能 源.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90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Lights and cars need energy.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 会 认 · 太 阳 能  I Can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4160520" cy="301752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5C242"/>
                </a:solidFill>
                <a:latin typeface="KaiTi"/>
              </a:rPr>
              <a:t>太 阳 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tài yáng néng  ·  solar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👉 跟 我 读!  Read after me!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4114800" cy="3017520"/>
          </a:xfrm>
          <a:prstGeom prst="rect">
            <a:avLst/>
          </a:prstGeom>
          <a:solidFill>
            <a:srgbClr val="E8EEE0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C242"/>
                </a:solidFill>
                <a:latin typeface="KaiTi"/>
              </a:rPr>
              <a:t>📷 真 实 照 片 · Real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👇 在 这 里 插 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7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📸 太 阳 + 太 阳 能 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718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Image placeholder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9651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5C242"/>
                </a:solidFill>
                <a:latin typeface="KaiTi"/>
              </a:rPr>
              <a:t>📌 例 句 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太 阳 能 来 自 太 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90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Solar energy comes from the sun.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 会 认 · 节 约  I Can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4160520" cy="301752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BA03D"/>
                </a:solidFill>
                <a:latin typeface="KaiTi"/>
              </a:rPr>
              <a:t>节 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jié yuē  ·  save / conserve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A03D"/>
                </a:solidFill>
                <a:latin typeface="KaiTi"/>
              </a:rPr>
              <a:t>👉 跟 我 读!  Read after me!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4114800" cy="3017520"/>
          </a:xfrm>
          <a:prstGeom prst="rect">
            <a:avLst/>
          </a:prstGeom>
          <a:solidFill>
            <a:srgbClr val="E8EEE0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BA03D"/>
                </a:solidFill>
                <a:latin typeface="KaiTi"/>
              </a:rPr>
              <a:t>📷 真 实 照 片 · Real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A03D"/>
                </a:solidFill>
                <a:latin typeface="KaiTi"/>
              </a:rPr>
              <a:t>👇 在 这 里 插 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7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📸 关 灯 的 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718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Image placeholder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9651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A03D"/>
                </a:solidFill>
                <a:latin typeface="KaiTi"/>
              </a:rPr>
              <a:t>📌 例 句 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 们 要 节 约 用 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90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We should save electricity.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🔗 配 对 游 戏  ·  Match the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把 字 跟 图 连 起 来!  Match each word with its picture!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28016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2A5F5"/>
                </a:solidFill>
                <a:latin typeface="KaiTi"/>
              </a:rPr>
              <a:t>地 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01952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5A2B"/>
                </a:solidFill>
                <a:latin typeface="KaiT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93392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5A2B"/>
                </a:solidFill>
                <a:latin typeface="KaiTi"/>
              </a:rPr>
              <a:t>资 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15184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066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65C00"/>
                </a:solidFill>
                <a:latin typeface="KaiT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06624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5C00"/>
                </a:solidFill>
                <a:latin typeface="KaiTi"/>
              </a:rPr>
              <a:t>能 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28415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198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19856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  <a:latin typeface="KaiTi"/>
              </a:rPr>
              <a:t>太 阳 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41648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3308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A03D"/>
                </a:solidFill>
                <a:latin typeface="KaiT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33087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BA03D"/>
                </a:solidFill>
                <a:latin typeface="KaiTi"/>
              </a:rPr>
              <a:t>节 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1188720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1280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12344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C2C2C"/>
                </a:solidFill>
                <a:latin typeface="KaiTi"/>
              </a:rPr>
              <a:t>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1901952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194767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C2C2C"/>
                </a:solidFill>
                <a:latin typeface="KaiTi"/>
              </a:rPr>
              <a:t>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0" y="2615184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0" y="27066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266090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0" y="3328415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60" y="34198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3374135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C2C2C"/>
                </a:solidFill>
                <a:latin typeface="KaiTi"/>
              </a:rPr>
              <a:t>⛏️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94960" y="4041648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413308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40873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C2C2C"/>
                </a:solidFill>
                <a:latin typeface="KaiTi"/>
              </a:rPr>
              <a:t>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2834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2A5F5"/>
                </a:solidFill>
                <a:latin typeface="KaiTi"/>
              </a:rPr>
              <a:t>🤝 配 对</a:t>
            </a:r>
          </a:p>
        </p:txBody>
      </p:sp>
      <p:sp>
        <p:nvSpPr>
          <p:cNvPr id="36" name="Left-Right Arrow 35"/>
          <p:cNvSpPr/>
          <p:nvPr/>
        </p:nvSpPr>
        <p:spPr>
          <a:xfrm>
            <a:off x="3794760" y="3200400"/>
            <a:ext cx="1508760" cy="365760"/>
          </a:xfrm>
          <a:prstGeom prst="leftRightArrow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65760" y="4754880"/>
            <a:ext cx="8412480" cy="2743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7731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C242"/>
                </a:solidFill>
                <a:latin typeface="KaiTi"/>
              </a:rPr>
              <a:t>🔑 答 案 (老 师 用): 1-E  2-D  3-A  4-B  5-C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👋 拍 词 卡!  ·  Slap the Word!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两 人 一 组 — 老 师 念 词, 谁 先 拍 到 谁 赢!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5779" y="1188720"/>
            <a:ext cx="26060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39" y="137160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2C2C2C"/>
                </a:solidFill>
                <a:latin typeface="KaiTi"/>
              </a:rPr>
              <a:t>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1619" y="146304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2A5F5"/>
                </a:solidFill>
                <a:latin typeface="KaiTi"/>
              </a:rPr>
              <a:t>地 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8979" y="1188720"/>
            <a:ext cx="26060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6139" y="137160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2C2C2C"/>
                </a:solidFill>
                <a:latin typeface="KaiTi"/>
              </a:rPr>
              <a:t>⛏️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4820" y="146304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5A2B"/>
                </a:solidFill>
                <a:latin typeface="KaiTi"/>
              </a:rPr>
              <a:t>资 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2179" y="1188720"/>
            <a:ext cx="26060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9340" y="137160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2C2C2C"/>
                </a:solidFill>
                <a:latin typeface="KaiTi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8019" y="146304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5C00"/>
                </a:solidFill>
                <a:latin typeface="KaiTi"/>
              </a:rPr>
              <a:t>能 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79" y="2468880"/>
            <a:ext cx="26060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39" y="265176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1619" y="27432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  <a:latin typeface="KaiTi"/>
              </a:rPr>
              <a:t>太 阳 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68979" y="2468880"/>
            <a:ext cx="26060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6139" y="265176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2C2C2C"/>
                </a:solidFill>
                <a:latin typeface="KaiT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4820" y="27432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BA03D"/>
                </a:solidFill>
                <a:latin typeface="KaiTi"/>
              </a:rPr>
              <a:t>节 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2179" y="2468880"/>
            <a:ext cx="26060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9340" y="265176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2C2C2C"/>
                </a:solidFill>
                <a:latin typeface="KaiTi"/>
              </a:rPr>
              <a:t>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8019" y="27432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  <a:latin typeface="KaiTi"/>
              </a:rPr>
              <a:t>拍!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023360"/>
            <a:ext cx="8412480" cy="914400"/>
          </a:xfrm>
          <a:prstGeom prst="roundRect">
            <a:avLst/>
          </a:prstGeom>
          <a:solidFill>
            <a:srgbClr val="42A5F5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114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242"/>
                </a:solidFill>
                <a:latin typeface="KaiTi"/>
              </a:rPr>
              <a:t>🎯 怎 么 玩: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389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KaiTi"/>
              </a:rPr>
              <a:t>• 两 人 一 组, 桌 上 摆 5 张 词 卡   • 老 师 念 词   • 谁 先 拍 中 谁 赢!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69087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3E0"/>
                </a:solidFill>
                <a:latin typeface="KaiTi"/>
              </a:rPr>
              <a:t>Pairs · 5 cards on table · teacher calls · first slap wins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🗣️ 句 型 练 习  ·  Sentence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和 同 桌 一 起 — 用 两 个 句 型 各 说 一 句!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1325880"/>
          </a:xfrm>
          <a:prstGeom prst="roundRect">
            <a:avLst/>
          </a:prstGeom>
          <a:solidFill>
            <a:srgbClr val="42A5F5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242"/>
                </a:solidFill>
                <a:latin typeface="KaiTi"/>
              </a:rPr>
              <a:t>1️⃣  认 识 能 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91056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KaiTi"/>
              </a:rPr>
              <a:t>「______ 能 来 自 ______.」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39696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3E0"/>
                </a:solidFill>
                <a:latin typeface="KaiTi"/>
              </a:rPr>
              <a:t>☀️ 太 阳 能 来 自 太 阳.  /  💨 风 能 来 自 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8229600" cy="1325880"/>
          </a:xfrm>
          <a:prstGeom prst="roundRect">
            <a:avLst/>
          </a:prstGeom>
          <a:solidFill>
            <a:srgbClr val="6BA03D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242"/>
                </a:solidFill>
                <a:latin typeface="KaiTi"/>
              </a:rPr>
              <a:t>2️⃣  节 约 资 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54096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KaiTi"/>
              </a:rPr>
              <a:t>「我 会 节 约 ______.」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02736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3E0"/>
                </a:solidFill>
                <a:latin typeface="KaiTi"/>
              </a:rPr>
              <a:t>💡 我 会 节 约 电.  /  💧 我 会 节 约 水.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114800"/>
            <a:ext cx="8412480" cy="8229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187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A5F5"/>
                </a:solidFill>
                <a:latin typeface="KaiTi"/>
              </a:rPr>
              <a:t>👥 同 桌 练 习  Pair Practice: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6227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2C2C"/>
                </a:solidFill>
                <a:latin typeface="KaiTi"/>
              </a:rPr>
              <a:t>一 人 说 句 型 1, 一 人 说 句 型 2 — 然 后 交 换!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✏️ 我 会 写 · 地 球  I Can Write · Earth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一 起 来 写 「地 球」!  Practice writing 地 球 (Earth)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280160"/>
            <a:ext cx="118872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24862" y="1280160"/>
            <a:ext cx="13716" cy="11887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37360" y="1867662"/>
            <a:ext cx="1188720" cy="13716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28016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42A5F5"/>
                </a:solidFill>
                <a:latin typeface="KaiTi"/>
              </a:rPr>
              <a:t>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14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88888"/>
                </a:solidFill>
                <a:latin typeface="KaiTi"/>
              </a:rPr>
              <a:t>dì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280160"/>
            <a:ext cx="118872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5022" y="1280160"/>
            <a:ext cx="13716" cy="11887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1867662"/>
            <a:ext cx="1188720" cy="13716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28016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42A5F5"/>
                </a:solidFill>
                <a:latin typeface="KaiTi"/>
              </a:rPr>
              <a:t>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14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88888"/>
                </a:solidFill>
                <a:latin typeface="KaiTi"/>
              </a:rPr>
              <a:t>qiú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1280160"/>
            <a:ext cx="3108960" cy="3017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0" y="1280160"/>
            <a:ext cx="3108960" cy="45720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13441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KaiTi"/>
              </a:rPr>
              <a:t>✏️ 怎 么 写  How to 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87451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📝 「地」 — dì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14883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6 笔 / 6 strokes
土 字 旁 + 也 — 土 地 的 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📝 「球」 — qiú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9260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11 笔 / 11 strokes
王 (玉) 字 旁 + 求 — 圆 圆 的 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434840"/>
            <a:ext cx="8412480" cy="384048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4897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KaiTi"/>
              </a:rPr>
              <a:t>📓 在 田 字 格 里 写 3 遍  ·  「我 会 写 地 球!」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✏️ 我 会 写 · 节 约  I Can Write · save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一 起 来 写 「节 约」!  Practice writing 节 约 (save)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280160"/>
            <a:ext cx="118872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24862" y="1280160"/>
            <a:ext cx="13716" cy="11887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37360" y="1867662"/>
            <a:ext cx="1188720" cy="13716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28016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6BA03D"/>
                </a:solidFill>
                <a:latin typeface="KaiTi"/>
              </a:rPr>
              <a:t>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14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88888"/>
                </a:solidFill>
                <a:latin typeface="KaiTi"/>
              </a:rPr>
              <a:t>jié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280160"/>
            <a:ext cx="118872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5022" y="1280160"/>
            <a:ext cx="13716" cy="11887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1867662"/>
            <a:ext cx="1188720" cy="13716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28016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6BA03D"/>
                </a:solidFill>
                <a:latin typeface="KaiTi"/>
              </a:rPr>
              <a:t>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14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88888"/>
                </a:solidFill>
                <a:latin typeface="KaiTi"/>
              </a:rPr>
              <a:t>yuē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1280160"/>
            <a:ext cx="3108960" cy="3017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0" y="1280160"/>
            <a:ext cx="3108960" cy="45720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13441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KaiTi"/>
              </a:rPr>
              <a:t>✏️ 怎 么 写  How to 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87451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📝 「节」 — jié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14883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5 笔 / 5 strokes
艹 头 + 卩 — 像 竹 子 一 节 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📝 「约」 — yuē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9260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6 笔 / 6 strokes
纟 (绞 丝 旁) + 勺 — 约 束 一 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434840"/>
            <a:ext cx="8412480" cy="384048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4897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KaiTi"/>
              </a:rPr>
              <a:t>📓 在 田 字 格 里 写 3 遍  ·  「我 会 写 节 约!」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💚 如 何 节 约 资 源?  ·  How to Save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能 源 很 宝 贵 — 我 们 每 天 都 可 以 节 约!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265176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C242"/>
                </a:solidFill>
                <a:latin typeface="KaiTi"/>
              </a:rPr>
              <a:t>关 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61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Turn off 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2724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走 出 房 间 就 关 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325880"/>
            <a:ext cx="265176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4630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286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6970"/>
                </a:solidFill>
                <a:latin typeface="KaiTi"/>
              </a:rPr>
              <a:t>关 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761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Turn off water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12724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刷 牙 时 关 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325880"/>
            <a:ext cx="265176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4630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♻️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286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BA03D"/>
                </a:solidFill>
                <a:latin typeface="KaiTi"/>
              </a:rPr>
              <a:t>重 复 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761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Reuse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312724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纸 两 面 用 / 带 水 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886200"/>
            <a:ext cx="8412480" cy="1005840"/>
          </a:xfrm>
          <a:prstGeom prst="roundRect">
            <a:avLst/>
          </a:prstGeom>
          <a:solidFill>
            <a:srgbClr val="0F1A3A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8678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C242"/>
                </a:solidFill>
                <a:latin typeface="KaiTi"/>
              </a:rPr>
              <a:t>💬 句 型: 「我 会 节 约 ______.」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708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KaiTi"/>
              </a:rPr>
              <a:t>我 会 节 约 电.  ·  我 会 节 约 水.  ·  我 会 节 约 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🎮 复 习 游 戏  ·  Bamboozle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全 班 分 组 抢 答 — 复 习 今 天 的 能 源 知 识!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4023360" cy="3246120"/>
          </a:xfrm>
          <a:prstGeom prst="roundRect">
            <a:avLst/>
          </a:prstGeom>
          <a:solidFill>
            <a:srgbClr val="0F1A3A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>
                <a:solidFill>
                  <a:srgbClr val="2C2C2C"/>
                </a:solidFill>
                <a:latin typeface="KaiTi"/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146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C242"/>
                </a:solidFill>
                <a:latin typeface="KaiTi"/>
              </a:rPr>
              <a:t>Bamboozle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718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3E0"/>
                </a:solidFill>
                <a:latin typeface="KaiTi"/>
              </a:rPr>
              <a:t>能 源 大 复 习</a:t>
            </a:r>
          </a:p>
        </p:txBody>
      </p:sp>
      <p:sp>
        <p:nvSpPr>
          <p:cNvPr id="9" name="Rounded Rectangle 8">
            <a:hlinkClick r:id="rId2"/>
          </p:cNvPr>
          <p:cNvSpPr/>
          <p:nvPr/>
        </p:nvSpPr>
        <p:spPr>
          <a:xfrm>
            <a:off x="1097280" y="3474720"/>
            <a:ext cx="2560320" cy="54864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KaiTi"/>
              </a:rPr>
              <a:t>▶️  点 击 打 开  Open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143000"/>
            <a:ext cx="4114800" cy="3246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1143000"/>
            <a:ext cx="4114800" cy="45720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2070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KaiTi"/>
              </a:rPr>
              <a:t>👩‍🏫 老 师 准 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691640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1. 打 开 baamboozle.com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167128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2. import 「bamboozle_day2_energy.csv」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42616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   (在 同 一 个 文 件 夹)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118104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3. 全 班 分 2-4 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593592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4. 答 对 加 分, 答 错 一 起 复 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526280"/>
            <a:ext cx="8412480" cy="41148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A3A"/>
                </a:solidFill>
                <a:latin typeface="KaiTi"/>
              </a:rPr>
              <a:t>🎯 10 题: 用 不 完/用 得 完 · 太 阳/风/水 · 节 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💭 今 天 我 学 会 了 ...  Today I Learned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C2C2C"/>
                </a:solidFill>
                <a:latin typeface="KaiTi"/>
              </a:rPr>
              <a:t>想 一 想 — 用 一 句 话 说 出 你 学 到 的!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8046720" cy="1371600"/>
          </a:xfrm>
          <a:prstGeom prst="roundRect">
            <a:avLst/>
          </a:prstGeom>
          <a:solidFill>
            <a:srgbClr val="42A5F5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KaiTi"/>
              </a:rPr>
              <a:t>「今 天 我 学 会 了 ____________.」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3E0"/>
                </a:solidFill>
                <a:latin typeface="KaiTi"/>
              </a:rPr>
              <a:t>"Today I learned ___."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899" y="3017520"/>
            <a:ext cx="20116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899" y="31546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19" y="3794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太 阳 能 来 自 太 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1739" y="3017520"/>
            <a:ext cx="20116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1739" y="31546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7459" y="3794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2A5F5"/>
                </a:solidFill>
                <a:latin typeface="KaiTi"/>
              </a:rPr>
              <a:t>风 能 来 自 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0580" y="3017520"/>
            <a:ext cx="20116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0580" y="31546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6300" y="3794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6970"/>
                </a:solidFill>
                <a:latin typeface="KaiTi"/>
              </a:rPr>
              <a:t>水 力 来 自 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89420" y="3017520"/>
            <a:ext cx="20116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9420" y="31546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5140" y="3794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A03D"/>
                </a:solidFill>
                <a:latin typeface="KaiTi"/>
              </a:rPr>
              <a:t>我 会 节 约 资 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2A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KaiTi"/>
              </a:rPr>
              <a:t>🔧 Session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🔧 下 午  ·  我 是 小 小 能 源 工 程 师!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731520" y="429768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1645920" y="411480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7132320" y="411480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7863840" y="429768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🛠️ 今 天 做 什 么?  ·  Solar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我 们 来 做 一 个 太 阳 能 作 品! (老 师 看 套 件 选 一 个)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59" y="1188720"/>
            <a:ext cx="4069080" cy="3611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298448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C242"/>
                </a:solidFill>
                <a:latin typeface="KaiTi"/>
              </a:rPr>
              <a:t>🚗 太 阳 能 小 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10512"/>
            <a:ext cx="3977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Solar Car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79" y="2148840"/>
            <a:ext cx="3520440" cy="1920240"/>
          </a:xfrm>
          <a:prstGeom prst="rect">
            <a:avLst/>
          </a:prstGeom>
          <a:solidFill>
            <a:srgbClr val="E8EEE0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-效果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2221992"/>
            <a:ext cx="3374136" cy="1773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19" y="4160520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242"/>
                </a:solidFill>
                <a:latin typeface="KaiTi"/>
              </a:rPr>
              <a:t>晒 太 阳 → 小 车 自 己 跑!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1188720"/>
            <a:ext cx="4069080" cy="3611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298448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65C00"/>
                </a:solidFill>
                <a:latin typeface="KaiTi"/>
              </a:rPr>
              <a:t>💡 太 阳 能 发 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1810512"/>
            <a:ext cx="3977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Solar Power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79" y="2148840"/>
            <a:ext cx="3520440" cy="1920240"/>
          </a:xfrm>
          <a:prstGeom prst="rect">
            <a:avLst/>
          </a:prstGeom>
          <a:solidFill>
            <a:srgbClr val="E8EEE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-效果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1" y="2221992"/>
            <a:ext cx="3374136" cy="17739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46320" y="4160520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65C00"/>
                </a:solidFill>
                <a:latin typeface="KaiTi"/>
              </a:rPr>
              <a:t>晒 太 阳 → 灯 亮 / 风 扇 转!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🎒 材 料  · 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看 看 我 们 需 要 什 么 — 老 师 已 经 准 备 好 啦!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59" y="1143000"/>
            <a:ext cx="4069080" cy="3611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234440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C242"/>
                </a:solidFill>
                <a:latin typeface="KaiTi"/>
              </a:rPr>
              <a:t>🚗 太 阳 能 小 车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59" y="1737360"/>
            <a:ext cx="3611880" cy="2788920"/>
          </a:xfrm>
          <a:prstGeom prst="rect">
            <a:avLst/>
          </a:prstGeom>
          <a:solidFill>
            <a:srgbClr val="E8EEE0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-材料准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1" y="1810512"/>
            <a:ext cx="3465576" cy="26426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09159" y="1143000"/>
            <a:ext cx="4069080" cy="3611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1234440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5C00"/>
                </a:solidFill>
                <a:latin typeface="KaiTi"/>
              </a:rPr>
              <a:t>💡 太 阳 能 发 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1737360"/>
            <a:ext cx="3611880" cy="2788920"/>
          </a:xfrm>
          <a:prstGeom prst="rect">
            <a:avLst/>
          </a:prstGeom>
          <a:solidFill>
            <a:srgbClr val="E8EEE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-材料准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810512"/>
            <a:ext cx="3465576" cy="26426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🔧 动 手 步 骤  ·  Build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跟 着 图 一 步 一 步 做 — 老 师 先 示 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242"/>
                </a:solidFill>
                <a:latin typeface="KaiTi"/>
              </a:rPr>
              <a:t>🚗 太 阳 能 小 车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874519" cy="1600200"/>
          </a:xfrm>
          <a:prstGeom prst="rect">
            <a:avLst/>
          </a:prstGeom>
          <a:solidFill>
            <a:srgbClr val="E8EEE0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-步骤1、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399032"/>
            <a:ext cx="1728216" cy="14538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77440" y="1325880"/>
            <a:ext cx="1874519" cy="1600200"/>
          </a:xfrm>
          <a:prstGeom prst="rect">
            <a:avLst/>
          </a:prstGeom>
          <a:solidFill>
            <a:srgbClr val="E8EEE0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3-步骤3、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2" y="1399032"/>
            <a:ext cx="1728216" cy="1453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7720" y="10241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5C00"/>
                </a:solidFill>
                <a:latin typeface="KaiTi"/>
              </a:rPr>
              <a:t>💡 太 阳 能 发 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325880"/>
            <a:ext cx="1874519" cy="1600200"/>
          </a:xfrm>
          <a:prstGeom prst="rect">
            <a:avLst/>
          </a:prstGeom>
          <a:solidFill>
            <a:srgbClr val="E8EEE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-步骤图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399032"/>
            <a:ext cx="1728216" cy="145389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29400" y="1325880"/>
            <a:ext cx="1874519" cy="1600200"/>
          </a:xfrm>
          <a:prstGeom prst="rect">
            <a:avLst/>
          </a:prstGeom>
          <a:solidFill>
            <a:srgbClr val="E8EEE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3-步骤图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1399032"/>
            <a:ext cx="1728216" cy="145389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65760" y="3154680"/>
            <a:ext cx="8412480" cy="1783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46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2A5F5"/>
                </a:solidFill>
                <a:latin typeface="KaiTi"/>
              </a:rPr>
              <a:t>🔑 4 个 关 键 步 骤  4 Key Steps: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1️⃣ 装 太 阳 能 板  Attach the solar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41064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2️⃣ 接 上 马 达 / 灯  Connect the motor / 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70248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3️⃣ 装 好 零 件  Assemble the parts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99432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4️⃣ 拿 到 太 阳 下 — 试 一 试!  Take it to the sun — test!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📺 老 师 示 范  ·  Teacher Demo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看 操 作 视 频 — 老 师 一 步 一 步 做 给 你 看!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59" y="1188720"/>
            <a:ext cx="4069080" cy="3108960"/>
          </a:xfrm>
          <a:prstGeom prst="roundRect">
            <a:avLst/>
          </a:prstGeom>
          <a:solidFill>
            <a:srgbClr val="0F1A3A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417320"/>
            <a:ext cx="4069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C2C2C"/>
                </a:solidFill>
                <a:latin typeface="KaiTi"/>
              </a:rPr>
              <a:t>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" y="2468880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C242"/>
                </a:solidFill>
                <a:latin typeface="KaiTi"/>
              </a:rPr>
              <a:t>🚗 太 阳 能 小 车 操 作 视 频</a:t>
            </a:r>
          </a:p>
        </p:txBody>
      </p:sp>
      <p:sp>
        <p:nvSpPr>
          <p:cNvPr id="8" name="Rounded Rectangle 7">
            <a:hlinkClick r:id="rId2"/>
          </p:cNvPr>
          <p:cNvSpPr/>
          <p:nvPr/>
        </p:nvSpPr>
        <p:spPr>
          <a:xfrm>
            <a:off x="1142999" y="3017520"/>
            <a:ext cx="2514600" cy="50292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2999" y="31089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▶️ 点 击 播 放  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" y="365760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KaiTi"/>
              </a:rPr>
              <a:t>互动版_太阳能小车_科学区_大班/太阳能小车_科学区_大班_操作视频.mp4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1188720"/>
            <a:ext cx="4069080" cy="3108960"/>
          </a:xfrm>
          <a:prstGeom prst="roundRect">
            <a:avLst/>
          </a:prstGeom>
          <a:solidFill>
            <a:srgbClr val="0F1A3A"/>
          </a:solidFill>
          <a:ln w="381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417320"/>
            <a:ext cx="4069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C2C2C"/>
                </a:solidFill>
                <a:latin typeface="KaiTi"/>
              </a:rPr>
              <a:t>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468880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C242"/>
                </a:solidFill>
                <a:latin typeface="KaiTi"/>
              </a:rPr>
              <a:t>💡 太 阳 能 发 电 操 作 视 频</a:t>
            </a: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5486399" y="3017520"/>
            <a:ext cx="2514600" cy="50292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399" y="31089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▶️ 点 击 播 放  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599" y="365760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KaiTi"/>
              </a:rPr>
              <a:t>互动版_太阳能发电_科学区_大班/太阳能发电_科学区_大班_操作视频.mp4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434840"/>
            <a:ext cx="8412480" cy="5029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50799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A3A"/>
                </a:solidFill>
                <a:latin typeface="KaiTi"/>
              </a:rPr>
              <a:t>🎬 视 频 在 单 元 文 件 夹 — 老 师 打 开 对 应 项 目 的 操 作 视 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⏱️ 动 手 时 间!  ·  Work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现 在 你 来 做! 老 师 走 动 帮 忙.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4206240" cy="3017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>
                <a:solidFill>
                  <a:srgbClr val="2C2C2C"/>
                </a:solidFill>
                <a:latin typeface="KaiTi"/>
              </a:rPr>
              <a:t>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9748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42A5F5"/>
                </a:solidFill>
                <a:latin typeface="KaiTi"/>
              </a:rPr>
              <a:t>35 分 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461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KaiTi"/>
              </a:rPr>
              <a:t>35 minutes · Build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1188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2A5F5"/>
                </a:solidFill>
                <a:latin typeface="KaiTi"/>
              </a:rPr>
              <a:t>🎵 老 师 放 一 首 背 景 音 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097280"/>
            <a:ext cx="4023360" cy="3017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1097280"/>
            <a:ext cx="4023360" cy="45720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161288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KaiTi"/>
              </a:rPr>
              <a:t>🚶 老 师 走 动 提 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691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✦ 太 阳 能 板 要 对 准 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148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✦ 接 线 接 牢 (老 师 帮 忙)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6060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✦ K-2 — 帮 忙 装 零 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0632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✦ 3-5 — 说 「太 阳 能 来 自 太 阳」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5204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✦ 做 完 拿 到 窗 边/灯 下 试!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251960"/>
            <a:ext cx="8412480" cy="68580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3434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A3A"/>
                </a:solidFill>
                <a:latin typeface="KaiTi"/>
              </a:rPr>
              <a:t>✅ 完 成 检 查: 太 阳 能 板 装 好 · 零 件 接 牢 · 能 在 光 下 动 起 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634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A3A"/>
                </a:solidFill>
                <a:latin typeface="KaiTi"/>
              </a:rPr>
              <a:t>Done check: panel attached · parts connected · works in the light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☀️ 测 试 时 间!  ·  Test in the Sun!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KaiTi"/>
              </a:rPr>
              <a:t>拿 到 太 阳 下 (或 大 灯 下) — 看 它 动 起 来!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65176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C242"/>
                </a:solidFill>
                <a:latin typeface="KaiTi"/>
              </a:rPr>
              <a:t>找 到 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Find the 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8211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走 到 窗 边 / 院 子 / 大 灯 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17320"/>
            <a:ext cx="265176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377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65C00"/>
                </a:solidFill>
                <a:latin typeface="KaiTi"/>
              </a:rPr>
              <a:t>对 准 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Aim the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18211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太 阳 能 板 对 准 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417320"/>
            <a:ext cx="265176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77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A03D"/>
                </a:solidFill>
                <a:latin typeface="KaiTi"/>
              </a:rPr>
              <a:t>动 起 来!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It works!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318211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小 车 跑 / 灯 亮 / 风 扇 转!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977639"/>
            <a:ext cx="8412480" cy="914400"/>
          </a:xfrm>
          <a:prstGeom prst="roundRect">
            <a:avLst/>
          </a:prstGeom>
          <a:solidFill>
            <a:srgbClr val="F5C242"/>
          </a:solidFill>
          <a:ln w="31750">
            <a:solidFill>
              <a:srgbClr val="0F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A3A"/>
                </a:solidFill>
                <a:latin typeface="KaiTi"/>
              </a:rPr>
              <a:t>🤔 没 有 光 会 怎 样? 试 试 用 手 遮 住 板 子!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805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A3A"/>
                </a:solidFill>
                <a:latin typeface="KaiTi"/>
              </a:rPr>
              <a:t>No light = no power! That's why we need the sun. 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🖼️ 作 品 展 示  ·  Gallery Walk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2C2C"/>
                </a:solidFill>
                <a:latin typeface="KaiTi"/>
              </a:rPr>
              <a:t>把 作 品 摆 在 桌 上 — 我 们 一 起 看 一 看!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65176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C242"/>
                </a:solidFill>
                <a:latin typeface="KaiTi"/>
              </a:rPr>
              <a:t>摆 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Set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8211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把 作 品 摆 在 桌 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17320"/>
            <a:ext cx="265176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377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6970"/>
                </a:solidFill>
                <a:latin typeface="KaiTi"/>
              </a:rPr>
              <a:t>静 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Quiet walk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18211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安 静 地 看 别 人 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417320"/>
            <a:ext cx="265176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77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A03D"/>
                </a:solidFill>
                <a:latin typeface="KaiTi"/>
              </a:rPr>
              <a:t>拍 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Applaud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318211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看 到 喜 欢 的 轻 拍 桌 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977639"/>
            <a:ext cx="8412480" cy="914400"/>
          </a:xfrm>
          <a:prstGeom prst="roundRect">
            <a:avLst/>
          </a:prstGeom>
          <a:solidFill>
            <a:srgbClr val="42A5F5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160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C242"/>
                </a:solidFill>
                <a:latin typeface="KaiTi"/>
              </a:rPr>
              <a:t>📸 老 师 拍 照 — 留 下 大 家 的 太 阳 能 作 品!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🎤 分 享  ·  Share Your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请 几 位 同 学 — 拿 着 作 品, 用 句 型 说 一 说!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8046720" cy="1417320"/>
          </a:xfrm>
          <a:prstGeom prst="roundRect">
            <a:avLst/>
          </a:prstGeom>
          <a:solidFill>
            <a:srgbClr val="F5C242"/>
          </a:solidFill>
          <a:ln w="38100">
            <a:solidFill>
              <a:srgbClr val="0F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A3A"/>
                </a:solidFill>
                <a:latin typeface="KaiTi"/>
              </a:rPr>
              <a:t>💬 分 享 句 型  Share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1A3A"/>
                </a:solidFill>
                <a:latin typeface="KaiTi"/>
              </a:rPr>
              <a:t>「我 用 太 阳 能 ____________.」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0428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2C2C"/>
                </a:solidFill>
                <a:latin typeface="KaiTi"/>
              </a:rPr>
              <a:t>"I used solar energy to ___."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834640"/>
            <a:ext cx="8412480" cy="20574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926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A5F5"/>
                </a:solidFill>
                <a:latin typeface="KaiTi"/>
              </a:rPr>
              <a:t>💡 举 个 例 子  Examples: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  <a:latin typeface="KaiTi"/>
              </a:rPr>
              <a:t>🚗 「我 用 太 阳 能 让 小 车 跑.」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2160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  <a:latin typeface="KaiTi"/>
              </a:rPr>
              <a:t>💡 「我 用 太 阳 能 让 灯 亮.」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9709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  <a:latin typeface="KaiTi"/>
              </a:rPr>
              <a:t>🌞 「太 阳 能 来 自 太 阳 — 用 不 完!」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451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A5F5"/>
                </a:solidFill>
                <a:latin typeface="KaiTi"/>
              </a:rPr>
              <a:t>👏 每 个 工 程 师 都 说 一 句!  Every engineer shares one sentence!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🏠 在 家 也 能 做  ·  At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今 天 学 的, 回 家 也 可 以 做 — 你 也 是 小 小 能 源 工 程 师!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899" y="1325880"/>
            <a:ext cx="2011680" cy="2194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899" y="14630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899" y="2286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C242"/>
                </a:solidFill>
                <a:latin typeface="KaiTi"/>
              </a:rPr>
              <a:t>随 手 关 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19" y="29718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Turn off lights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1739" y="1325880"/>
            <a:ext cx="2011680" cy="2194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1739" y="14630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1739" y="2286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6970"/>
                </a:solidFill>
                <a:latin typeface="KaiTi"/>
              </a:rPr>
              <a:t>节 约 用 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7459" y="29718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Save water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0580" y="1325880"/>
            <a:ext cx="2011680" cy="2194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0580" y="14630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0580" y="2286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65C00"/>
                </a:solidFill>
                <a:latin typeface="KaiTi"/>
              </a:rPr>
              <a:t>找 找 太 阳 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6300" y="29718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Spot solar around you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89420" y="1325880"/>
            <a:ext cx="2011680" cy="2194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9420" y="14630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👨‍👩‍👧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2286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BA03D"/>
                </a:solidFill>
                <a:latin typeface="KaiTi"/>
              </a:rPr>
              <a:t>告 诉 家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5140" y="29718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Tell your family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749039"/>
            <a:ext cx="8412480" cy="1143000"/>
          </a:xfrm>
          <a:prstGeom prst="roundRect">
            <a:avLst/>
          </a:prstGeom>
          <a:solidFill>
            <a:srgbClr val="0F1A3A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8587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242"/>
                </a:solidFill>
                <a:latin typeface="KaiTi"/>
              </a:rPr>
              <a:t>🌍 小 任 务  Home Mission: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KaiTi"/>
              </a:rPr>
              <a:t>回 家 找 1 个 太 阳 能 的 东 西, 明 天 告 诉 大 家!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9028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3E0"/>
                </a:solidFill>
                <a:latin typeface="KaiTi"/>
              </a:rPr>
              <a:t>Find 1 solar-powered thing at home — share tomorrow!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🎤 分 享 + 再 见!  Share + Goodbye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8412480" cy="1874519"/>
          </a:xfrm>
          <a:prstGeom prst="roundRect">
            <a:avLst/>
          </a:prstGeom>
          <a:solidFill>
            <a:srgbClr val="0F1A3A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C242"/>
                </a:solidFill>
                <a:latin typeface="KaiTi"/>
              </a:rPr>
              <a:t>💬 今 天 我 学 了 — 句 型  Today's Sentence Frames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「___ 能 来 自 ___.」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「我 会 节 约 ___.」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3E0"/>
                </a:solidFill>
                <a:latin typeface="KaiTi"/>
              </a:rPr>
              <a:t>___ energy comes from ___.  ·  I will save ___.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926080"/>
            <a:ext cx="8412480" cy="1920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2A5F5"/>
                </a:solidFill>
                <a:latin typeface="KaiTi"/>
              </a:rPr>
              <a:t>🔮 明 天 见  See You Tomorrow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2C2C"/>
                </a:solidFill>
                <a:latin typeface="KaiTi"/>
              </a:rPr>
              <a:t>🌍  更 多 爱 护 地 球 的 行 动!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31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More ways to protect our Earth!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434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2A5F5"/>
                </a:solidFill>
                <a:latin typeface="KaiTi"/>
              </a:rPr>
              <a:t>👋 想 一 想: 你 今 天 最 喜 欢 的 是 什 么?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