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(1 分钟):</a:t>
            </a:r>
          </a:p>
          <a:p>
            <a:r>
              <a:t>• 「环保小卫士们! 我们的地球生病了 — 今天我们要一起帮它!」</a:t>
            </a:r>
          </a:p>
          <a:p>
            <a:r>
              <a:t>• 不先讲道理 — 先读绘本, 让学生自己发现问题。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(1 分钟):</a:t>
            </a:r>
          </a:p>
          <a:p>
            <a:r>
              <a:t>• 「上 Session 1 我们要学会 5 件事 — 一起读!」</a:t>
            </a:r>
          </a:p>
          <a:p>
            <a:r>
              <a:t>• 跟读 5 个目标, 完成 1 个打 1 个 ✓。</a:t>
            </a:r>
          </a:p>
          <a:p>
            <a:r>
              <a:t>• 关键词: 保护地球 / 零废弃 / 3R / 分类 / 大侦探。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绘本导入 (8 分钟 · 第 1 部分):</a:t>
            </a:r>
          </a:p>
          <a:p>
            <a:r>
              <a:t>• 慢慢看图讲绘本《如果地球被我们吃掉》。</a:t>
            </a:r>
          </a:p>
          <a:p>
            <a:r>
              <a:t>• 边看边指: 水 / 空气 / 树木 / 动物 — 它们给我们什么?</a:t>
            </a:r>
          </a:p>
          <a:p>
            <a:r>
              <a:t>• 先不给结论 — 下一页提出思考问题, 让学生自己想。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think-pair-share (3 分钟):</a:t>
            </a:r>
          </a:p>
          <a:p>
            <a:r>
              <a:t>• 不要给答案!</a:t>
            </a:r>
          </a:p>
          <a:p>
            <a:r>
              <a:t>• 让学生 think → pair → share, 把答案写在白板上。</a:t>
            </a:r>
          </a:p>
          <a:p>
            <a:r>
              <a:t>• 引导词: 钱不能喝, 金子不能呼吸, 也不能吃…</a:t>
            </a:r>
          </a:p>
          <a:p>
            <a:r>
              <a:t>• 说完再翻到下一页揭晓。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答案揭晓 (2 分钟):</a:t>
            </a:r>
          </a:p>
          <a:p>
            <a:r>
              <a:t>• 「你们说得对 — 钱不能喝, 不能呼吸!」</a:t>
            </a:r>
          </a:p>
          <a:p>
            <a:r>
              <a:t>• 强调: 水/空气/树木/动物没有了, 有再多钱也活不下去。</a:t>
            </a:r>
          </a:p>
          <a:p>
            <a:r>
              <a:t>• 过渡: 「那我们怎么保护它们? 从少制造垃圾开始 — 这就叫 Zero Waste!」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 (3 分钟):</a:t>
            </a:r>
          </a:p>
          <a:p>
            <a:r>
              <a:t>• 关键澄清: Zero Waste 不是「多扔多回收」, 而是「一开始就少产生垃圾」。</a:t>
            </a:r>
          </a:p>
          <a:p>
            <a:r>
              <a:t>• 打比方: 水龙头一直流水, 光擦地不如先关小水龙头。</a:t>
            </a:r>
          </a:p>
          <a:p>
            <a:r>
              <a:t>• 过渡: 「有 3 个好办法 — 我们叫它 3R!」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引入 3R (2 分钟):</a:t>
            </a:r>
          </a:p>
          <a:p>
            <a:r>
              <a:t>• 3 个都是 R 开头, 好记!</a:t>
            </a:r>
          </a:p>
          <a:p>
            <a:r>
              <a:t>• 顺序有意义: 先 Reduce (最好), 再 Reuse, 最后才 Recycle。</a:t>
            </a:r>
          </a:p>
          <a:p>
            <a:r>
              <a:t>• 接下来 3 页各讲一个 R + 生活例子。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 (2 分钟):</a:t>
            </a:r>
          </a:p>
          <a:p>
            <a:r>
              <a:t>• 强调这是「最好的 R」— 没产生的垃圾才是真正的零垃圾。</a:t>
            </a:r>
          </a:p>
          <a:p>
            <a:r>
              <a:t>• 让学生举例: 家里可以少用什么?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 (2 分钟):</a:t>
            </a:r>
          </a:p>
          <a:p>
            <a:r>
              <a:t>• 「扔之前先想: 它还能做什么?」</a:t>
            </a:r>
          </a:p>
          <a:p>
            <a:r>
              <a:t>• 这一条正好连到 Session 3 的「变废为宝」项目。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Recycle (2 分钟):</a:t>
            </a:r>
          </a:p>
          <a:p>
            <a:r>
              <a:t>• 回收要分类: 塑料 / 纸 / 金属 / 玻璃。</a:t>
            </a:r>
          </a:p>
          <a:p>
            <a:r>
              <a:t>• 提醒: 脏的、混在一起的回收不了 — 所以 Reduce/Reuse 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分类游戏 (10 分钟):</a:t>
            </a:r>
          </a:p>
          <a:p>
            <a:r>
              <a:t>• 老师准备: 3 张 R 区标牌 (贴墙/地上) + 一叠图片卡。</a:t>
            </a:r>
          </a:p>
          <a:p>
            <a:r>
              <a:t>• 图片卡例子见下一页。</a:t>
            </a:r>
          </a:p>
          <a:p>
            <a:r>
              <a:t>• 每个学生上台 1 张, 边贴边说理由。</a:t>
            </a:r>
          </a:p>
          <a:p>
            <a:r>
              <a:t>• 有的图片可以放多个 R 区 — 允许! 让学生解释就好 (例: 塑料瓶可 Reuse 也可 Recycle)。</a:t>
            </a:r>
          </a:p>
          <a:p>
            <a:r>
              <a:t>• 低 prep: 图片可从旧杂志剪, 或直接用实物 (瓶子/纸/罐子)。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参考答案 (老师用):</a:t>
            </a:r>
          </a:p>
          <a:p>
            <a:r>
              <a:t>• 有些答案不唯一 — 关键是学生能说出理由。</a:t>
            </a:r>
          </a:p>
          <a:p>
            <a:r>
              <a:t>• 塑料瓶: 洗净可 Reuse (花盆/笔筒), 也可 Recycle。</a:t>
            </a:r>
          </a:p>
          <a:p>
            <a:r>
              <a:t>• 纸箱: 可 Reuse (做手工) 或 Recycle。</a:t>
            </a:r>
          </a:p>
          <a:p>
            <a:r>
              <a:t>• 引导「优先级」: 能 Reduce 就 Reduce, 不能才 Reuse, 最后 Recycle。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大侦探 (8 分钟):</a:t>
            </a:r>
          </a:p>
          <a:p>
            <a:r>
              <a:t>• 展示 6-10 张「不环保」的图片 (这里 6 个, 可加更多)。</a:t>
            </a:r>
          </a:p>
          <a:p>
            <a:r>
              <a:t>• 每张: 先找问题, 再说更好的做法。参考答案:</a:t>
            </a:r>
          </a:p>
          <a:p>
            <a:r>
              <a:t>  - 水龙头一直开 → 用完就关 (Reduce)</a:t>
            </a:r>
          </a:p>
          <a:p>
            <a:r>
              <a:t>  - 一次性餐具 → 用可洗的餐具 (Reduce/Reuse)</a:t>
            </a:r>
          </a:p>
          <a:p>
            <a:r>
              <a:t>  - 没人开灯 → 离开关灯 (Reduce)</a:t>
            </a:r>
          </a:p>
          <a:p>
            <a:r>
              <a:t>  - 纸只用一面 → 两面都用 / 回收 (Reduce/Recycle)</a:t>
            </a:r>
          </a:p>
          <a:p>
            <a:r>
              <a:t>  - 塑料袋 → 自带布袋 (Reduce/Reuse)</a:t>
            </a:r>
          </a:p>
          <a:p>
            <a:r>
              <a:t>  - 塑料吸管+瓶 → 自带水杯 (Reduce)</a:t>
            </a:r>
          </a:p>
          <a:p>
            <a:r>
              <a:t>• 句型: 「问题是___, 更好的做法是___。」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学校讨论 (6-8 分钟):</a:t>
            </a:r>
          </a:p>
          <a:p>
            <a:r>
              <a:t>• 提问: 「我们学校 / 教室怎样少制造垃圾? 少用纸?」</a:t>
            </a:r>
          </a:p>
          <a:p>
            <a:r>
              <a:t>• 老师把学生的点子写在黑板上 (上面 6 个是例子, 鼓励更多)。</a:t>
            </a:r>
          </a:p>
          <a:p>
            <a:r>
              <a:t>• 全班投票选 2-3 个「这两天执行」的行动。</a:t>
            </a:r>
          </a:p>
          <a:p>
            <a:r>
              <a:t>• 把选中的写下来贴在教室 — Day 5 回顾做到没有。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 (1 分钟):</a:t>
            </a:r>
          </a:p>
          <a:p>
            <a:r>
              <a:t>• 只做预告 — 不讲项目细节 (项目在 Day 5 环保艺术展)。</a:t>
            </a:r>
          </a:p>
          <a:p>
            <a:r>
              <a:t>• 请学生开始收集干净的废物 (瓶子/纸箱/瓶盖/旧杂志), Day 5 带来。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复习游戏 (8-10 分钟):</a:t>
            </a:r>
          </a:p>
          <a:p>
            <a:r>
              <a:t>• 题目涵盖: 什么是 Zero Waste / 3R 各是什么 / 分类 / 大侦探场景 / 词语。</a:t>
            </a:r>
          </a:p>
          <a:p>
            <a:r>
              <a:t>• 把 Baamboozle 链接粘到这一页, 上课直接打开。</a:t>
            </a:r>
          </a:p>
          <a:p>
            <a:r>
              <a:t>• 全班分 2-3 组抢答。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游戏 (3 分钟):</a:t>
            </a:r>
          </a:p>
          <a:p>
            <a:r>
              <a:t>• 老师喊英文, 学生指对应中文字 + 大声读。</a:t>
            </a:r>
          </a:p>
          <a:p>
            <a:r>
              <a:t>• 反过来: 老师喊中文, 学生说英文。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合词 (3 分钟):</a:t>
            </a:r>
          </a:p>
          <a:p>
            <a:r>
              <a:t>• 环 (环境) + 保 (保护) = 环保 = 保护环境。</a:t>
            </a:r>
          </a:p>
          <a:p>
            <a:r>
              <a:t>• 让学生用「环保」造句 (口头), 说得好的写在黑板上。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9144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ZERO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KaiTi"/>
              </a:rPr>
              <a:t>♻️ 零废弃与 3R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1F8E9"/>
                </a:solidFill>
                <a:latin typeface="KaiTi"/>
              </a:rPr>
              <a:t>Zero Waste  ·  Reduce · Reuse · Recycle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  <a:latin typeface="KaiTi"/>
              </a:rPr>
              <a:t>🌍 环保小卫士任务  Earth Guardian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4423"/>
                </a:solidFill>
                <a:latin typeface="KaiTi"/>
              </a:rPr>
              <a:t>读绘本 · 认 3R · 分类 · 当侦探 · 变废为宝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4423"/>
                </a:solidFill>
                <a:latin typeface="KaiTi"/>
              </a:rPr>
              <a:t>Read · Sort · Investigate · Discuss · 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C242"/>
                </a:solidFill>
                <a:latin typeface="KaiTi"/>
              </a:rPr>
              <a:t>零废弃 · Zero Waste 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🎯 Session 1 学习目标  Today's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KaiTi"/>
              </a:rPr>
              <a:t>上完 Session 1, 你可以…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After Session 1, you can…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841248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1️⃣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002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88E3C"/>
                </a:solidFill>
                <a:latin typeface="KaiTi"/>
              </a:rPr>
              <a:t>知道地球需要我们保护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645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Know the Earth needs us (not money!)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48840"/>
            <a:ext cx="841248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2️⃣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94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7D32"/>
                </a:solidFill>
                <a:latin typeface="KaiTi"/>
              </a:rPr>
              <a:t>知道什么是「零废弃」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240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Know what Zero Waste means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743200"/>
            <a:ext cx="841248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3️⃣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7889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43A047"/>
                </a:solidFill>
                <a:latin typeface="KaiTi"/>
              </a:rPr>
              <a:t>认识 3R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834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Reduce 减少 · Reuse 重复用 · Recycle 回收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337560"/>
            <a:ext cx="841248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4️⃣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383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B8C00"/>
                </a:solidFill>
                <a:latin typeface="KaiTi"/>
              </a:rPr>
              <a:t>把垃圾分到 3R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429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Sort trash into the 3R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931920"/>
            <a:ext cx="841248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02335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2C2C"/>
                </a:solidFill>
                <a:latin typeface="KaiTi"/>
              </a:rPr>
              <a:t>5️⃣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9776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88E5"/>
                </a:solidFill>
                <a:latin typeface="KaiTi"/>
              </a:rPr>
              <a:t>找出不环保, 说更好的做法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02335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Spot the problem, say a better 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KaiTi"/>
              </a:rPr>
              <a:t>🌍 Session 1  上午 46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KaiTi"/>
              </a:rPr>
              <a:t>📖 绘本 · 3R · 分类 · 大侦探 · 变废为宝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📖 绘本时间  Story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4572000" cy="329184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BB"/>
                </a:solidFill>
                <a:latin typeface="KaiTi"/>
              </a:rPr>
              <a:t>📷 绘本《如果地球被我们吃掉》插图 / picture-book illustration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868680"/>
            <a:ext cx="3840480" cy="3291840"/>
          </a:xfrm>
          <a:prstGeom prst="roundRect">
            <a:avLst/>
          </a:prstGeom>
          <a:solidFill>
            <a:srgbClr val="F1F8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051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KaiTi"/>
              </a:rPr>
              <a:t>《如果地球被我们吃掉》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KaiTi"/>
              </a:rPr>
              <a:t>If We Ate Up the Whole Earth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57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88E5"/>
                </a:solidFill>
                <a:latin typeface="KaiTi"/>
              </a:rPr>
              <a:t>🌊 水  Water</a:t>
            </a:r>
          </a:p>
          <a:p>
            <a:r>
              <a:rPr sz="1700" b="1">
                <a:solidFill>
                  <a:srgbClr val="4A90D9"/>
                </a:solidFill>
                <a:latin typeface="KaiTi"/>
              </a:rPr>
              <a:t>🌬️ 空气  Air</a:t>
            </a:r>
          </a:p>
          <a:p>
            <a:r>
              <a:rPr sz="1700" b="1">
                <a:solidFill>
                  <a:srgbClr val="2E7D32"/>
                </a:solidFill>
                <a:latin typeface="KaiTi"/>
              </a:rPr>
              <a:t>🌳 树木  Trees</a:t>
            </a:r>
          </a:p>
          <a:p>
            <a:r>
              <a:rPr sz="1700" b="1">
                <a:solidFill>
                  <a:srgbClr val="6B4423"/>
                </a:solidFill>
                <a:latin typeface="KaiTi"/>
              </a:rPr>
              <a:t>🐾 动物  Animals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KaiTi"/>
              </a:rPr>
              <a:t>我们一边看图, 一边想: 图里有什么? 它们重要吗?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🤔 想一想  Big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如果水、空气、树木、动物都没有了…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04A3C"/>
                </a:solidFill>
                <a:latin typeface="KaiTi"/>
              </a:rPr>
              <a:t>只剩下钱和金子 💰 — 会发生什么?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If water, air, trees &amp; animals are all gone — only money &amp; gold left. What happens?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40280"/>
            <a:ext cx="2011680" cy="1600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C2C2C"/>
                </a:solidFill>
                <a:latin typeface="KaiTi"/>
              </a:rPr>
              <a:t>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D32"/>
                </a:solidFill>
                <a:latin typeface="KaiTi"/>
              </a:rPr>
              <a:t>想法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240280"/>
            <a:ext cx="2011680" cy="1600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C2C2C"/>
                </a:solidFill>
                <a:latin typeface="KaiTi"/>
              </a:rPr>
              <a:t>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D32"/>
                </a:solidFill>
                <a:latin typeface="KaiTi"/>
              </a:rPr>
              <a:t>想法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240280"/>
            <a:ext cx="2011680" cy="1600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C2C2C"/>
                </a:solidFill>
                <a:latin typeface="KaiTi"/>
              </a:rPr>
              <a:t>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D32"/>
                </a:solidFill>
                <a:latin typeface="KaiTi"/>
              </a:rPr>
              <a:t>想法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2240280"/>
            <a:ext cx="2011680" cy="1600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C2C2C"/>
                </a:solidFill>
                <a:latin typeface="KaiTi"/>
              </a:rPr>
              <a:t>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91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7D32"/>
                </a:solidFill>
                <a:latin typeface="KaiTi"/>
              </a:rPr>
              <a:t>想法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977639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014215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24527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钱能喝吗? 金子能呼吸吗?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14215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24527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Think-Pair-Share: 我觉得会 ___ 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💚 我们真正需要的  What We Really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2C2C"/>
                </a:solidFill>
                <a:latin typeface="KaiTi"/>
              </a:rPr>
              <a:t>钱买不到这些! 它们才是宝贝。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Money can't buy these — they are the real treasure.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2011680" cy="2286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C2C2C"/>
                </a:solidFill>
                <a:latin typeface="KaiTi"/>
              </a:rPr>
              <a:t>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88E5"/>
                </a:solidFill>
                <a:latin typeface="KaiTi"/>
              </a:rPr>
              <a:t>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46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We drink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554480"/>
            <a:ext cx="2011680" cy="2286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737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C2C2C"/>
                </a:solidFill>
                <a:latin typeface="KaiTi"/>
              </a:rPr>
              <a:t>🌬️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KaiTi"/>
              </a:rPr>
              <a:t>空气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246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We breathe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554480"/>
            <a:ext cx="2011680" cy="2286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737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C2C2C"/>
                </a:solidFill>
                <a:latin typeface="KaiTi"/>
              </a:rPr>
              <a:t>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KaiTi"/>
              </a:rPr>
              <a:t>树木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246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They make air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1554480"/>
            <a:ext cx="2011680" cy="2286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4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737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C2C2C"/>
                </a:solidFill>
                <a:latin typeface="KaiTi"/>
              </a:rPr>
              <a:t>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4423"/>
                </a:solidFill>
                <a:latin typeface="KaiTi"/>
              </a:rPr>
              <a:t>动物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46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Our friends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06908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1056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3159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所以我们要保护地球, 还是保护钱?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10565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3159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一起说: 保护地球! 保护水、空气、树、动物!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🌱 什么是 Zero Waste?  What is Zero Waste?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4114800" cy="2286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04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D04A3C"/>
                </a:solidFill>
                <a:latin typeface="KaiTi"/>
              </a:rPr>
              <a:t>❌ 不是…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2C2C"/>
                </a:solidFill>
                <a:latin typeface="KaiTi"/>
              </a:rPr>
              <a:t>不是等垃圾多了
再去处理垃圾。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KaiTi"/>
              </a:rPr>
              <a:t>NOT just dealing with trash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914400"/>
            <a:ext cx="4114800" cy="2286000"/>
          </a:xfrm>
          <a:prstGeom prst="roundRect">
            <a:avLst/>
          </a:prstGeom>
          <a:solidFill>
            <a:srgbClr val="F1F8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051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D32"/>
                </a:solidFill>
                <a:latin typeface="KaiTi"/>
              </a:rPr>
              <a:t>✅ 而是…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6002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E7D32"/>
                </a:solidFill>
                <a:latin typeface="KaiTi"/>
              </a:rPr>
              <a:t>努力少制造
垃圾! 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KaiTi"/>
              </a:rPr>
              <a:t>Make LESS trash in the first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2C2C"/>
                </a:solidFill>
                <a:latin typeface="KaiTi"/>
              </a:rPr>
              <a:t>少一点垃圾 = 帮地球一个大忙!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06908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1056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3159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我们怎样才能少制造垃圾?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0565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3159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一起想: 我可以 ___ , 少一点垃圾!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3️⃣ 认识 3R  Meet the 3R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2C2C"/>
                </a:solidFill>
                <a:latin typeface="KaiTi"/>
              </a:rPr>
              <a:t>3 个好办法, 都是 R 开头!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2743200" cy="28346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19" y="1371600"/>
            <a:ext cx="64008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41732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KaiTi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⬇️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88E5"/>
                </a:solidFill>
                <a:latin typeface="KaiTi"/>
              </a:rPr>
              <a:t>Reduce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减少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Use less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234440"/>
            <a:ext cx="2743200" cy="28346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79" y="1371600"/>
            <a:ext cx="640080" cy="45720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141732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KaiTi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920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B8C00"/>
                </a:solidFill>
                <a:latin typeface="KaiTi"/>
              </a:rPr>
              <a:t>Reuse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重复使用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Use again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234440"/>
            <a:ext cx="2743200" cy="28346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78040" y="1371600"/>
            <a:ext cx="640080" cy="45720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79" y="141732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KaiTi"/>
              </a:rP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20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3A047"/>
                </a:solidFill>
                <a:latin typeface="KaiTi"/>
              </a:rPr>
              <a:t>Recycle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回收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Make new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19709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4074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3R 是哪 3 个? 一起念!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19709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4074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Reduce 减少! Reuse 重复使用! Recycle 回收!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R  Reduce · 减少  (jiǎn shǎo)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少用 = 从源头少制造垃圾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20116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974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88E5"/>
                </a:solidFill>
                <a:latin typeface="KaiTi"/>
              </a:rPr>
              <a:t>关小水龙头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417320"/>
            <a:ext cx="20116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600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6974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88E5"/>
                </a:solidFill>
                <a:latin typeface="KaiTi"/>
              </a:rPr>
              <a:t>纸用两面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417320"/>
            <a:ext cx="20116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600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974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88E5"/>
                </a:solidFill>
                <a:latin typeface="KaiTi"/>
              </a:rPr>
              <a:t>自带布袋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417320"/>
            <a:ext cx="20116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974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88E5"/>
                </a:solidFill>
                <a:latin typeface="KaiTi"/>
              </a:rPr>
              <a:t>不用一次性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03320"/>
            <a:ext cx="841248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6732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KaiTi"/>
              </a:rPr>
              <a:t>💚 最好的办法 — 一开始就用得少!  Best R: use less!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R  Reuse · 重复使用  (chóng fù shǐ yòng)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同一样东西, 再用一次、很多次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20116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974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8C00"/>
                </a:solidFill>
                <a:latin typeface="KaiTi"/>
              </a:rPr>
              <a:t>瓶子当花盆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417320"/>
            <a:ext cx="20116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600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6974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8C00"/>
                </a:solidFill>
                <a:latin typeface="KaiTi"/>
              </a:rPr>
              <a:t>旧衣服传给弟妹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417320"/>
            <a:ext cx="20116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600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974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8C00"/>
                </a:solidFill>
                <a:latin typeface="KaiTi"/>
              </a:rPr>
              <a:t>纸箱做玩具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417320"/>
            <a:ext cx="20116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974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8C00"/>
                </a:solidFill>
                <a:latin typeface="KaiTi"/>
              </a:rPr>
              <a:t>罐子做笔筒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03320"/>
            <a:ext cx="8412480" cy="45720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6732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KaiTi"/>
              </a:rPr>
              <a:t>🔁 别急着扔 — 想想还能做什么!  Don't toss — reuse it!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R  Recycle · 回收  (huí shōu)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扔进回收箱, 工厂把它变成新东西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20116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974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3A047"/>
                </a:solidFill>
                <a:latin typeface="KaiTi"/>
              </a:rPr>
              <a:t>塑料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417320"/>
            <a:ext cx="20116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600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6974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3A047"/>
                </a:solidFill>
                <a:latin typeface="KaiTi"/>
              </a:rPr>
              <a:t>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417320"/>
            <a:ext cx="20116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600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974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3A047"/>
                </a:solidFill>
                <a:latin typeface="KaiTi"/>
              </a:rPr>
              <a:t>金属罐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417320"/>
            <a:ext cx="2011680" cy="2148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974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3A047"/>
                </a:solidFill>
                <a:latin typeface="KaiTi"/>
              </a:rPr>
              <a:t>玻璃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03320"/>
            <a:ext cx="8412480" cy="45720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6732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KaiTi"/>
              </a:rPr>
              <a:t>♻️ 分对箱子, 它就有第二次生命!  Sort it right — new life!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🎮 3R 分类游戏  3R Sorting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2C2C"/>
                </a:solidFill>
                <a:latin typeface="KaiTi"/>
              </a:rPr>
              <a:t>上台! 拿一张图片, 放进对的 R 区, 说理由!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2743200" cy="13716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KaiTi"/>
              </a:rPr>
              <a:t>⬇️ Reduce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KaiTi"/>
              </a:rPr>
              <a:t>减少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80160"/>
            <a:ext cx="2743200" cy="137160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KaiTi"/>
              </a:rPr>
              <a:t>🔁 Reuse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KaiTi"/>
              </a:rPr>
              <a:t>重复使用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743200" cy="137160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KaiTi"/>
              </a:rPr>
              <a:t>♻️ Recycle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KaiTi"/>
              </a:rPr>
              <a:t>回收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34640"/>
            <a:ext cx="8412480" cy="123444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26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B8C00"/>
                </a:solidFill>
                <a:latin typeface="KaiTi"/>
              </a:rPr>
              <a:t>🎯 怎么玩  How to 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1️⃣ 老师在墙上贴 3 个 R 区</a:t>
            </a:r>
          </a:p>
          <a:p>
            <a:r>
              <a:rPr sz="1300" b="1">
                <a:solidFill>
                  <a:srgbClr val="2C2C2C"/>
                </a:solidFill>
                <a:latin typeface="KaiTi"/>
              </a:rPr>
              <a:t>2️⃣ 学生上台抽一张图片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291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3️⃣ 走到对的 R 区贴上</a:t>
            </a:r>
          </a:p>
          <a:p>
            <a:r>
              <a:rPr sz="1200" b="1">
                <a:solidFill>
                  <a:srgbClr val="2E7D32"/>
                </a:solidFill>
                <a:latin typeface="KaiTi"/>
              </a:rPr>
              <a:t>4️⃣ 说: 我把 ___ 放在 ___ , 因为 ___ 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19709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4074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这张图片应该放哪个 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19709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074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「我把 ___ 放在 ___ , 因为 ___ 。」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🃏 分类卡片 + 参考答案  Sorting Cards +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160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💧 一直流的水龙头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161288"/>
            <a:ext cx="1325880" cy="384048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117043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KaiTi"/>
              </a:rPr>
              <a:t>Reduce 减少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960120"/>
            <a:ext cx="4160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0515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📄 只写一面的纸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161288"/>
            <a:ext cx="1325880" cy="384048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117043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KaiTi"/>
              </a:rPr>
              <a:t>Reduce 减少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856232"/>
            <a:ext cx="4160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4767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🍶 空塑料瓶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2057400"/>
            <a:ext cx="1325880" cy="384048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066544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KaiTi"/>
              </a:rPr>
              <a:t>Reuse / Recycle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856232"/>
            <a:ext cx="4160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94767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👕 小了的衣服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2057400"/>
            <a:ext cx="1325880" cy="384048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2066544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KaiTi"/>
              </a:rPr>
              <a:t>Reuse 重复使用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752344"/>
            <a:ext cx="4160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43784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📦 快递纸箱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2953512"/>
            <a:ext cx="1325880" cy="38404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2962656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KaiTi"/>
              </a:rPr>
              <a:t>Reuse / Recycle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2752344"/>
            <a:ext cx="4160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843784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🥫 喝完的易拉罐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2953512"/>
            <a:ext cx="1325880" cy="38404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2962656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KaiTi"/>
              </a:rPr>
              <a:t>Recycle 回收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648456"/>
            <a:ext cx="4160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73989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📰 旧报纸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3849624"/>
            <a:ext cx="1325880" cy="384048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385876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KaiTi"/>
              </a:rPr>
              <a:t>Recycle 回收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3648456"/>
            <a:ext cx="4160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373989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🛍️ 塑料袋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3849624"/>
            <a:ext cx="1325880" cy="384048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3858768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KaiTi"/>
              </a:rPr>
              <a:t>Reduce 减少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🕵️ Zero Waste 大侦探  Zero Waste Detective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KaiTi"/>
              </a:rPr>
              <a:t>看图找问题 — 说一个更好的做法!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27432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🔍 水龙头一直开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143000"/>
            <a:ext cx="27432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34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🍽️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🔍 一次性餐具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27432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34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🔍 没人还开灯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560320"/>
            <a:ext cx="27432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🔍 纸只用一面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2560320"/>
            <a:ext cx="27432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🛍️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383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🔍 好多塑料袋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560320"/>
            <a:ext cx="27432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83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🔍 塑料吸管+瓶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19709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4074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侦探! 这里有什么问题? 怎么做更好?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19709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4074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「问题是 ___ 。更好的做法是 ___ 。」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🏫 我们学校怎样少制造垃圾?  Our School's Zero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KaiTi"/>
              </a:rPr>
              <a:t>讨论: 学校怎样少扔垃圾 / 少用纸?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2743200" cy="658368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075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分类回收箱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143000"/>
            <a:ext cx="2743200" cy="658368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80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13075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打印用两面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2743200" cy="658368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80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3075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自带水瓶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920240"/>
            <a:ext cx="2743200" cy="658368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午餐少用一次性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1920240"/>
            <a:ext cx="2743200" cy="658368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2057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离开教室关灯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920240"/>
            <a:ext cx="2743200" cy="658368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057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🖊️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旧纸当草稿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2788920"/>
            <a:ext cx="841248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880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KaiTi"/>
              </a:rPr>
              <a:t>✅ 我们选 2–3 个办法, 这两天一起做!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291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8E9"/>
                </a:solidFill>
                <a:latin typeface="KaiTi"/>
              </a:rPr>
              <a:t>We choose 2–3 to do together for the next 2 days.  老师写在黑板上 ✍️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20624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2428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453127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你想让全班一起做哪 2-3 个?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24281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453127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举手: 我选 ___ ! 因为 ___ 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KaiTi"/>
              </a:rPr>
              <a:t>🎨 下一次…  Coming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C242"/>
                </a:solidFill>
                <a:latin typeface="KaiTi"/>
              </a:rPr>
              <a:t>Day 5: 环保艺术展  Eco Art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1F8E9"/>
                </a:solidFill>
                <a:latin typeface="KaiTi"/>
              </a:rPr>
              <a:t>变废为宝 — 用废物做一件作品! ♻️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1F8E9"/>
                </a:solidFill>
                <a:latin typeface="KaiTi"/>
              </a:rPr>
              <a:t>Trash → Treasure. Bring clean bottles / boxes / caps next time!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这两天先当环保小卫士: Reduce · Reuse · Recycle!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KaiTi"/>
              </a:rPr>
              <a:t>📖 Session 2  下午 40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KaiTi"/>
              </a:rPr>
              <a:t>🔤 复习 + 我会认 5 + 我会写「环保」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🎮 复习游戏  Review · Baamboozle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188720"/>
            <a:ext cx="6400800" cy="3017520"/>
          </a:xfrm>
          <a:prstGeom prst="roundRect">
            <a:avLst/>
          </a:prstGeom>
          <a:solidFill>
            <a:srgbClr val="F1F8E9"/>
          </a:solidFill>
          <a:ln w="317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2C2C2C"/>
                </a:solidFill>
                <a:latin typeface="KaiTi"/>
              </a:rPr>
              <a:t>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KaiTi"/>
              </a:rPr>
              <a:t>老师在这里放 Baamboozle 链接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KaiTi"/>
              </a:rPr>
              <a:t>Teacher: paste your Baamboozle link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B8C00"/>
                </a:solidFill>
                <a:latin typeface="KaiTi"/>
              </a:rPr>
              <a:t>🔗 https://www.baamboozle.com/...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38912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42569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6360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我们来玩复习游戏!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42569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6360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分组抢答 — 答对得分!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🎯 指对字!  Point to the Right Word!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2C2C"/>
                </a:solidFill>
                <a:latin typeface="KaiTi"/>
              </a:rPr>
              <a:t>老师说英文, 你指中文字!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1645920" cy="2194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E7D32"/>
                </a:solidFill>
                <a:latin typeface="KaiTi"/>
              </a:rPr>
              <a:t>环保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88888"/>
                </a:solidFill>
                <a:latin typeface="KaiTi"/>
              </a:rPr>
              <a:t>Eco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1691640"/>
            <a:ext cx="1645920" cy="2194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4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7" y="21031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B4423"/>
                </a:solidFill>
                <a:latin typeface="KaiTi"/>
              </a:rPr>
              <a:t>垃圾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7" y="3246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88888"/>
                </a:solidFill>
                <a:latin typeface="KaiTi"/>
              </a:rPr>
              <a:t>Trash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77056" y="1691640"/>
            <a:ext cx="1645920" cy="2194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22776" y="21031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3A047"/>
                </a:solidFill>
                <a:latin typeface="KaiTi"/>
              </a:rPr>
              <a:t>回收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2776" y="3246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88888"/>
                </a:solidFill>
                <a:latin typeface="KaiTi"/>
              </a:rPr>
              <a:t>Recycle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32704" y="1691640"/>
            <a:ext cx="1645920" cy="2194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78424" y="21031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E88E5"/>
                </a:solidFill>
                <a:latin typeface="KaiTi"/>
              </a:rPr>
              <a:t>减少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8424" y="3246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88888"/>
                </a:solidFill>
                <a:latin typeface="KaiTi"/>
              </a:rPr>
              <a:t>Reduce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8352" y="1691640"/>
            <a:ext cx="1645920" cy="21945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2" y="21031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A90D9"/>
                </a:solidFill>
                <a:latin typeface="KaiTi"/>
              </a:rPr>
              <a:t>地球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3246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88888"/>
                </a:solidFill>
                <a:latin typeface="KaiTi"/>
              </a:rPr>
              <a:t>Earth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19709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4074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「Recycle」在哪? 「Earth」在哪?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9709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074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用手指 — 大声读出来!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我会认  I Can 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402336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0">
                <a:solidFill>
                  <a:srgbClr val="2C2C2C"/>
                </a:solidFill>
                <a:latin typeface="KaiTi"/>
              </a:rPr>
              <a:t>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4206240" cy="2377440"/>
          </a:xfrm>
          <a:prstGeom prst="roundRect">
            <a:avLst/>
          </a:prstGeom>
          <a:solidFill>
            <a:srgbClr val="F1F8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05156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2E7D32"/>
                </a:solidFill>
                <a:latin typeface="KaiTi"/>
              </a:rPr>
              <a:t>环保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88888"/>
                </a:solidFill>
                <a:latin typeface="KaiTi"/>
              </a:rPr>
              <a:t>huán bǎo  ·  Eco / Protect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7D32"/>
                </a:solidFill>
                <a:latin typeface="KaiTi"/>
              </a:rPr>
              <a:t>👉 跟我读 3 次！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20440"/>
            <a:ext cx="8412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32"/>
                </a:solidFill>
                <a:latin typeface="KaiTi"/>
              </a:rPr>
              <a:t>💬 例句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C2C2C"/>
                </a:solidFill>
                <a:latin typeface="KaiTi"/>
              </a:rPr>
              <a:t>我们都是环保小卫士。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我会认  I Can 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402336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0">
                <a:solidFill>
                  <a:srgbClr val="2C2C2C"/>
                </a:solidFill>
                <a:latin typeface="KaiTi"/>
              </a:rPr>
              <a:t>🗑️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4206240" cy="2377440"/>
          </a:xfrm>
          <a:prstGeom prst="roundRect">
            <a:avLst/>
          </a:prstGeom>
          <a:solidFill>
            <a:srgbClr val="F1F8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05156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2E7D32"/>
                </a:solidFill>
                <a:latin typeface="KaiTi"/>
              </a:rPr>
              <a:t>垃圾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88888"/>
                </a:solidFill>
                <a:latin typeface="KaiTi"/>
              </a:rPr>
              <a:t>lā jī  ·  Trash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7D32"/>
                </a:solidFill>
                <a:latin typeface="KaiTi"/>
              </a:rPr>
              <a:t>👉 跟我读 3 次！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20440"/>
            <a:ext cx="8412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32"/>
                </a:solidFill>
                <a:latin typeface="KaiTi"/>
              </a:rPr>
              <a:t>💬 例句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C2C2C"/>
                </a:solidFill>
                <a:latin typeface="KaiTi"/>
              </a:rPr>
              <a:t>垃圾要少制造, 还要分类。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我会认  I Can 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402336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4206240" cy="2377440"/>
          </a:xfrm>
          <a:prstGeom prst="roundRect">
            <a:avLst/>
          </a:prstGeom>
          <a:solidFill>
            <a:srgbClr val="F1F8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05156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2E7D32"/>
                </a:solidFill>
                <a:latin typeface="KaiTi"/>
              </a:rPr>
              <a:t>回收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88888"/>
                </a:solidFill>
                <a:latin typeface="KaiTi"/>
              </a:rPr>
              <a:t>huí shōu  ·  Recycle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7D32"/>
                </a:solidFill>
                <a:latin typeface="KaiTi"/>
              </a:rPr>
              <a:t>👉 跟我读 3 次！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20440"/>
            <a:ext cx="8412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32"/>
                </a:solidFill>
                <a:latin typeface="KaiTi"/>
              </a:rPr>
              <a:t>💬 例句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C2C2C"/>
                </a:solidFill>
                <a:latin typeface="KaiTi"/>
              </a:rPr>
              <a:t>瓶子和纸可以回收。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我会认  I Can 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402336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0">
                <a:solidFill>
                  <a:srgbClr val="2C2C2C"/>
                </a:solidFill>
                <a:latin typeface="KaiTi"/>
              </a:rPr>
              <a:t>⬇️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4206240" cy="2377440"/>
          </a:xfrm>
          <a:prstGeom prst="roundRect">
            <a:avLst/>
          </a:prstGeom>
          <a:solidFill>
            <a:srgbClr val="F1F8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05156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2E7D32"/>
                </a:solidFill>
                <a:latin typeface="KaiTi"/>
              </a:rPr>
              <a:t>减少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88888"/>
                </a:solidFill>
                <a:latin typeface="KaiTi"/>
              </a:rPr>
              <a:t>jiǎn shǎo  ·  Reduce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7D32"/>
                </a:solidFill>
                <a:latin typeface="KaiTi"/>
              </a:rPr>
              <a:t>👉 跟我读 3 次！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20440"/>
            <a:ext cx="8412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32"/>
                </a:solidFill>
                <a:latin typeface="KaiTi"/>
              </a:rPr>
              <a:t>💬 例句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C2C2C"/>
                </a:solidFill>
                <a:latin typeface="KaiTi"/>
              </a:rPr>
              <a:t>减少用纸, 保护大树。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我会认  I Can 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402336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0">
                <a:solidFill>
                  <a:srgbClr val="2C2C2C"/>
                </a:solidFill>
                <a:latin typeface="KaiTi"/>
              </a:rPr>
              <a:t>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4206240" cy="2377440"/>
          </a:xfrm>
          <a:prstGeom prst="roundRect">
            <a:avLst/>
          </a:prstGeom>
          <a:solidFill>
            <a:srgbClr val="F1F8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05156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2E7D32"/>
                </a:solidFill>
                <a:latin typeface="KaiTi"/>
              </a:rPr>
              <a:t>地球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88888"/>
                </a:solidFill>
                <a:latin typeface="KaiTi"/>
              </a:rPr>
              <a:t>dì qiú  ·  Earth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7D32"/>
                </a:solidFill>
                <a:latin typeface="KaiTi"/>
              </a:rPr>
              <a:t>👉 跟我读 3 次！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20440"/>
            <a:ext cx="8412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32"/>
                </a:solidFill>
                <a:latin typeface="KaiTi"/>
              </a:rPr>
              <a:t>💬 例句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C2C2C"/>
                </a:solidFill>
                <a:latin typeface="KaiTi"/>
              </a:rPr>
              <a:t>地球是我们共同的家。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✍️ 我会写  I Can 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4023360" cy="3657600"/>
          </a:xfrm>
          <a:prstGeom prst="roundRect">
            <a:avLst/>
          </a:prstGeom>
          <a:solidFill>
            <a:srgbClr val="F1F8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>
                <a:solidFill>
                  <a:srgbClr val="2E7D32"/>
                </a:solidFill>
                <a:latin typeface="KaiTi"/>
              </a:rPr>
              <a:t>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88888"/>
                </a:solidFill>
                <a:latin typeface="KaiTi"/>
              </a:rPr>
              <a:t>huán  ·  ring / eco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7D32"/>
                </a:solidFill>
                <a:latin typeface="KaiTi"/>
              </a:rPr>
              <a:t>8 笔 / 8 strokes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2C2C"/>
                </a:solidFill>
                <a:latin typeface="KaiTi"/>
              </a:rPr>
              <a:t>8 笔: 王字旁 + 不  ·  Like a ring 环形 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914400"/>
            <a:ext cx="4206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005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7D32"/>
                </a:solidFill>
                <a:latin typeface="KaiTi"/>
              </a:rPr>
              <a:t>3 步练习  3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371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1️⃣ 看老师写  Watch teacher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691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2️⃣ 用手指空中写  Air-write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011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3️⃣ 在田字格写 3 次  Write 3 times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57200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5206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2356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62356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0362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7512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67512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15518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26679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726679" y="3086100"/>
            <a:ext cx="960121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0674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0" y="36576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在田字格里写 3 次 ↓  Write here 3 times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06908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1056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3159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和我一起写「环」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10565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3159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看 → 空中写 → 田字格写 3 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✍️ 我会写  I Can 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4023360" cy="3657600"/>
          </a:xfrm>
          <a:prstGeom prst="roundRect">
            <a:avLst/>
          </a:prstGeom>
          <a:solidFill>
            <a:srgbClr val="F1F8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>
                <a:solidFill>
                  <a:srgbClr val="2E7D32"/>
                </a:solidFill>
                <a:latin typeface="KaiTi"/>
              </a:rPr>
              <a:t>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88888"/>
                </a:solidFill>
                <a:latin typeface="KaiTi"/>
              </a:rPr>
              <a:t>bǎo  ·  protect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7D32"/>
                </a:solidFill>
                <a:latin typeface="KaiTi"/>
              </a:rPr>
              <a:t>9 笔 / 9 strokes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2C2C"/>
                </a:solidFill>
                <a:latin typeface="KaiTi"/>
              </a:rPr>
              <a:t>9 笔: 亻+ 呆 (口 + 木)  ·  A person 亻 protects 保护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914400"/>
            <a:ext cx="4206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005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7D32"/>
                </a:solidFill>
                <a:latin typeface="KaiTi"/>
              </a:rPr>
              <a:t>3 步练习  3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371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1️⃣ 看老师写  Watch teacher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691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2️⃣ 用手指空中写  Air-write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011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3️⃣ 在田字格写 3 次  Write 3 times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57200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5206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2356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62356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0362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7512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67512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15518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26679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726679" y="3086100"/>
            <a:ext cx="960121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0674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0" y="36576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在田字格里写 3 次 ↓  Write here 3 times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06908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1056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3159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和我一起写「保」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10565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3159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看 → 空中写 → 田字格写 3 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🧩 环 + 保 = 环保  Put Them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2E7D32"/>
                </a:solidFill>
                <a:latin typeface="KaiTi"/>
              </a:rPr>
              <a:t>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371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C2C2C"/>
                </a:solidFill>
                <a:latin typeface="KaiTi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9144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2E7D32"/>
                </a:solidFill>
                <a:latin typeface="KaiTi"/>
              </a:rPr>
              <a:t>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C2C2C"/>
                </a:solidFill>
                <a:latin typeface="KaiTi"/>
              </a:rPr>
              <a:t>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914400"/>
            <a:ext cx="1920240" cy="1280160"/>
          </a:xfrm>
          <a:prstGeom prst="roundRect">
            <a:avLst/>
          </a:prstGeom>
          <a:solidFill>
            <a:srgbClr val="F1F8E9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9601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E7D32"/>
                </a:solidFill>
                <a:latin typeface="KaiTi"/>
              </a:rPr>
              <a:t>环保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7451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huán bǎo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606040"/>
            <a:ext cx="84124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7D32"/>
                </a:solidFill>
                <a:latin typeface="KaiTi"/>
              </a:rPr>
              <a:t>💬 用「环保」说一句话  Make a sentence: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C2C2C"/>
                </a:solidFill>
                <a:latin typeface="KaiTi"/>
              </a:rPr>
              <a:t>·  我是环保小卫士。  I am an eco-guardian.</a:t>
            </a:r>
          </a:p>
          <a:p>
            <a:r>
              <a:rPr sz="1700" b="1">
                <a:solidFill>
                  <a:srgbClr val="2C2C2C"/>
                </a:solidFill>
                <a:latin typeface="KaiTi"/>
              </a:rPr>
              <a:t>·  我们要环保, 少制造垃圾。  We go eco — make less trash.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5196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28853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4988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「环保」是什么意思?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8853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988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跟读, 再用「环保」说一句话!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KaiTi"/>
              </a:rPr>
              <a:t>🏆 任务完成!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1F8E9"/>
                </a:solidFill>
                <a:latin typeface="KaiTi"/>
              </a:rPr>
              <a:t>Mission Complete!</a:t>
            </a:r>
          </a:p>
        </p:txBody>
      </p:sp>
      <p:sp>
        <p:nvSpPr>
          <p:cNvPr id="5" name="Oval 4"/>
          <p:cNvSpPr/>
          <p:nvPr/>
        </p:nvSpPr>
        <p:spPr>
          <a:xfrm>
            <a:off x="3200400" y="1828800"/>
            <a:ext cx="2743200" cy="2743200"/>
          </a:xfrm>
          <a:prstGeom prst="ellipse">
            <a:avLst/>
          </a:prstGeom>
          <a:solidFill>
            <a:srgbClr val="F9A825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5E20"/>
                </a:solidFill>
                <a:latin typeface="KaiTi"/>
              </a:rPr>
              <a:t>环保小卫士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4423"/>
                </a:solidFill>
                <a:latin typeface="KaiTi"/>
              </a:rPr>
              <a:t>Zero Waste Hero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8E9"/>
                </a:solidFill>
                <a:latin typeface="KaiTi"/>
              </a:rPr>
              <a:t>这两天记得: Reduce · Reuse · Recycle!  Day 5: 环保艺术展 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