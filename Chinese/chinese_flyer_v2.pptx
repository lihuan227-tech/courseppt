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60120"/>
          </a:xfrm>
          <a:prstGeom prst="rect">
            <a:avLst/>
          </a:prstGeom>
          <a:solidFill>
            <a:srgbClr val="9DC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777240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KaiTi"/>
              </a:defRPr>
            </a:pPr>
            <a:r>
              <a:t>暑假中文课程 Summer Chinese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E0"/>
                </a:solidFill>
                <a:latin typeface="KaiTi"/>
              </a:defRPr>
            </a:pPr>
            <a:r>
              <a:t>谷雨中文 GR EDU · 2025 Summer · Onsite Classes · K–5年级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2C2C"/>
                </a:solidFill>
                <a:latin typeface="KaiTi"/>
              </a:defRPr>
            </a:pPr>
            <a:r>
              <a:t>课程特色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21031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2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2C2C"/>
                </a:solidFill>
                <a:latin typeface="KaiTi"/>
              </a:defRPr>
            </a:pPr>
            <a:r>
              <a:t>✏️ 零基础入门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27632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KaiTi"/>
              </a:defRPr>
            </a:pPr>
            <a:r>
              <a:t>从笔画、汉字学起</a:t>
            </a:r>
            <a:br/>
            <a:r>
              <a:t>轻松开启中文学习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371600"/>
            <a:ext cx="21031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41732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2C2C"/>
                </a:solidFill>
                <a:latin typeface="KaiTi"/>
              </a:defRPr>
            </a:pPr>
            <a:r>
              <a:t>🔍 查漏补缺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1627632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KaiTi"/>
              </a:defRPr>
            </a:pPr>
            <a:r>
              <a:t>暑假复习巩固</a:t>
            </a:r>
            <a:br/>
            <a:r>
              <a:t>补齐短板迎新学期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371600"/>
            <a:ext cx="21031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41732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2C2C"/>
                </a:solidFill>
                <a:latin typeface="KaiTi"/>
              </a:defRPr>
            </a:pPr>
            <a:r>
              <a:t>🚀 进阶提升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627632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KaiTi"/>
              </a:defRPr>
            </a:pPr>
            <a:r>
              <a:t>加强识字阅读写字</a:t>
            </a:r>
            <a:br/>
            <a:r>
              <a:t>全面提升中文能力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13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2C2C"/>
                </a:solidFill>
                <a:latin typeface="KaiTi"/>
              </a:defRPr>
            </a:pPr>
            <a:r>
              <a:t>课程级别与上课时间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2951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976D2"/>
                </a:solidFill>
                <a:latin typeface="KaiTi"/>
              </a:defRPr>
            </a:pPr>
            <a:r>
              <a:t>扫码测评选级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06040"/>
            <a:ext cx="5029200" cy="2926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42616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KaiTi"/>
              </a:defRPr>
            </a:pPr>
            <a:r>
              <a:t>级别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2642616"/>
            <a:ext cx="17739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KaiTi"/>
              </a:defRPr>
            </a:pPr>
            <a:r>
              <a:t>教学内容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2642616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KaiTi"/>
              </a:defRPr>
            </a:pPr>
            <a:r>
              <a:t>上课时间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2642616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KaiTi"/>
              </a:defRPr>
            </a:pPr>
            <a:r>
              <a:t>参考年级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98648"/>
            <a:ext cx="5029200" cy="438912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2953512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KaiTi"/>
              </a:defRPr>
            </a:pPr>
            <a:r>
              <a:t>L1 零基础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2953512"/>
            <a:ext cx="1773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基础识字、写字、分级阅读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6392" y="2953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Tue/Thu 5:00–6:00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2953512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K–1st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337560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3392424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KaiTi"/>
              </a:defRPr>
            </a:pPr>
            <a:r>
              <a:t>L2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3392424"/>
            <a:ext cx="1773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部编版语文一年级上册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6392" y="3392424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Mon/Wed 4:00–5:00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3392424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1st–2nd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76472"/>
            <a:ext cx="5029200" cy="438912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3831336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KaiTi"/>
              </a:defRPr>
            </a:pPr>
            <a:r>
              <a:t>L3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7592" y="3831336"/>
            <a:ext cx="1773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部编版语文一年级下册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36392" y="3831336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Mon/Wed 5:00–6:00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3831336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2nd–3rd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215384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3192" y="4270248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KaiTi"/>
              </a:defRPr>
            </a:pPr>
            <a:r>
              <a:t>L4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07592" y="4270248"/>
            <a:ext cx="1773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部编版语文二年级上册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6392" y="4270248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Fri 4:00–6:00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07992" y="4270248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3rd–5th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654296"/>
            <a:ext cx="5029200" cy="438912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709160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KaiTi"/>
              </a:defRPr>
            </a:pPr>
            <a:r>
              <a:t>L5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7592" y="4709160"/>
            <a:ext cx="1773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部编版语文二年级下册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36392" y="4709160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Tue/Thu 4:00–5:00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07992" y="4709160"/>
            <a:ext cx="859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2C2C"/>
                </a:solidFill>
                <a:latin typeface="KaiTi"/>
              </a:defRPr>
            </a:pPr>
            <a:r>
              <a:t>4th+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577840" y="2651760"/>
            <a:ext cx="1005840" cy="1005840"/>
          </a:xfrm>
          <a:prstGeom prst="roundRect">
            <a:avLst/>
          </a:prstGeom>
          <a:noFill/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60" y="2926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KaiTi"/>
              </a:defRPr>
            </a:pPr>
            <a:r>
              <a:t>测评</a:t>
            </a:r>
            <a:br/>
            <a:r>
              <a:t>QR Code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77840" y="3767328"/>
            <a:ext cx="1005840" cy="1005840"/>
          </a:xfrm>
          <a:prstGeom prst="roundRect">
            <a:avLst/>
          </a:prstGeom>
          <a:noFill/>
          <a:ln w="2540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40416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KaiTi"/>
              </a:defRPr>
            </a:pPr>
            <a:r>
              <a:t>报名</a:t>
            </a:r>
            <a:br/>
            <a:r>
              <a:t>QR Code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4809744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66666"/>
                </a:solidFill>
                <a:latin typeface="KaiTi"/>
              </a:defRPr>
            </a:pPr>
            <a:r>
              <a:t>* 按中文水平分级，非按年级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5257800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2C2C"/>
                </a:solidFill>
                <a:latin typeface="KaiTi"/>
              </a:defRPr>
            </a:pPr>
            <a:r>
              <a:t>Session 时间安排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5550408"/>
            <a:ext cx="7040880" cy="256032"/>
          </a:xfrm>
          <a:prstGeom prst="roundRect">
            <a:avLst/>
          </a:prstGeom>
          <a:solidFill>
            <a:srgbClr val="F1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577840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E9428"/>
                </a:solidFill>
                <a:latin typeface="KaiTi"/>
              </a:defRPr>
            </a:pPr>
            <a:r>
              <a:t>每 Session 共 4 节课（每周 2 次 × 2 周）· 5 个级别 · 可按 Session 单独报名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8912" y="5879592"/>
            <a:ext cx="166420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4632" y="5916168"/>
            <a:ext cx="1572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E9428"/>
                </a:solidFill>
                <a:latin typeface="KaiTi"/>
              </a:defRPr>
            </a:pPr>
            <a:r>
              <a:t>Session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6117336"/>
            <a:ext cx="1572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666666"/>
                </a:solidFill>
                <a:latin typeface="KaiTi"/>
              </a:defRPr>
            </a:pPr>
            <a:r>
              <a:t>Wk 1: 6/8–6/12</a:t>
            </a:r>
            <a:br/>
            <a:r>
              <a:t>Wk 2: 6/15–6/19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12848" y="5879592"/>
            <a:ext cx="166420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58568" y="5916168"/>
            <a:ext cx="1572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E9428"/>
                </a:solidFill>
                <a:latin typeface="KaiTi"/>
              </a:defRPr>
            </a:pPr>
            <a:r>
              <a:t>Session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6117336"/>
            <a:ext cx="1572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666666"/>
                </a:solidFill>
                <a:latin typeface="KaiTi"/>
              </a:defRPr>
            </a:pPr>
            <a:r>
              <a:t>Wk 3: 6/22–6/26</a:t>
            </a:r>
            <a:br/>
            <a:r>
              <a:t>Wk 4: 7/6–7/10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86784" y="5879592"/>
            <a:ext cx="166420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32504" y="5916168"/>
            <a:ext cx="1572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E9428"/>
                </a:solidFill>
                <a:latin typeface="KaiTi"/>
              </a:defRPr>
            </a:pPr>
            <a:r>
              <a:t>Session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32504" y="6117336"/>
            <a:ext cx="1572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666666"/>
                </a:solidFill>
                <a:latin typeface="KaiTi"/>
              </a:defRPr>
            </a:pPr>
            <a:r>
              <a:t>Wk 5: 7/13–7/17</a:t>
            </a:r>
            <a:br/>
            <a:r>
              <a:t>Wk 6: 7/20–7/24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60720" y="5879592"/>
            <a:ext cx="166420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4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06440" y="5916168"/>
            <a:ext cx="1572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E9428"/>
                </a:solidFill>
                <a:latin typeface="KaiTi"/>
              </a:defRPr>
            </a:pPr>
            <a:r>
              <a:t>Session 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06440" y="6117336"/>
            <a:ext cx="1572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666666"/>
                </a:solidFill>
                <a:latin typeface="KaiTi"/>
              </a:defRPr>
            </a:pPr>
            <a:r>
              <a:t>Wk 7: 7/27–7/31</a:t>
            </a:r>
            <a:br/>
            <a:r>
              <a:t>Wk 8: 8/3–8/7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656832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C2C2C"/>
                </a:solidFill>
                <a:latin typeface="KaiTi"/>
              </a:defRPr>
            </a:pPr>
            <a:r>
              <a:t>学费 Tuition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" y="6931152"/>
            <a:ext cx="61264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700430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00"/>
                </a:solidFill>
                <a:latin typeface="KaiTi"/>
              </a:defRPr>
            </a:pPr>
            <a:r>
              <a:t>中文课 · $60/week · $120/session</a:t>
            </a:r>
          </a:p>
          <a:p>
            <a:pPr algn="l">
              <a:spcBef>
                <a:spcPts val="400"/>
              </a:spcBef>
              <a:defRPr sz="900" b="0">
                <a:solidFill>
                  <a:srgbClr val="666666"/>
                </a:solidFill>
                <a:latin typeface="KaiTi"/>
              </a:defRPr>
            </a:pPr>
            <a:r>
              <a:t>Onsite 小班授课 · 6–12人 · 每周两节课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0" y="700430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C2C2C"/>
                </a:solidFill>
                <a:latin typeface="KaiTi"/>
              </a:defRPr>
            </a:pPr>
            <a:r>
              <a:t>缴费方式 Payment: Zelle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1976D2"/>
                </a:solidFill>
                <a:latin typeface="KaiTi"/>
              </a:defRPr>
            </a:pPr>
            <a:r>
              <a:t>gredu2019@gmail.com</a:t>
            </a:r>
          </a:p>
          <a:p>
            <a:pPr algn="l">
              <a:spcBef>
                <a:spcPts val="200"/>
              </a:spcBef>
              <a:defRPr sz="800" b="0">
                <a:solidFill>
                  <a:srgbClr val="666666"/>
                </a:solidFill>
                <a:latin typeface="KaiTi"/>
              </a:defRPr>
            </a:pPr>
            <a:r>
              <a:t>备注：学生姓名 + Elective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7680960"/>
            <a:ext cx="7772400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77266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KaiTi"/>
              </a:defRPr>
            </a:pPr>
            <a:r>
              <a:t>立即报名 Register Now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0" y="7955280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E0"/>
                </a:solidFill>
                <a:latin typeface="KaiTi"/>
              </a:defRPr>
            </a:pPr>
            <a:r>
              <a:t>谷雨中文 GR EDU  |  www.mygredu.com/summer-camp/summer-electives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