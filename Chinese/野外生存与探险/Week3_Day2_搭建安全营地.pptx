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F6B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365760"/>
            <a:ext cx="2194560" cy="18288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640080" cy="6400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80160"/>
            <a:ext cx="457200" cy="4572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005840"/>
            <a:ext cx="548640" cy="548640"/>
          </a:xfrm>
          <a:prstGeom prst="rect">
            <a:avLst/>
          </a:prstGeom>
        </p:spPr>
      </p:pic>
      <p:pic>
        <p:nvPicPr>
          <p:cNvPr id="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1371600"/>
            <a:ext cx="411480" cy="41148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457200" y="2286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搭建安全营地</a:t>
            </a:r>
            <a:endParaRPr lang="en-US" sz="4200" dirty="0"/>
          </a:p>
        </p:txBody>
      </p:sp>
      <p:sp>
        <p:nvSpPr>
          <p:cNvPr id="9" name="Text 2"/>
          <p:cNvSpPr/>
          <p:nvPr/>
        </p:nvSpPr>
        <p:spPr>
          <a:xfrm>
            <a:off x="457200" y="3063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F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Safe Campsite</a:t>
            </a:r>
            <a:endParaRPr lang="en-US" sz="1600" dirty="0"/>
          </a:p>
        </p:txBody>
      </p:sp>
      <p:sp>
        <p:nvSpPr>
          <p:cNvPr id="10" name="Shape 3"/>
          <p:cNvSpPr/>
          <p:nvPr/>
        </p:nvSpPr>
        <p:spPr>
          <a:xfrm>
            <a:off x="2286000" y="3657600"/>
            <a:ext cx="4572000" cy="640080"/>
          </a:xfrm>
          <a:prstGeom prst="roundRect">
            <a:avLst>
              <a:gd name="adj" fmla="val 21429"/>
            </a:avLst>
          </a:prstGeom>
          <a:solidFill>
            <a:srgbClr val="5D4037"/>
          </a:solidFill>
          <a:ln/>
        </p:spPr>
      </p:sp>
      <p:sp>
        <p:nvSpPr>
          <p:cNvPr id="11" name="Text 4"/>
          <p:cNvSpPr/>
          <p:nvPr/>
        </p:nvSpPr>
        <p:spPr>
          <a:xfrm>
            <a:off x="2286000" y="36576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 2  ·  选对地方，比搭得漂亮更重要</a:t>
            </a:r>
            <a:endParaRPr lang="en-US" sz="1600" dirty="0"/>
          </a:p>
        </p:txBody>
      </p:sp>
      <p:sp>
        <p:nvSpPr>
          <p:cNvPr id="12" name="Text 5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 ·  Explorer Lab Camp</a:t>
            </a:r>
            <a:endParaRPr lang="en-US" sz="1200" dirty="0"/>
          </a:p>
        </p:txBody>
      </p:sp>
      <p:sp>
        <p:nvSpPr>
          <p:cNvPr id="13" name="Shape 6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BF6B2B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5D40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🌙 今晚我们要在野外过夜！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你会选哪里搭帐篷？举手选择！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6974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17320" y="1783080"/>
            <a:ext cx="594360" cy="594360"/>
          </a:xfrm>
          <a:prstGeom prst="ellipse">
            <a:avLst/>
          </a:prstGeom>
          <a:solidFill>
            <a:srgbClr val="EEEEEE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1783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🌊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48640" y="297180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河边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4360" y="33375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有水可以用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听着水声入睡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645920"/>
            <a:ext cx="26974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97680" y="1783080"/>
            <a:ext cx="594360" cy="594360"/>
          </a:xfrm>
          <a:prstGeom prst="ellipse">
            <a:avLst/>
          </a:prstGeom>
          <a:solidFill>
            <a:srgbClr val="EEEEEE"/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0" y="1783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337560" y="2468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🌳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3429000" y="297180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大树下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74720" y="33375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有树荫很凉快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可以遮风挡雨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1645920"/>
            <a:ext cx="26974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78040" y="1783080"/>
            <a:ext cx="594360" cy="594360"/>
          </a:xfrm>
          <a:prstGeom prst="ellipse">
            <a:avLst/>
          </a:prstGeom>
          <a:solidFill>
            <a:srgbClr val="EEEEEE"/>
          </a:solidFill>
          <a:ln/>
        </p:spPr>
      </p:sp>
      <p:sp>
        <p:nvSpPr>
          <p:cNvPr id="19" name="Text 17"/>
          <p:cNvSpPr/>
          <p:nvPr/>
        </p:nvSpPr>
        <p:spPr>
          <a:xfrm>
            <a:off x="7178040" y="1783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217920" y="2468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🌿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309360" y="297180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平坦草地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355080" y="33375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地面平平的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周围很开阔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D4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🤔 大家选好了吗？说说你的理由！→ 翻页揭晓最佳答案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5D40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答案揭晓！最安全的是…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974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269748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🌊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河边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14400" y="2148840"/>
            <a:ext cx="1783080" cy="320040"/>
          </a:xfrm>
          <a:prstGeom prst="roundRect">
            <a:avLst>
              <a:gd name="adj" fmla="val 22857"/>
            </a:avLst>
          </a:prstGeom>
          <a:solidFill>
            <a:srgbClr val="D94F4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1488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危险！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60604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水位可能突然上涨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地面潮湿容易滑倒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蚊虫也很多！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188720"/>
            <a:ext cx="26974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37560" y="1188720"/>
            <a:ext cx="2697480" cy="54864"/>
          </a:xfrm>
          <a:prstGeom prst="rect">
            <a:avLst/>
          </a:prstGeom>
          <a:solidFill>
            <a:srgbClr val="E8731A"/>
          </a:solidFill>
          <a:ln/>
        </p:spPr>
      </p:sp>
      <p:sp>
        <p:nvSpPr>
          <p:cNvPr id="13" name="Text 11"/>
          <p:cNvSpPr/>
          <p:nvPr/>
        </p:nvSpPr>
        <p:spPr>
          <a:xfrm>
            <a:off x="333756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🌳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3429000" y="17830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大树下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794760" y="2148840"/>
            <a:ext cx="1783080" cy="320040"/>
          </a:xfrm>
          <a:prstGeom prst="roundRect">
            <a:avLst>
              <a:gd name="adj" fmla="val 22857"/>
            </a:avLst>
          </a:prstGeom>
          <a:solidFill>
            <a:srgbClr val="E8731A"/>
          </a:solidFill>
          <a:ln/>
        </p:spPr>
      </p:sp>
      <p:sp>
        <p:nvSpPr>
          <p:cNvPr id="16" name="Text 14"/>
          <p:cNvSpPr/>
          <p:nvPr/>
        </p:nvSpPr>
        <p:spPr>
          <a:xfrm>
            <a:off x="3794760" y="21488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有风险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260604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雷电可能击中大树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枯枝可能掉落砸人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不够安全！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1188720"/>
            <a:ext cx="26974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1188720"/>
            <a:ext cx="2697480" cy="54864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🌿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309360" y="17830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平坦草地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675120" y="2148840"/>
            <a:ext cx="1783080" cy="320040"/>
          </a:xfrm>
          <a:prstGeom prst="roundRect">
            <a:avLst>
              <a:gd name="adj" fmla="val 22857"/>
            </a:avLst>
          </a:prstGeom>
          <a:solidFill>
            <a:srgbClr val="5A8F3C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21488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最安全！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55080" y="260604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地面平坦稳固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视野开阔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远离水和大树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3931920"/>
            <a:ext cx="7315200" cy="502920"/>
          </a:xfrm>
          <a:prstGeom prst="roundRect">
            <a:avLst>
              <a:gd name="adj" fmla="val 18182"/>
            </a:avLst>
          </a:prstGeom>
          <a:solidFill>
            <a:srgbClr val="5A8F3C">
              <a:alpha val="1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1097280" y="39776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选营地最重要的是：安全！不是好看、不是方便、是安全！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那么，怎么选才安全？我们来学习！→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5D40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🏕 什么是营地？What is a Campsite?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9748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2697480" cy="54864"/>
          </a:xfrm>
          <a:prstGeom prst="rect">
            <a:avLst/>
          </a:prstGeom>
          <a:solidFill>
            <a:srgbClr val="3E8ED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258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😴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休息的地方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to rest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188720"/>
            <a:ext cx="269748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37560" y="1188720"/>
            <a:ext cx="2697480" cy="54864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13258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🤝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29000" y="17830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团队的基地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29000" y="210312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base camp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188720"/>
            <a:ext cx="269748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188720"/>
            <a:ext cx="2697480" cy="54864"/>
          </a:xfrm>
          <a:prstGeom prst="rect">
            <a:avLst/>
          </a:prstGeom>
          <a:solidFill>
            <a:srgbClr val="5D4037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13258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🛡️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309360" y="17830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安全的空间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09360" y="210312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safe space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371600" y="2926080"/>
            <a:ext cx="6400800" cy="731520"/>
          </a:xfrm>
          <a:prstGeom prst="roundRect">
            <a:avLst>
              <a:gd name="adj" fmla="val 18750"/>
            </a:avLst>
          </a:prstGeom>
          <a:solidFill>
            <a:srgbClr val="1E3A1E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371600" y="29260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营地 = 安全 🛡️ + 舒适 😊 + 合作 🤝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100584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840480"/>
            <a:ext cx="64008" cy="1005840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886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💬 讨论问题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1520" y="416052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如果你是队长，你会怎么选一个好营地？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你觉得最重要的是什么？（3个小朋友分享）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0" y="1828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000000"/>
                </a:solidFill>
              </a:rPr>
              <a:t>⭐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营地选址四原则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F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Rules for Choosing a Campsite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965960"/>
            <a:ext cx="7680960" cy="640080"/>
          </a:xfrm>
          <a:prstGeom prst="roundRect">
            <a:avLst>
              <a:gd name="adj" fmla="val 14286"/>
            </a:avLst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3E8ED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1984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🌊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240280" y="2011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远离水边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240280" y="23134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8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 water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0" y="2011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水位可能上涨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715768"/>
            <a:ext cx="7680960" cy="640080"/>
          </a:xfrm>
          <a:prstGeom prst="roundRect">
            <a:avLst>
              <a:gd name="adj" fmla="val 14286"/>
            </a:avLst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14400" y="2761488"/>
            <a:ext cx="548640" cy="54864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7614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00200" y="27340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240280" y="2761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地面平坦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240280" y="3063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8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ground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0" y="276148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帐篷稳固不翻滚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3465576"/>
            <a:ext cx="7680960" cy="640080"/>
          </a:xfrm>
          <a:prstGeom prst="roundRect">
            <a:avLst>
              <a:gd name="adj" fmla="val 14286"/>
            </a:avLst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3511296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5112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600200" y="34838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🌳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2240280" y="351129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不在大树正下方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240280" y="38130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under big trees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0" y="351129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避免雷电和落枝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1520" y="4215384"/>
            <a:ext cx="7680960" cy="640080"/>
          </a:xfrm>
          <a:prstGeom prst="roundRect">
            <a:avLst>
              <a:gd name="adj" fmla="val 14286"/>
            </a:avLst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14400" y="4261104"/>
            <a:ext cx="548640" cy="548640"/>
          </a:xfrm>
          <a:prstGeom prst="ellipse">
            <a:avLst/>
          </a:prstGeom>
          <a:solidFill>
            <a:srgbClr val="BF6B2B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42611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600200" y="42336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☀️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2240280" y="426110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保持干燥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2240280" y="456285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dry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943600" y="426110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远离低洼积水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2A93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AA19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82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13716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🔬 为什么？STEM 科学思考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40233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1188720"/>
            <a:ext cx="64008" cy="1600200"/>
          </a:xfrm>
          <a:prstGeom prst="rect">
            <a:avLst/>
          </a:prstGeom>
          <a:solidFill>
            <a:srgbClr val="3E8ED0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8E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🌊 为什么不能靠近水？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16002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水位可能突然上涨（暴雨后水位升高好几倍！）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5800" y="19659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岸边湿滑容易摔伤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85800" y="23317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蚊虫和蛇喜欢在水边活动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188720"/>
            <a:ext cx="40233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188720"/>
            <a:ext cx="64008" cy="1600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3" name="Text 10"/>
          <p:cNvSpPr/>
          <p:nvPr/>
        </p:nvSpPr>
        <p:spPr>
          <a:xfrm>
            <a:off x="493776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🌳 为什么不能在树下？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983480" y="16002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雷电最爱击中高大的树（我们Day1学过！）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983480" y="19659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枯枝可能突然断裂掉落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983480" y="23317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树根不平，帐篷搭不稳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7200" y="3017520"/>
            <a:ext cx="40233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7200" y="3017520"/>
            <a:ext cx="64008" cy="1600200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📐 为什么要平坦？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85800" y="34290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斜坡上帐篷会滑动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85800" y="3794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人睡觉会滚到一边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85800" y="41605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东西容易滚走找不到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754880" y="3017520"/>
            <a:ext cx="40233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754880" y="3017520"/>
            <a:ext cx="64008" cy="1600200"/>
          </a:xfrm>
          <a:prstGeom prst="rect">
            <a:avLst/>
          </a:prstGeom>
          <a:solidFill>
            <a:srgbClr val="BF6B2B"/>
          </a:solidFill>
          <a:ln/>
        </p:spPr>
      </p:sp>
      <p:sp>
        <p:nvSpPr>
          <p:cNvPr id="25" name="Text 22"/>
          <p:cNvSpPr/>
          <p:nvPr/>
        </p:nvSpPr>
        <p:spPr>
          <a:xfrm>
            <a:off x="49377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6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☀️ 为什么要干燥？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4983480" y="34290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潮湿的地面又冷又不舒服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983480" y="3794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容易长霉菌让人生病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983480" y="41605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湿地上帐篷撑不住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3" name="Text 1"/>
          <p:cNvSpPr/>
          <p:nvPr/>
        </p:nvSpPr>
        <p:spPr>
          <a:xfrm>
            <a:off x="3840480" y="1371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>
                <a:solidFill>
                  <a:srgbClr val="000000"/>
                </a:solidFill>
              </a:rPr>
              <a:t>⚜️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Scout Safety 童子军安全守则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来自美国童子军 BSA Guide to Safe Scouting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4114800" cy="749808"/>
          </a:xfrm>
          <a:prstGeom prst="roundRect">
            <a:avLst>
              <a:gd name="adj" fmla="val 12195"/>
            </a:avLst>
          </a:prstGeom>
          <a:solidFill>
            <a:srgbClr val="2A3A2A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755648"/>
            <a:ext cx="530352" cy="530352"/>
          </a:xfrm>
          <a:prstGeom prst="ellipse">
            <a:avLst/>
          </a:prstGeom>
          <a:solidFill>
            <a:srgbClr val="3E8ED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556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16916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👫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69164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Buddy System 伙伴制度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91640" y="199339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永远不要一个人行动！两两结伴，互相照看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846320" y="1645920"/>
            <a:ext cx="4114800" cy="749808"/>
          </a:xfrm>
          <a:prstGeom prst="roundRect">
            <a:avLst>
              <a:gd name="adj" fmla="val 12195"/>
            </a:avLst>
          </a:prstGeom>
          <a:solidFill>
            <a:srgbClr val="2A3A2A"/>
          </a:solidFill>
          <a:ln/>
        </p:spPr>
      </p:sp>
      <p:sp>
        <p:nvSpPr>
          <p:cNvPr id="13" name="Shape 11"/>
          <p:cNvSpPr/>
          <p:nvPr/>
        </p:nvSpPr>
        <p:spPr>
          <a:xfrm>
            <a:off x="4937760" y="1755648"/>
            <a:ext cx="530352" cy="530352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7556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577840" y="16916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08076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Safe Area 安全区域检查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80760" y="199339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活动前先检查场地，找出并消除危险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514600"/>
            <a:ext cx="4114800" cy="749808"/>
          </a:xfrm>
          <a:prstGeom prst="roundRect">
            <a:avLst>
              <a:gd name="adj" fmla="val 12195"/>
            </a:avLst>
          </a:prstGeom>
          <a:solidFill>
            <a:srgbClr val="2A3A2A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2624328"/>
            <a:ext cx="530352" cy="530352"/>
          </a:xfrm>
          <a:prstGeom prst="ellipse">
            <a:avLst/>
          </a:prstGeom>
          <a:solidFill>
            <a:srgbClr val="2AA19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6243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25603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⛈️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691640" y="2560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Weather Check 天气检查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91640" y="286207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出发前查天气！听到雷声→立刻找安全的地方躲避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846320" y="2514600"/>
            <a:ext cx="4114800" cy="749808"/>
          </a:xfrm>
          <a:prstGeom prst="roundRect">
            <a:avLst>
              <a:gd name="adj" fmla="val 12195"/>
            </a:avLst>
          </a:prstGeom>
          <a:solidFill>
            <a:srgbClr val="2A3A2A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0" y="2624328"/>
            <a:ext cx="530352" cy="530352"/>
          </a:xfrm>
          <a:prstGeom prst="ellipse">
            <a:avLst/>
          </a:prstGeom>
          <a:solidFill>
            <a:srgbClr val="D94F4F"/>
          </a:solidFill>
          <a:ln/>
        </p:spPr>
      </p:sp>
      <p:sp>
        <p:nvSpPr>
          <p:cNvPr id="26" name="Text 24"/>
          <p:cNvSpPr/>
          <p:nvPr/>
        </p:nvSpPr>
        <p:spPr>
          <a:xfrm>
            <a:off x="4937760" y="26243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577840" y="25603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🔥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080760" y="2560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 Fire in Tents 帐篷禁火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80760" y="286207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帐篷里绝对不能有火、蜡烛或燃气！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3383280"/>
            <a:ext cx="4114800" cy="749808"/>
          </a:xfrm>
          <a:prstGeom prst="roundRect">
            <a:avLst>
              <a:gd name="adj" fmla="val 12195"/>
            </a:avLst>
          </a:prstGeom>
          <a:solidFill>
            <a:srgbClr val="2A3A2A"/>
          </a:solidFill>
          <a:ln/>
        </p:spPr>
      </p:sp>
      <p:sp>
        <p:nvSpPr>
          <p:cNvPr id="31" name="Shape 29"/>
          <p:cNvSpPr/>
          <p:nvPr/>
        </p:nvSpPr>
        <p:spPr>
          <a:xfrm>
            <a:off x="548640" y="3493008"/>
            <a:ext cx="530352" cy="530352"/>
          </a:xfrm>
          <a:prstGeom prst="ellipse">
            <a:avLst/>
          </a:prstGeom>
          <a:solidFill>
            <a:srgbClr val="BF6B2B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34930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88720" y="34290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🩹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1691640" y="3429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First Aid Ready 急救准备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691640" y="37307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随身带急救包！知道怎么求助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846320" y="3383280"/>
            <a:ext cx="4114800" cy="749808"/>
          </a:xfrm>
          <a:prstGeom prst="roundRect">
            <a:avLst>
              <a:gd name="adj" fmla="val 12195"/>
            </a:avLst>
          </a:prstGeom>
          <a:solidFill>
            <a:srgbClr val="2A3A2A"/>
          </a:solidFill>
          <a:ln/>
        </p:spPr>
      </p:sp>
      <p:sp>
        <p:nvSpPr>
          <p:cNvPr id="37" name="Shape 35"/>
          <p:cNvSpPr/>
          <p:nvPr/>
        </p:nvSpPr>
        <p:spPr>
          <a:xfrm>
            <a:off x="4937760" y="3493008"/>
            <a:ext cx="530352" cy="530352"/>
          </a:xfrm>
          <a:prstGeom prst="ellipse">
            <a:avLst/>
          </a:prstGeom>
          <a:solidFill>
            <a:srgbClr val="7B5EA7"/>
          </a:solidFill>
          <a:ln/>
        </p:spPr>
      </p:sp>
      <p:sp>
        <p:nvSpPr>
          <p:cNvPr id="38" name="Text 36"/>
          <p:cNvSpPr/>
          <p:nvPr/>
        </p:nvSpPr>
        <p:spPr>
          <a:xfrm>
            <a:off x="4937760" y="34930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577840" y="34290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👨‍👩‍👧‍👦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080760" y="3429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Adult Supervision 跟着大人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080760" y="37307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听从带队老师指挥，有问题马上报告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371600" y="4297680"/>
            <a:ext cx="6400800" cy="457200"/>
          </a:xfrm>
          <a:prstGeom prst="roundRect">
            <a:avLst>
              <a:gd name="adj" fmla="val 20000"/>
            </a:avLst>
          </a:prstGeom>
          <a:solidFill>
            <a:srgbClr val="F2A93B">
              <a:alpha val="15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1554480" y="43159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⚜️ BSA 座右铭: "Be Prepared" — 做好准备！这也是探险家的精神！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2A93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D94F4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82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13716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雷电和篝火安全 Lightning &amp; Fire Safety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童子军最重要的两条安全规则！BSA's Top Safety Rules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146304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1463040"/>
            <a:ext cx="3931920" cy="457200"/>
          </a:xfrm>
          <a:prstGeom prst="rect">
            <a:avLst/>
          </a:prstGeom>
          <a:solidFill>
            <a:srgbClr val="2AA19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49047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雷电来了怎么办？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20116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👂 听到雷声或看到闪电 → 立刻行动！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234086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🏠 BSA规则："Thunder Roars, Go Indoors!"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40080" y="267004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"雷声响，快进房！"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40080" y="29992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⏱️ 最后一次雷声后等30分钟才能出来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40080" y="33284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🌳 远离高大的树、旗杆、金属物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" y="3657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💧 远离水面（水是导电体！）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40080" y="398678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📐 在空旷处？蹲下来，不要躺平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" y="43159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👥 团队分散开，保持距离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754880" y="1463040"/>
            <a:ext cx="3931920" cy="45720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9" name="Text 16"/>
          <p:cNvSpPr/>
          <p:nvPr/>
        </p:nvSpPr>
        <p:spPr>
          <a:xfrm>
            <a:off x="4937760" y="149047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篝火安全规则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937760" y="20116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4F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🚫 帐篷里绝对禁止任何火源！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937760" y="234086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↔️ 篝火离帐篷至少5米远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937760" y="267004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🪨 用石头围成火圈再生火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937760" y="29992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👨‍🏫 只有大人才能点火和管火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937760" y="33284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🧯 旁边准备水桶或沙土灭火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937760" y="3657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💨 注意风向！站在上风处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937760" y="398678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🌙 睡前必须完全熄灭篝火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937760" y="43159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✋ BSA规则: 不能用汽油点火！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8229600" cy="365760"/>
          </a:xfrm>
          <a:prstGeom prst="roundRect">
            <a:avLst>
              <a:gd name="adj" fmla="val 20000"/>
            </a:avLst>
          </a:prstGeom>
          <a:solidFill>
            <a:srgbClr val="1E3A1E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4773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⚜️ 这些都是真正的童子军安全规则！学会了你就和Scout一样专业！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🔍 风险判断挑战！Spot the Danger!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下面这个营地有5个安全问题，你能找到几个？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8229600" cy="2926080"/>
          </a:xfrm>
          <a:prstGeom prst="roundRect">
            <a:avLst>
              <a:gd name="adj" fmla="val 4688"/>
            </a:avLst>
          </a:prstGeom>
          <a:solidFill>
            <a:srgbClr val="E8F5E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🌊🌊🌊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E8E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河流 River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64592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⛺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1828800" y="1874520"/>
            <a:ext cx="320040" cy="320040"/>
          </a:xfrm>
          <a:prstGeom prst="ellipse">
            <a:avLst/>
          </a:prstGeom>
          <a:solidFill>
            <a:srgbClr val="D94F4F">
              <a:alpha val="5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828800" y="1874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0" y="16916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🌳🌳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029200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🔥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5029200" y="2377440"/>
            <a:ext cx="320040" cy="320040"/>
          </a:xfrm>
          <a:prstGeom prst="ellipse">
            <a:avLst/>
          </a:prstGeom>
          <a:solidFill>
            <a:srgbClr val="D94F4F">
              <a:alpha val="5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2377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🍖🍎🧃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858000" y="2286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⛺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7132320" y="1874520"/>
            <a:ext cx="320040" cy="320040"/>
          </a:xfrm>
          <a:prstGeom prst="ellipse">
            <a:avLst/>
          </a:prstGeom>
          <a:solidFill>
            <a:srgbClr val="D94F4F">
              <a:alpha val="5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0" y="1874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00400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⛺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2743200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↗️ 斜坡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3200400"/>
            <a:ext cx="320040" cy="320040"/>
          </a:xfrm>
          <a:prstGeom prst="ellipse">
            <a:avLst/>
          </a:prstGeom>
          <a:solidFill>
            <a:srgbClr val="D94F4F">
              <a:alpha val="5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291840" y="3200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0" y="3474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💧💧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943600" y="37947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E8E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水坑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00800" y="3474720"/>
            <a:ext cx="320040" cy="320040"/>
          </a:xfrm>
          <a:prstGeom prst="ellipse">
            <a:avLst/>
          </a:prstGeom>
          <a:solidFill>
            <a:srgbClr val="D94F4F">
              <a:alpha val="5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3474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4F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🤔 你找到了几个？翻页看答案！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D94F4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82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13716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5个危险全找到了吗？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1097280"/>
            <a:ext cx="64008" cy="640080"/>
          </a:xfrm>
          <a:prstGeom prst="rect">
            <a:avLst/>
          </a:prstGeom>
          <a:solidFill>
            <a:srgbClr val="3E8ED0"/>
          </a:solidFill>
          <a:ln/>
        </p:spPr>
      </p:sp>
      <p:sp>
        <p:nvSpPr>
          <p:cNvPr id="7" name="Shape 4"/>
          <p:cNvSpPr/>
          <p:nvPr/>
        </p:nvSpPr>
        <p:spPr>
          <a:xfrm>
            <a:off x="685800" y="1188720"/>
            <a:ext cx="457200" cy="457200"/>
          </a:xfrm>
          <a:prstGeom prst="ellipse">
            <a:avLst/>
          </a:prstGeom>
          <a:solidFill>
            <a:srgbClr val="3E8ED0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32588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帐篷太靠近河边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32588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远离水边至少30米！水位可能突然上涨。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0" y="1234440"/>
            <a:ext cx="1645920" cy="320040"/>
          </a:xfrm>
          <a:prstGeom prst="roundRect">
            <a:avLst>
              <a:gd name="adj" fmla="val 17143"/>
            </a:avLst>
          </a:prstGeom>
          <a:solidFill>
            <a:srgbClr val="3E8ED0">
              <a:alpha val="80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6858000" y="1234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8E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原则1: 远离水边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57200" y="184708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1847088"/>
            <a:ext cx="64008" cy="64008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5" name="Shape 12"/>
          <p:cNvSpPr/>
          <p:nvPr/>
        </p:nvSpPr>
        <p:spPr>
          <a:xfrm>
            <a:off x="685800" y="1938528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325880" y="18928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篝火在大树下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325880" y="21671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火星可能点燃树枝！篝火要在空旷处。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58000" y="1984248"/>
            <a:ext cx="1645920" cy="320040"/>
          </a:xfrm>
          <a:prstGeom prst="roundRect">
            <a:avLst>
              <a:gd name="adj" fmla="val 17143"/>
            </a:avLst>
          </a:prstGeom>
          <a:solidFill>
            <a:srgbClr val="2C5F2D">
              <a:alpha val="80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6858000" y="19842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原则3: 不在树下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57200" y="259689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" y="2596896"/>
            <a:ext cx="64008" cy="640080"/>
          </a:xfrm>
          <a:prstGeom prst="rect">
            <a:avLst/>
          </a:prstGeom>
          <a:solidFill>
            <a:srgbClr val="BF6B2B"/>
          </a:solidFill>
          <a:ln/>
        </p:spPr>
      </p:sp>
      <p:sp>
        <p:nvSpPr>
          <p:cNvPr id="23" name="Shape 20"/>
          <p:cNvSpPr/>
          <p:nvPr/>
        </p:nvSpPr>
        <p:spPr>
          <a:xfrm>
            <a:off x="685800" y="2688336"/>
            <a:ext cx="457200" cy="457200"/>
          </a:xfrm>
          <a:prstGeom prst="ellipse">
            <a:avLst/>
          </a:prstGeom>
          <a:solidFill>
            <a:srgbClr val="BF6B2B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1325880" y="26426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食物放在帐篷旁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325880" y="29169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食物气味引来动物！食物区要和帐篷分开。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858000" y="2734056"/>
            <a:ext cx="1645920" cy="320040"/>
          </a:xfrm>
          <a:prstGeom prst="roundRect">
            <a:avLst>
              <a:gd name="adj" fmla="val 17143"/>
            </a:avLst>
          </a:prstGeom>
          <a:solidFill>
            <a:srgbClr val="BF6B2B">
              <a:alpha val="80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6858000" y="273405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F6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安全分区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457200" y="334670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457200" y="3346704"/>
            <a:ext cx="64008" cy="640080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31" name="Shape 28"/>
          <p:cNvSpPr/>
          <p:nvPr/>
        </p:nvSpPr>
        <p:spPr>
          <a:xfrm>
            <a:off x="685800" y="3438144"/>
            <a:ext cx="457200" cy="45720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32" name="Text 29"/>
          <p:cNvSpPr/>
          <p:nvPr/>
        </p:nvSpPr>
        <p:spPr>
          <a:xfrm>
            <a:off x="68580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1325880" y="33924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帐篷搭在斜坡上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1325880" y="366674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睡觉会滚下去！帐篷要选平地。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858000" y="3483864"/>
            <a:ext cx="1645920" cy="320040"/>
          </a:xfrm>
          <a:prstGeom prst="roundRect">
            <a:avLst>
              <a:gd name="adj" fmla="val 17143"/>
            </a:avLst>
          </a:prstGeom>
          <a:solidFill>
            <a:srgbClr val="5A8F3C">
              <a:alpha val="80000"/>
            </a:srgbClr>
          </a:solidFill>
          <a:ln/>
        </p:spPr>
      </p:sp>
      <p:sp>
        <p:nvSpPr>
          <p:cNvPr id="36" name="Text 33"/>
          <p:cNvSpPr/>
          <p:nvPr/>
        </p:nvSpPr>
        <p:spPr>
          <a:xfrm>
            <a:off x="6858000" y="348386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原则2: 地面平坦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57200" y="4096512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457200" y="4096512"/>
            <a:ext cx="64008" cy="640080"/>
          </a:xfrm>
          <a:prstGeom prst="rect">
            <a:avLst/>
          </a:prstGeom>
          <a:solidFill>
            <a:srgbClr val="2AA198"/>
          </a:solidFill>
          <a:ln/>
        </p:spPr>
      </p:sp>
      <p:sp>
        <p:nvSpPr>
          <p:cNvPr id="39" name="Shape 36"/>
          <p:cNvSpPr/>
          <p:nvPr/>
        </p:nvSpPr>
        <p:spPr>
          <a:xfrm>
            <a:off x="685800" y="4187952"/>
            <a:ext cx="457200" cy="457200"/>
          </a:xfrm>
          <a:prstGeom prst="ellipse">
            <a:avLst/>
          </a:prstGeom>
          <a:solidFill>
            <a:srgbClr val="2AA198"/>
          </a:solidFill>
          <a:ln/>
        </p:spPr>
      </p:sp>
      <p:sp>
        <p:nvSpPr>
          <p:cNvPr id="40" name="Text 37"/>
          <p:cNvSpPr/>
          <p:nvPr/>
        </p:nvSpPr>
        <p:spPr>
          <a:xfrm>
            <a:off x="685800" y="4187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1325880" y="4142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营地旁有水坑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325880" y="44165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潮湿+蚊虫！选干燥的地方。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6858000" y="4233672"/>
            <a:ext cx="1645920" cy="320040"/>
          </a:xfrm>
          <a:prstGeom prst="roundRect">
            <a:avLst>
              <a:gd name="adj" fmla="val 17143"/>
            </a:avLst>
          </a:prstGeom>
          <a:solidFill>
            <a:srgbClr val="2AA198">
              <a:alpha val="80000"/>
            </a:srgbClr>
          </a:solidFill>
          <a:ln/>
        </p:spPr>
      </p:sp>
      <p:sp>
        <p:nvSpPr>
          <p:cNvPr id="44" name="Text 41"/>
          <p:cNvSpPr/>
          <p:nvPr/>
        </p:nvSpPr>
        <p:spPr>
          <a:xfrm>
            <a:off x="6858000" y="423367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A1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原则4: 保持干燥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57200" y="4892040"/>
            <a:ext cx="3931920" cy="228600"/>
          </a:xfrm>
          <a:prstGeom prst="roundRect">
            <a:avLst>
              <a:gd name="adj" fmla="val 24000"/>
            </a:avLst>
          </a:prstGeom>
          <a:solidFill>
            <a:srgbClr val="F2A93B">
              <a:alpha val="15000"/>
            </a:srgbClr>
          </a:solidFill>
          <a:ln/>
        </p:spPr>
      </p:sp>
      <p:sp>
        <p:nvSpPr>
          <p:cNvPr id="46" name="Text 43"/>
          <p:cNvSpPr/>
          <p:nvPr/>
        </p:nvSpPr>
        <p:spPr>
          <a:xfrm>
            <a:off x="640080" y="48920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🟡 小年龄: 指出危险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4754880" y="4892040"/>
            <a:ext cx="3931920" cy="228600"/>
          </a:xfrm>
          <a:prstGeom prst="roundRect">
            <a:avLst>
              <a:gd name="adj" fmla="val 24000"/>
            </a:avLst>
          </a:prstGeom>
          <a:solidFill>
            <a:srgbClr val="3E8ED0">
              <a:alpha val="15000"/>
            </a:srgbClr>
          </a:solidFill>
          <a:ln/>
        </p:spPr>
      </p:sp>
      <p:sp>
        <p:nvSpPr>
          <p:cNvPr id="48" name="Text 45"/>
          <p:cNvSpPr/>
          <p:nvPr/>
        </p:nvSpPr>
        <p:spPr>
          <a:xfrm>
            <a:off x="4937760" y="48920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E8E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🔵 大年龄: 解释为什么危险 + 怎么修复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5D40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🏃 模拟选址！Four Corners Game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教室四个角代表不同地形，小组选择最安全的！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1554480"/>
            <a:ext cx="29260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1554480"/>
            <a:ext cx="64008" cy="1097280"/>
          </a:xfrm>
          <a:prstGeom prst="rect">
            <a:avLst/>
          </a:prstGeom>
          <a:solidFill>
            <a:srgbClr val="3E8ED0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1645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🌊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194560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河边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194560" y="1965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左前角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94560" y="2240280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2194560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❓ 安全吗？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0" y="1554480"/>
            <a:ext cx="29260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0" y="1554480"/>
            <a:ext cx="64008" cy="109728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5212080" y="1645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🌳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852160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大树下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852160" y="1965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右前角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852160" y="2240280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/>
        </p:spPr>
      </p:sp>
      <p:sp>
        <p:nvSpPr>
          <p:cNvPr id="18" name="Text 16"/>
          <p:cNvSpPr/>
          <p:nvPr/>
        </p:nvSpPr>
        <p:spPr>
          <a:xfrm>
            <a:off x="5852160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❓ 安全吗？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71600" y="2926080"/>
            <a:ext cx="29260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371600" y="2926080"/>
            <a:ext cx="64008" cy="109728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21" name="Text 19"/>
          <p:cNvSpPr/>
          <p:nvPr/>
        </p:nvSpPr>
        <p:spPr>
          <a:xfrm>
            <a:off x="1554480" y="3017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🪨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2194560" y="3017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石头区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19456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左后角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94560" y="3611880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/>
        </p:spPr>
      </p:sp>
      <p:sp>
        <p:nvSpPr>
          <p:cNvPr id="25" name="Text 23"/>
          <p:cNvSpPr/>
          <p:nvPr/>
        </p:nvSpPr>
        <p:spPr>
          <a:xfrm>
            <a:off x="2194560" y="3611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❓ 安全吗？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0" y="2926080"/>
            <a:ext cx="29260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029200" y="2926080"/>
            <a:ext cx="64008" cy="1097280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28" name="Text 26"/>
          <p:cNvSpPr/>
          <p:nvPr/>
        </p:nvSpPr>
        <p:spPr>
          <a:xfrm>
            <a:off x="5212080" y="3017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🌿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5852160" y="3017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平坦草地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85216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右后角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852160" y="3611880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0" y="3611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❓ 安全吗？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14400" y="4434840"/>
            <a:ext cx="7315200" cy="502920"/>
          </a:xfrm>
          <a:prstGeom prst="roundRect">
            <a:avLst>
              <a:gd name="adj" fmla="val 18182"/>
            </a:avLst>
          </a:prstGeom>
          <a:solidFill>
            <a:srgbClr val="5D4037">
              <a:alpha val="1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1097280" y="44805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🎯 跑到你选择的角！准备说明你的理由！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D94F4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82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13716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🔎 隐藏风险！Hidden Dangers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安全不只看表面！Surface is not everything!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40233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1600200"/>
            <a:ext cx="64008" cy="118872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645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🐜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14300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如果草地下有蚂蚁窝怎么办？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43000" y="2011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搭帐篷前先检查地面！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看有没有蚂蚁、小洞、虫子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600200"/>
            <a:ext cx="40233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600200"/>
            <a:ext cx="64008" cy="1188720"/>
          </a:xfrm>
          <a:prstGeom prst="rect">
            <a:avLst/>
          </a:prstGeom>
          <a:solidFill>
            <a:srgbClr val="3E8ED0"/>
          </a:solidFill>
          <a:ln/>
        </p:spPr>
      </p:sp>
      <p:sp>
        <p:nvSpPr>
          <p:cNvPr id="13" name="Text 10"/>
          <p:cNvSpPr/>
          <p:nvPr/>
        </p:nvSpPr>
        <p:spPr>
          <a:xfrm>
            <a:off x="4937760" y="1645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🌧️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4068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如果晚上下雨怎么办？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40680" y="2011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选稍高的地方！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低洼处会积水，帐篷被淹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2971800"/>
            <a:ext cx="40233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57200" y="2971800"/>
            <a:ext cx="64008" cy="1188720"/>
          </a:xfrm>
          <a:prstGeom prst="rect">
            <a:avLst/>
          </a:prstGeom>
          <a:solidFill>
            <a:srgbClr val="5D4037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3017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🐻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143000" y="30175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如果有动物来找食物怎么办？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143000" y="33832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食物要密封保存！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和帐篷保持距离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754880" y="2971800"/>
            <a:ext cx="40233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754880" y="2971800"/>
            <a:ext cx="64008" cy="1188720"/>
          </a:xfrm>
          <a:prstGeom prst="rect">
            <a:avLst/>
          </a:prstGeom>
          <a:solidFill>
            <a:srgbClr val="2AA198"/>
          </a:solidFill>
          <a:ln/>
        </p:spPr>
      </p:sp>
      <p:sp>
        <p:nvSpPr>
          <p:cNvPr id="23" name="Text 20"/>
          <p:cNvSpPr/>
          <p:nvPr/>
        </p:nvSpPr>
        <p:spPr>
          <a:xfrm>
            <a:off x="4937760" y="3017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💨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5440680" y="30175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如果起大风怎么办？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440680" y="33832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选有天然遮挡的地方！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但不是大树正下方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1828800" y="4480560"/>
            <a:ext cx="5486400" cy="457200"/>
          </a:xfrm>
          <a:prstGeom prst="roundRect">
            <a:avLst>
              <a:gd name="adj" fmla="val 20000"/>
            </a:avLst>
          </a:prstGeom>
          <a:solidFill>
            <a:srgbClr val="1E3A1E"/>
          </a:solidFill>
          <a:ln/>
        </p:spPr>
      </p:sp>
      <p:sp>
        <p:nvSpPr>
          <p:cNvPr id="27" name="Text 24"/>
          <p:cNvSpPr/>
          <p:nvPr/>
        </p:nvSpPr>
        <p:spPr>
          <a:xfrm>
            <a:off x="1828800" y="4480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🧠 安全 = 表面观察 + 细节判断 + 提前计划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F6B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82880"/>
            <a:ext cx="146304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463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今日任务 Today's Mission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F6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设计我们的探险营地模型！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1828800" y="25146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2A3A2A"/>
          </a:solidFill>
          <a:ln/>
        </p:spPr>
      </p:sp>
      <p:sp>
        <p:nvSpPr>
          <p:cNvPr id="7" name="Text 4"/>
          <p:cNvSpPr/>
          <p:nvPr/>
        </p:nvSpPr>
        <p:spPr>
          <a:xfrm>
            <a:off x="2011680" y="25146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⛺  ✔ 帐篷区 Tent Zone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828800" y="2514600"/>
            <a:ext cx="54864" cy="384048"/>
          </a:xfrm>
          <a:prstGeom prst="rect">
            <a:avLst/>
          </a:prstGeom>
          <a:solidFill>
            <a:srgbClr val="3E8ED0"/>
          </a:solidFill>
          <a:ln/>
        </p:spPr>
      </p:sp>
      <p:sp>
        <p:nvSpPr>
          <p:cNvPr id="9" name="Shape 6"/>
          <p:cNvSpPr/>
          <p:nvPr/>
        </p:nvSpPr>
        <p:spPr>
          <a:xfrm>
            <a:off x="1828800" y="29718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2A3A2A"/>
          </a:solidFill>
          <a:ln/>
        </p:spPr>
      </p:sp>
      <p:sp>
        <p:nvSpPr>
          <p:cNvPr id="10" name="Text 7"/>
          <p:cNvSpPr/>
          <p:nvPr/>
        </p:nvSpPr>
        <p:spPr>
          <a:xfrm>
            <a:off x="2011680" y="29718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 ✔ 篝火区 Fire Zone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828800" y="2971800"/>
            <a:ext cx="54864" cy="384048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2" name="Shape 9"/>
          <p:cNvSpPr/>
          <p:nvPr/>
        </p:nvSpPr>
        <p:spPr>
          <a:xfrm>
            <a:off x="1828800" y="34290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2A3A2A"/>
          </a:solidFill>
          <a:ln/>
        </p:spPr>
      </p:sp>
      <p:sp>
        <p:nvSpPr>
          <p:cNvPr id="13" name="Text 10"/>
          <p:cNvSpPr/>
          <p:nvPr/>
        </p:nvSpPr>
        <p:spPr>
          <a:xfrm>
            <a:off x="2011680" y="34290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🍖  ✔ 食物区 Food Storage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828800" y="3429000"/>
            <a:ext cx="54864" cy="384048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1828800" y="38862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2A3A2A"/>
          </a:solidFill>
          <a:ln/>
        </p:spPr>
      </p:sp>
      <p:sp>
        <p:nvSpPr>
          <p:cNvPr id="16" name="Text 13"/>
          <p:cNvSpPr/>
          <p:nvPr/>
        </p:nvSpPr>
        <p:spPr>
          <a:xfrm>
            <a:off x="2011680" y="38862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 ✔ 危险区标识 Danger Signs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828800" y="3886200"/>
            <a:ext cx="54864" cy="384048"/>
          </a:xfrm>
          <a:prstGeom prst="rect">
            <a:avLst/>
          </a:prstGeom>
          <a:solidFill>
            <a:srgbClr val="E8731A"/>
          </a:solidFill>
          <a:ln/>
        </p:spPr>
      </p:sp>
      <p:sp>
        <p:nvSpPr>
          <p:cNvPr id="18" name="Shape 15"/>
          <p:cNvSpPr/>
          <p:nvPr/>
        </p:nvSpPr>
        <p:spPr>
          <a:xfrm>
            <a:off x="1828800" y="43434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2A3A2A"/>
          </a:solidFill>
          <a:ln/>
        </p:spPr>
      </p:sp>
      <p:sp>
        <p:nvSpPr>
          <p:cNvPr id="19" name="Text 16"/>
          <p:cNvSpPr/>
          <p:nvPr/>
        </p:nvSpPr>
        <p:spPr>
          <a:xfrm>
            <a:off x="2011680" y="43434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🏃  ✔ 逃生路线 Escape Route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1828800" y="4343400"/>
            <a:ext cx="54864" cy="384048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你们的营地必须包含以上全部5个部分！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BF6B2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🧰 材料清单 Materials List (老师参考)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3931920" cy="45720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📦 基础材料 Basic Supplies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硬卡纸/纸板 (底板)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26080" y="1783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每组1大张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05840" y="198424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做营地地形底板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🪵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22677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小木棍/冰棒棍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26080" y="226771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每组10-15根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05840" y="246888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搭帐篷骨架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275234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彩色纸/布料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926080" y="2752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各色若干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05840" y="295351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做帐篷布面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94360" y="3236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🖍️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05840" y="323697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彩笔/蜡笔/马克笔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926080" y="323697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每组1套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05840" y="3438144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标注和装饰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94360" y="3721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✂️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05840" y="3721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剪刀 + 胶水/胶棒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926080" y="37216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每组2把+2支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05840" y="3922776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裁剪和粘贴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94360" y="4206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📏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05840" y="42062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尺子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926080" y="42062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每组1把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05840" y="440740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量距离画分区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54880" y="1188720"/>
            <a:ext cx="39319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54880" y="1188720"/>
            <a:ext cx="3931920" cy="457200"/>
          </a:xfrm>
          <a:prstGeom prst="rect">
            <a:avLst/>
          </a:prstGeom>
          <a:solidFill>
            <a:srgbClr val="BF6B2B"/>
          </a:solidFill>
          <a:ln/>
        </p:spPr>
      </p:sp>
      <p:sp>
        <p:nvSpPr>
          <p:cNvPr id="33" name="Text 31"/>
          <p:cNvSpPr/>
          <p:nvPr/>
        </p:nvSpPr>
        <p:spPr>
          <a:xfrm>
            <a:off x="493776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🎨 特殊材料 Special Items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93776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🧶 彩色毛线/绳子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94944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6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标逃生路线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937760" y="2103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🔴 红色贴纸/小旗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949440" y="2103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6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标危险区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937760" y="2423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🪨 小石子/橡皮泥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949440" y="2423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6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做篝火区/地形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937760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🌿 棉花/绿纸碎片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949440" y="2743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6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做草地/树木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54880" y="3383280"/>
            <a:ext cx="393192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754880" y="3383280"/>
            <a:ext cx="3931920" cy="457200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44" name="Text 42"/>
          <p:cNvSpPr/>
          <p:nvPr/>
        </p:nvSpPr>
        <p:spPr>
          <a:xfrm>
            <a:off x="4937760" y="3429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🗺️ 区域 → 材料对照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4937760" y="391363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⛺ 帐篷区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675120" y="391363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木棍+布/纸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937760" y="409651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篝火区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675120" y="40965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石子围圈+红橡皮泥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937760" y="427939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🍖 食物区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6675120" y="427939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小盒子/纸折容器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937760" y="446227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危险标识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675120" y="446227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红贴纸/红笔标注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937760" y="46451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🏃 逃生路线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675120" y="464515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彩色毛线/虚线箭头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57200" y="4892040"/>
            <a:ext cx="8229600" cy="228600"/>
          </a:xfrm>
          <a:prstGeom prst="roundRect">
            <a:avLst>
              <a:gd name="adj" fmla="val 24000"/>
            </a:avLst>
          </a:prstGeom>
          <a:solidFill>
            <a:srgbClr val="F2A93B">
              <a:alpha val="15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640080" y="489204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老师提示: 可用回收材料替代！纸盒→建筑，塑料瓶盖→篝火石，树叶→植物装饰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🗺️ 观察这张地图！What Do You See?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仔细看每个区域，判断：这是什么地形？能不能搭营地？</a:t>
            </a:r>
            <a:endParaRPr lang="en-US" sz="1300" dirty="0"/>
          </a:p>
        </p:txBody>
      </p:sp>
      <p:pic>
        <p:nvPicPr>
          <p:cNvPr id="5" name="Image 0" descr="/home/claude/campsite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417320"/>
            <a:ext cx="4114800" cy="3931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480560" y="1417320"/>
            <a:ext cx="4389120" cy="3794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480560" y="1417320"/>
            <a:ext cx="4389120" cy="411480"/>
          </a:xfrm>
          <a:prstGeom prst="rect">
            <a:avLst/>
          </a:prstGeom>
          <a:solidFill>
            <a:srgbClr val="BF6B2B"/>
          </a:solidFill>
          <a:ln/>
        </p:spPr>
      </p:sp>
      <p:sp>
        <p:nvSpPr>
          <p:cNvPr id="8" name="Text 5"/>
          <p:cNvSpPr/>
          <p:nvPr/>
        </p:nvSpPr>
        <p:spPr>
          <a:xfrm>
            <a:off x="4663440" y="144475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🤔 小组讨论 Discussion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17720" y="1984248"/>
            <a:ext cx="274320" cy="274320"/>
          </a:xfrm>
          <a:prstGeom prst="ellipse">
            <a:avLst/>
          </a:prstGeom>
          <a:solidFill>
            <a:srgbClr val="BF6B2B"/>
          </a:solidFill>
          <a:ln/>
        </p:spPr>
      </p:sp>
      <p:sp>
        <p:nvSpPr>
          <p:cNvPr id="10" name="Text 7"/>
          <p:cNvSpPr/>
          <p:nvPr/>
        </p:nvSpPr>
        <p:spPr>
          <a:xfrm>
            <a:off x="4617720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983480" y="1965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你在地图上看到了什么地形？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983480" y="21945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terrain features do you see?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17720" y="2487168"/>
            <a:ext cx="274320" cy="274320"/>
          </a:xfrm>
          <a:prstGeom prst="ellipse">
            <a:avLst/>
          </a:prstGeom>
          <a:solidFill>
            <a:srgbClr val="BF6B2B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2487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2468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哪些区域有危险？为什么？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983480" y="26974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areas are dangerous? Why?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617720" y="2990088"/>
            <a:ext cx="274320" cy="274320"/>
          </a:xfrm>
          <a:prstGeom prst="ellipse">
            <a:avLst/>
          </a:prstGeom>
          <a:solidFill>
            <a:srgbClr val="BF6B2B"/>
          </a:solidFill>
          <a:ln/>
        </p:spPr>
      </p:sp>
      <p:sp>
        <p:nvSpPr>
          <p:cNvPr id="18" name="Text 15"/>
          <p:cNvSpPr/>
          <p:nvPr/>
        </p:nvSpPr>
        <p:spPr>
          <a:xfrm>
            <a:off x="4617720" y="2990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983480" y="2971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你会选哪里搭帐篷？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983480" y="3200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would you set up your tent?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17720" y="3493008"/>
            <a:ext cx="274320" cy="274320"/>
          </a:xfrm>
          <a:prstGeom prst="ellipse">
            <a:avLst/>
          </a:prstGeom>
          <a:solidFill>
            <a:srgbClr val="BF6B2B"/>
          </a:solidFill>
          <a:ln/>
        </p:spPr>
      </p:sp>
      <p:sp>
        <p:nvSpPr>
          <p:cNvPr id="22" name="Text 19"/>
          <p:cNvSpPr/>
          <p:nvPr/>
        </p:nvSpPr>
        <p:spPr>
          <a:xfrm>
            <a:off x="4617720" y="3493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98348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篝火/食物区应该放在哪？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983480" y="3703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should fire/food zones go?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617720" y="3995928"/>
            <a:ext cx="274320" cy="274320"/>
          </a:xfrm>
          <a:prstGeom prst="ellipse">
            <a:avLst/>
          </a:prstGeom>
          <a:solidFill>
            <a:srgbClr val="BF6B2B"/>
          </a:solidFill>
          <a:ln/>
        </p:spPr>
      </p:sp>
      <p:sp>
        <p:nvSpPr>
          <p:cNvPr id="26" name="Text 23"/>
          <p:cNvSpPr/>
          <p:nvPr/>
        </p:nvSpPr>
        <p:spPr>
          <a:xfrm>
            <a:off x="4617720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983480" y="3977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用四原则检验你的选择！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4983480" y="42062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with the 4 Safety Rules!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4480560" y="4572000"/>
            <a:ext cx="4389120" cy="548640"/>
          </a:xfrm>
          <a:prstGeom prst="roundRect">
            <a:avLst>
              <a:gd name="adj" fmla="val 13333"/>
            </a:avLst>
          </a:prstGeom>
          <a:solidFill>
            <a:srgbClr val="F2A93B">
              <a:alpha val="15000"/>
            </a:srgbClr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0" y="459028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四原则 4 Rules：远离水边 · 地面平坦 · 不在树下 · 保持干燥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5D403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82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13716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🤝 小组分工 Team Roles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1965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1188720"/>
            <a:ext cx="1965960" cy="54864"/>
          </a:xfrm>
          <a:prstGeom prst="rect">
            <a:avLst/>
          </a:prstGeom>
          <a:solidFill>
            <a:srgbClr val="3E8ED0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🧭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48640" y="18745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方向官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Navigator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48640" y="24688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决定营地朝向和布局方向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606040" y="1188720"/>
            <a:ext cx="1965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606040" y="1188720"/>
            <a:ext cx="1965960" cy="54864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3" name="Text 10"/>
          <p:cNvSpPr/>
          <p:nvPr/>
        </p:nvSpPr>
        <p:spPr>
          <a:xfrm>
            <a:off x="260604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🏗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2697480" y="18745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建设官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697480" y="214884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697480" y="24688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负责搭建模型和动手制作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754880" y="1188720"/>
            <a:ext cx="1965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754880" y="1188720"/>
            <a:ext cx="1965960" cy="54864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19" name="Text 16"/>
          <p:cNvSpPr/>
          <p:nvPr/>
        </p:nvSpPr>
        <p:spPr>
          <a:xfrm>
            <a:off x="475488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📝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4846320" y="18745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记录官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4846320" y="214884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Reporter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846320" y="24688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画设计图、记录和准备讲解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903720" y="1188720"/>
            <a:ext cx="1965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903720" y="1188720"/>
            <a:ext cx="196596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25" name="Text 22"/>
          <p:cNvSpPr/>
          <p:nvPr/>
        </p:nvSpPr>
        <p:spPr>
          <a:xfrm>
            <a:off x="690372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🔍</a:t>
            </a:r>
            <a:endParaRPr lang="en-US" sz="3600" dirty="0"/>
          </a:p>
        </p:txBody>
      </p:sp>
      <p:sp>
        <p:nvSpPr>
          <p:cNvPr id="26" name="Text 23"/>
          <p:cNvSpPr/>
          <p:nvPr/>
        </p:nvSpPr>
        <p:spPr>
          <a:xfrm>
            <a:off x="6995160" y="18745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安全官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995160" y="214884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Officer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995160" y="24688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检查是否符合四原则、标注危险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57200" y="3749040"/>
            <a:ext cx="3931920" cy="640080"/>
          </a:xfrm>
          <a:prstGeom prst="roundRect">
            <a:avLst>
              <a:gd name="adj" fmla="val 14286"/>
            </a:avLst>
          </a:prstGeom>
          <a:solidFill>
            <a:srgbClr val="F2A93B">
              <a:alpha val="15000"/>
            </a:srgbClr>
          </a:solidFill>
          <a:ln/>
        </p:spPr>
      </p:sp>
      <p:sp>
        <p:nvSpPr>
          <p:cNvPr id="30" name="Text 27"/>
          <p:cNvSpPr/>
          <p:nvPr/>
        </p:nvSpPr>
        <p:spPr>
          <a:xfrm>
            <a:off x="640080" y="376732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🟡 小年龄负责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40080" y="4023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动手搭建、涂色、摆放材料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749040"/>
            <a:ext cx="3931920" cy="640080"/>
          </a:xfrm>
          <a:prstGeom prst="roundRect">
            <a:avLst>
              <a:gd name="adj" fmla="val 14286"/>
            </a:avLst>
          </a:prstGeom>
          <a:solidFill>
            <a:srgbClr val="3E8ED0">
              <a:alpha val="15000"/>
            </a:srgbClr>
          </a:solidFill>
          <a:ln/>
        </p:spPr>
      </p:sp>
      <p:sp>
        <p:nvSpPr>
          <p:cNvPr id="33" name="Text 30"/>
          <p:cNvSpPr/>
          <p:nvPr/>
        </p:nvSpPr>
        <p:spPr>
          <a:xfrm>
            <a:off x="4937760" y="376732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8E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🔵 大年龄负责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937760" y="4023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规划设计、安全检查、准备讲解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40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每个人都有重要任务！混龄合作，互相帮助！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📋 设计清单 Design Checklist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你们的营地必须满足：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554480"/>
            <a:ext cx="731520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554480"/>
            <a:ext cx="64008" cy="53035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164592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EEEEEE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645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8F3C"/>
                </a:solidFill>
              </a:rPr>
              <a:t>☐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00200" y="1600200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 符合四原则（远离水边、平坦、不在树下、干燥）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2194560"/>
            <a:ext cx="731520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2194560"/>
            <a:ext cx="64008" cy="53035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228600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EEEEEE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2286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8F3C"/>
                </a:solidFill>
              </a:rPr>
              <a:t>☐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2240280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📐  有明确的分区（帐篷/篝火/食物/厕所）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" y="2834640"/>
            <a:ext cx="731520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2834640"/>
            <a:ext cx="64008" cy="53035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7" name="Shape 15"/>
          <p:cNvSpPr/>
          <p:nvPr/>
        </p:nvSpPr>
        <p:spPr>
          <a:xfrm>
            <a:off x="1097280" y="292608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EEEEEE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8F3C"/>
                </a:solidFill>
              </a:rPr>
              <a:t>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00200" y="2880360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 标出所有危险区域（用红色标记）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14400" y="3474720"/>
            <a:ext cx="731520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3474720"/>
            <a:ext cx="64008" cy="53035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22" name="Shape 20"/>
          <p:cNvSpPr/>
          <p:nvPr/>
        </p:nvSpPr>
        <p:spPr>
          <a:xfrm>
            <a:off x="1097280" y="356616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EEEEEE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3566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8F3C"/>
                </a:solidFill>
              </a:rPr>
              <a:t>☐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00200" y="3520440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📝  有安全说明（为什么这样设计）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14400" y="4114800"/>
            <a:ext cx="731520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14400" y="4114800"/>
            <a:ext cx="64008" cy="53035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27" name="Shape 25"/>
          <p:cNvSpPr/>
          <p:nvPr/>
        </p:nvSpPr>
        <p:spPr>
          <a:xfrm>
            <a:off x="1097280" y="420624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EEEEEE"/>
          </a:solidFill>
          <a:ln/>
        </p:spPr>
      </p:sp>
      <p:sp>
        <p:nvSpPr>
          <p:cNvPr id="28" name="Text 26"/>
          <p:cNvSpPr/>
          <p:nvPr/>
        </p:nvSpPr>
        <p:spPr>
          <a:xfrm>
            <a:off x="1097280" y="4206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8F3C"/>
                </a:solidFill>
              </a:rPr>
              <a:t>☐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00200" y="4160520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🏃  有逃生路线（万一有紧急情况怎么跑）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每完成一项就打勾 ✅！全部完成才算合格！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F6B2B"/>
          </a:solidFill>
          <a:ln/>
        </p:spPr>
      </p:sp>
      <p:sp>
        <p:nvSpPr>
          <p:cNvPr id="3" name="Text 1"/>
          <p:cNvSpPr/>
          <p:nvPr/>
        </p:nvSpPr>
        <p:spPr>
          <a:xfrm>
            <a:off x="3840480" y="2743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0" dirty="0">
                <a:solidFill>
                  <a:srgbClr val="000000"/>
                </a:solidFill>
              </a:rPr>
              <a:t>🔨</a:t>
            </a:r>
            <a:endParaRPr lang="en-US" sz="5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PBL 制作时间！Build Time!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0" y="1965960"/>
            <a:ext cx="3657600" cy="548640"/>
          </a:xfrm>
          <a:prstGeom prst="roundRect">
            <a:avLst>
              <a:gd name="adj" fmla="val 16667"/>
            </a:avLst>
          </a:prstGeom>
          <a:solidFill>
            <a:srgbClr val="BF6B2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0" y="19659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制作时间: 60-90 分钟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F6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制作时思考这些问题：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3200400"/>
            <a:ext cx="6400800" cy="365760"/>
          </a:xfrm>
          <a:prstGeom prst="roundRect">
            <a:avLst>
              <a:gd name="adj" fmla="val 20000"/>
            </a:avLst>
          </a:prstGeom>
          <a:solidFill>
            <a:srgbClr val="2A3A2A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32004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📍  为什么选这个位置搭营地？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371600" y="3639312"/>
            <a:ext cx="6400800" cy="365760"/>
          </a:xfrm>
          <a:prstGeom prst="roundRect">
            <a:avLst>
              <a:gd name="adj" fmla="val 20000"/>
            </a:avLst>
          </a:prstGeom>
          <a:solidFill>
            <a:srgbClr val="2A3A2A"/>
          </a:solidFill>
          <a:ln/>
        </p:spPr>
      </p:sp>
      <p:sp>
        <p:nvSpPr>
          <p:cNvPr id="11" name="Text 9"/>
          <p:cNvSpPr/>
          <p:nvPr/>
        </p:nvSpPr>
        <p:spPr>
          <a:xfrm>
            <a:off x="1554480" y="363931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🌧️  如果下雨怎么办？你的营地准备好了吗？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371600" y="4078224"/>
            <a:ext cx="6400800" cy="365760"/>
          </a:xfrm>
          <a:prstGeom prst="roundRect">
            <a:avLst>
              <a:gd name="adj" fmla="val 20000"/>
            </a:avLst>
          </a:prstGeom>
          <a:solidFill>
            <a:srgbClr val="2A3A2A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407822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🤕  如果有人受伤怎么办？急救区在哪里？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371600" y="4517136"/>
            <a:ext cx="6400800" cy="365760"/>
          </a:xfrm>
          <a:prstGeom prst="roundRect">
            <a:avLst>
              <a:gd name="adj" fmla="val 20000"/>
            </a:avLst>
          </a:prstGeom>
          <a:solidFill>
            <a:srgbClr val="2A3A2A"/>
          </a:solidFill>
          <a:ln/>
        </p:spPr>
      </p:sp>
      <p:sp>
        <p:nvSpPr>
          <p:cNvPr id="15" name="Text 13"/>
          <p:cNvSpPr/>
          <p:nvPr/>
        </p:nvSpPr>
        <p:spPr>
          <a:xfrm>
            <a:off x="1554480" y="451713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🐻  如果有动物来怎么办？食物安全吗？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BF6B2B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5D40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🎤 展示时间 Presentation Time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3931920" cy="457200"/>
          </a:xfrm>
          <a:prstGeom prst="rect">
            <a:avLst/>
          </a:prstGeom>
          <a:solidFill>
            <a:srgbClr val="5D403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🎯 每组 3 分钟讲解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874520"/>
            <a:ext cx="411480" cy="411480"/>
          </a:xfrm>
          <a:prstGeom prst="ellipse">
            <a:avLst/>
          </a:prstGeom>
          <a:solidFill>
            <a:srgbClr val="3E8ED0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1828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选址理由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为什么选这个位置？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468880"/>
            <a:ext cx="411480" cy="411480"/>
          </a:xfrm>
          <a:prstGeom prst="ellipse">
            <a:avLst/>
          </a:prstGeom>
          <a:solidFill>
            <a:srgbClr val="D94F4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4231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危险分析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你们发现了哪些潜在风险？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063240"/>
            <a:ext cx="411480" cy="41148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30175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安全措施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你们用了什么方法保证安全？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1188720"/>
            <a:ext cx="39319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188720"/>
            <a:ext cx="3931920" cy="457200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评分标准 Rubric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937760" y="17830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安全判断 Safety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0116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是否符合四原则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37760" y="22402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团队合作 Teamwork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12080" y="24688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每个人都参与了吗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26974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解释清晰 Clarity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212080" y="29260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说得让人听懂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937760" y="31546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创意设计 Creativity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12080" y="33832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有没有独特的好主意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931920"/>
            <a:ext cx="8229600" cy="9144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3931920"/>
            <a:ext cx="64008" cy="914400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3977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👂 观众任务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" y="42519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听完后给每组提一个问题或建议：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"如果……怎么办？" 或 "我觉得你们可以……"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💭 SEL 反思 Team Reflection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9748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2697480" cy="54864"/>
          </a:xfrm>
          <a:prstGeom prst="rect">
            <a:avLst/>
          </a:prstGeom>
          <a:solidFill>
            <a:srgbClr val="3E8ED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801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🤝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今天合作顺利吗？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37560" y="1188720"/>
            <a:ext cx="269748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37560" y="1188720"/>
            <a:ext cx="2697480" cy="54864"/>
          </a:xfrm>
          <a:prstGeom prst="rect">
            <a:avLst/>
          </a:prstGeom>
          <a:solidFill>
            <a:srgbClr val="BF6B2B"/>
          </a:solidFill>
          <a:ln/>
        </p:spPr>
      </p:sp>
      <p:sp>
        <p:nvSpPr>
          <p:cNvPr id="10" name="Text 8"/>
          <p:cNvSpPr/>
          <p:nvPr/>
        </p:nvSpPr>
        <p:spPr>
          <a:xfrm>
            <a:off x="3337560" y="12801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429000" y="16916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有没有不同意见？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188720"/>
            <a:ext cx="269748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1188720"/>
            <a:ext cx="2697480" cy="54864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12801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🧠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309360" y="16916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我们怎么解决的？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606040"/>
            <a:ext cx="8229600" cy="21031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606040"/>
            <a:ext cx="8229600" cy="457200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651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🗣️ 句式练习 Sentence Frames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3200400"/>
            <a:ext cx="7680960" cy="292608"/>
          </a:xfrm>
          <a:prstGeom prst="roundRect">
            <a:avLst>
              <a:gd name="adj" fmla="val 18750"/>
            </a:avLst>
          </a:prstGeom>
          <a:solidFill>
            <a:srgbClr val="3E8ED0">
              <a:alpha val="1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32004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8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think... because..."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32004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我觉得……因为……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3566160"/>
            <a:ext cx="7680960" cy="292608"/>
          </a:xfrm>
          <a:prstGeom prst="roundRect">
            <a:avLst>
              <a:gd name="adj" fmla="val 18750"/>
            </a:avLst>
          </a:prstGeom>
          <a:solidFill>
            <a:srgbClr val="D94F4F">
              <a:alpha val="1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35661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disagree because..."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54880" y="356616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我不同意，因为……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3931920"/>
            <a:ext cx="7680960" cy="292608"/>
          </a:xfrm>
          <a:prstGeom prst="roundRect">
            <a:avLst>
              <a:gd name="adj" fmla="val 18750"/>
            </a:avLst>
          </a:prstGeom>
          <a:solidFill>
            <a:srgbClr val="5A8F3C">
              <a:alpha val="1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931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8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"Let's vote!"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0" y="39319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我们来投票吧！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" y="4297680"/>
            <a:ext cx="7680960" cy="292608"/>
          </a:xfrm>
          <a:prstGeom prst="roundRect">
            <a:avLst>
              <a:gd name="adj" fmla="val 18750"/>
            </a:avLst>
          </a:prstGeom>
          <a:solidFill>
            <a:srgbClr val="F2A93B">
              <a:alpha val="1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429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"Great idea! And we can also..."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754880" y="42976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好主意！而且我们还可以……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5D40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📝 今天我们学到了… What We Learned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14400" y="1188720"/>
            <a:ext cx="73152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18872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📍  如何选择安全的营地位置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0" y="11887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choose a safe campsite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1737360"/>
            <a:ext cx="73152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280" y="173736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⭐  营地选址四原则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0" y="173736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rules for site selection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2286000"/>
            <a:ext cx="73152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228600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🔍  如何发现隐藏的危险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0" y="228600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spot hidden dangers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2834640"/>
            <a:ext cx="73152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97280" y="283464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📐  如何规划营地空间和分区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0" y="283464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plan camp layout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14400" y="3383280"/>
            <a:ext cx="73152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338328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🤝  如何分工合作完成任务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0" y="338328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work as a team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4400" y="3931920"/>
            <a:ext cx="73152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393192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🗣️  如何表达不同意见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0" y="39319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express disagreement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371600" y="4572000"/>
            <a:ext cx="6400800" cy="411480"/>
          </a:xfrm>
          <a:prstGeom prst="roundRect">
            <a:avLst>
              <a:gd name="adj" fmla="val 22222"/>
            </a:avLst>
          </a:prstGeom>
          <a:solidFill>
            <a:srgbClr val="2C5F2D">
              <a:alpha val="1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371600" y="45720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明天: 🧭 学习方向和指南针！Learn Directions &amp; Compass!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3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457200"/>
            <a:ext cx="2743200" cy="2743200"/>
          </a:xfrm>
          <a:prstGeom prst="ellipse">
            <a:avLst/>
          </a:prstGeom>
          <a:solidFill>
            <a:srgbClr val="BF6B2B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383280" y="640080"/>
            <a:ext cx="2377440" cy="2377440"/>
          </a:xfrm>
          <a:prstGeom prst="ellipse">
            <a:avLst/>
          </a:prstGeom>
          <a:solidFill>
            <a:srgbClr val="1E3A1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914400"/>
            <a:ext cx="155448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383280" y="2103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F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🏕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 Architect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F6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营地建筑师徽章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恭喜！你完成了营地设计挑战！🎉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贴在你的探险手册上吧！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2A93B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2026-02-28T06:11:43Z</dcterms:created>
  <dcterms:modified xsi:type="dcterms:W3CDTF">2026-02-28T06:11:43Z</dcterms:modified>
</cp:coreProperties>
</file>