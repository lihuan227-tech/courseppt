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CB34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731520"/>
            <a:ext cx="731520" cy="73152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097280"/>
            <a:ext cx="548640" cy="54864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822960"/>
            <a:ext cx="640080" cy="640080"/>
          </a:xfrm>
          <a:prstGeom prst="rect">
            <a:avLst/>
          </a:prstGeom>
        </p:spPr>
      </p:pic>
      <p:pic>
        <p:nvPicPr>
          <p:cNvPr id="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0" y="1188720"/>
            <a:ext cx="457200" cy="457200"/>
          </a:xfrm>
          <a:prstGeom prst="rect">
            <a:avLst/>
          </a:prstGeom>
        </p:spPr>
      </p:pic>
      <p:pic>
        <p:nvPicPr>
          <p:cNvPr id="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0" y="274320"/>
            <a:ext cx="1828800" cy="1371600"/>
          </a:xfrm>
          <a:prstGeom prst="rect">
            <a:avLst/>
          </a:prstGeom>
        </p:spPr>
      </p:pic>
      <p:sp>
        <p:nvSpPr>
          <p:cNvPr id="8" name="Text 1"/>
          <p:cNvSpPr/>
          <p:nvPr/>
        </p:nvSpPr>
        <p:spPr>
          <a:xfrm>
            <a:off x="457200" y="18288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野外生存与探险营</a:t>
            </a:r>
            <a:endParaRPr lang="en-US" sz="4200" dirty="0"/>
          </a:p>
        </p:txBody>
      </p:sp>
      <p:sp>
        <p:nvSpPr>
          <p:cNvPr id="9" name="Text 2"/>
          <p:cNvSpPr/>
          <p:nvPr/>
        </p:nvSpPr>
        <p:spPr>
          <a:xfrm>
            <a:off x="457200" y="26060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CB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Outdoor Survival &amp; Adventure Camp</a:t>
            </a:r>
            <a:endParaRPr lang="en-US" sz="1600" dirty="0"/>
          </a:p>
        </p:txBody>
      </p:sp>
      <p:sp>
        <p:nvSpPr>
          <p:cNvPr id="10" name="Shape 3"/>
          <p:cNvSpPr/>
          <p:nvPr/>
        </p:nvSpPr>
        <p:spPr>
          <a:xfrm>
            <a:off x="2743200" y="3291840"/>
            <a:ext cx="3657600" cy="731520"/>
          </a:xfrm>
          <a:prstGeom prst="roundRect">
            <a:avLst>
              <a:gd name="adj" fmla="val 18750"/>
            </a:avLst>
          </a:prstGeom>
          <a:solidFill>
            <a:srgbClr val="2C5F2D"/>
          </a:solidFill>
          <a:ln/>
        </p:spPr>
      </p:sp>
      <p:sp>
        <p:nvSpPr>
          <p:cNvPr id="11" name="Text 4"/>
          <p:cNvSpPr/>
          <p:nvPr/>
        </p:nvSpPr>
        <p:spPr>
          <a:xfrm>
            <a:off x="2743200" y="32918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DAY 1  ·  认识自然与安全规则</a:t>
            </a:r>
            <a:endParaRPr lang="en-US" sz="1800" dirty="0"/>
          </a:p>
        </p:txBody>
      </p:sp>
      <p:sp>
        <p:nvSpPr>
          <p:cNvPr id="12" name="Text 5"/>
          <p:cNvSpPr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2A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今天，我是小小探险家！🧭</a:t>
            </a:r>
            <a:endParaRPr lang="en-US" sz="1600" dirty="0"/>
          </a:p>
        </p:txBody>
      </p:sp>
      <p:sp>
        <p:nvSpPr>
          <p:cNvPr id="13" name="Text 6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 ·  6/15 – 6/19</a:t>
            </a:r>
            <a:endParaRPr lang="en-US" sz="1200" dirty="0"/>
          </a:p>
        </p:txBody>
      </p:sp>
      <p:sp>
        <p:nvSpPr>
          <p:cNvPr id="14" name="Shape 7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7CB342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8B6F4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🙋 你去过这些地方吗？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举手告诉大家！Have you been to...?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196596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691640"/>
            <a:ext cx="1965960" cy="54864"/>
          </a:xfrm>
          <a:prstGeom prst="rect">
            <a:avLst/>
          </a:prstGeom>
          <a:solidFill>
            <a:srgbClr val="5A8F3C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92024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00000"/>
                </a:solidFill>
              </a:rPr>
              <a:t>🏞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548640" y="27432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公园 Park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32918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8F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🙋 举手！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606040" y="1691640"/>
            <a:ext cx="196596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606040" y="1691640"/>
            <a:ext cx="1965960" cy="54864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12" name="Text 10"/>
          <p:cNvSpPr/>
          <p:nvPr/>
        </p:nvSpPr>
        <p:spPr>
          <a:xfrm>
            <a:off x="2606040" y="192024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00000"/>
                </a:solidFill>
              </a:rPr>
              <a:t>🌲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2697480" y="27432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 Forest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697480" y="32918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🙋 举手！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4880" y="1691640"/>
            <a:ext cx="196596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54880" y="1691640"/>
            <a:ext cx="1965960" cy="54864"/>
          </a:xfrm>
          <a:prstGeom prst="rect">
            <a:avLst/>
          </a:prstGeom>
          <a:solidFill>
            <a:srgbClr val="8B6F47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192024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00000"/>
                </a:solidFill>
              </a:rPr>
              <a:t>🏕</a:t>
            </a:r>
            <a:endParaRPr lang="en-US" sz="4800" dirty="0"/>
          </a:p>
        </p:txBody>
      </p:sp>
      <p:sp>
        <p:nvSpPr>
          <p:cNvPr id="18" name="Text 16"/>
          <p:cNvSpPr/>
          <p:nvPr/>
        </p:nvSpPr>
        <p:spPr>
          <a:xfrm>
            <a:off x="4846320" y="27432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露营 Camping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846320" y="32918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6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🙋 举手！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903720" y="1691640"/>
            <a:ext cx="196596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903720" y="1691640"/>
            <a:ext cx="1965960" cy="54864"/>
          </a:xfrm>
          <a:prstGeom prst="rect">
            <a:avLst/>
          </a:prstGeom>
          <a:solidFill>
            <a:srgbClr val="6D4C2C"/>
          </a:solidFill>
          <a:ln/>
        </p:spPr>
      </p:sp>
      <p:sp>
        <p:nvSpPr>
          <p:cNvPr id="22" name="Text 20"/>
          <p:cNvSpPr/>
          <p:nvPr/>
        </p:nvSpPr>
        <p:spPr>
          <a:xfrm>
            <a:off x="6903720" y="192024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00000"/>
                </a:solidFill>
              </a:rPr>
              <a:t>🐿</a:t>
            </a:r>
            <a:endParaRPr lang="en-US" sz="4800" dirty="0"/>
          </a:p>
        </p:txBody>
      </p:sp>
      <p:sp>
        <p:nvSpPr>
          <p:cNvPr id="23" name="Text 21"/>
          <p:cNvSpPr/>
          <p:nvPr/>
        </p:nvSpPr>
        <p:spPr>
          <a:xfrm>
            <a:off x="6995160" y="27432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见过野生动物？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995160" y="32918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D4C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🙋 举手！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14400" y="4297680"/>
            <a:ext cx="7315200" cy="594360"/>
          </a:xfrm>
          <a:prstGeom prst="roundRect">
            <a:avLst>
              <a:gd name="adj" fmla="val 15385"/>
            </a:avLst>
          </a:prstGeom>
          <a:solidFill>
            <a:srgbClr val="8B6F47">
              <a:alpha val="10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429768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B6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💬 请3-4个小朋友分享他们的经历！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🌍 什么是「野外」？What is Outdoors?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88720"/>
            <a:ext cx="3931920" cy="45720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野外 = 大自然的地方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1783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🌳 森林 Forest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560320" y="1783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⛰ 山 Mountain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2402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🌊 湖/海 Water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560320" y="22402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🏖 海边 Beach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0" y="1188720"/>
            <a:ext cx="3931920" cy="457200"/>
          </a:xfrm>
          <a:prstGeom prst="rect">
            <a:avLst/>
          </a:prstGeom>
          <a:solidFill>
            <a:srgbClr val="F2A93B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1234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🎮 判断游戏：是不是野外？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892040" y="171907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EEEEEE"/>
          </a:solidFill>
          <a:ln/>
        </p:spPr>
      </p:sp>
      <p:sp>
        <p:nvSpPr>
          <p:cNvPr id="15" name="Text 13"/>
          <p:cNvSpPr/>
          <p:nvPr/>
        </p:nvSpPr>
        <p:spPr>
          <a:xfrm>
            <a:off x="4892040" y="171907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超市  ❓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72200" y="171907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EEEEEE"/>
          </a:solidFill>
          <a:ln/>
        </p:spPr>
      </p:sp>
      <p:sp>
        <p:nvSpPr>
          <p:cNvPr id="17" name="Text 15"/>
          <p:cNvSpPr/>
          <p:nvPr/>
        </p:nvSpPr>
        <p:spPr>
          <a:xfrm>
            <a:off x="6172200" y="171907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沙滩  ❓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452360" y="171907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EEEEEE"/>
          </a:solidFill>
          <a:ln/>
        </p:spPr>
      </p:sp>
      <p:sp>
        <p:nvSpPr>
          <p:cNvPr id="19" name="Text 17"/>
          <p:cNvSpPr/>
          <p:nvPr/>
        </p:nvSpPr>
        <p:spPr>
          <a:xfrm>
            <a:off x="7452360" y="171907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  ❓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892040" y="222199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EEEEEE"/>
          </a:solidFill>
          <a:ln/>
        </p:spPr>
      </p:sp>
      <p:sp>
        <p:nvSpPr>
          <p:cNvPr id="21" name="Text 19"/>
          <p:cNvSpPr/>
          <p:nvPr/>
        </p:nvSpPr>
        <p:spPr>
          <a:xfrm>
            <a:off x="4892040" y="222199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  ❓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172200" y="222199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EEEEEE"/>
          </a:solidFill>
          <a:ln/>
        </p:spPr>
      </p:sp>
      <p:sp>
        <p:nvSpPr>
          <p:cNvPr id="23" name="Text 21"/>
          <p:cNvSpPr/>
          <p:nvPr/>
        </p:nvSpPr>
        <p:spPr>
          <a:xfrm>
            <a:off x="6172200" y="222199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停车场  ❓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452360" y="222199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EEEEEE"/>
          </a:solidFill>
          <a:ln/>
        </p:spPr>
      </p:sp>
      <p:sp>
        <p:nvSpPr>
          <p:cNvPr id="25" name="Text 23"/>
          <p:cNvSpPr/>
          <p:nvPr/>
        </p:nvSpPr>
        <p:spPr>
          <a:xfrm>
            <a:off x="7452360" y="222199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小溪  ❓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57200" y="301752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2A93B">
              <a:alpha val="15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3063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6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🤔 大家举手投票！你觉得是野外的请举手！→ 下一页揭晓答案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3657600"/>
            <a:ext cx="822960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57200" y="3657600"/>
            <a:ext cx="8229600" cy="411480"/>
          </a:xfrm>
          <a:prstGeom prst="rect">
            <a:avLst/>
          </a:prstGeom>
          <a:solidFill>
            <a:srgbClr val="5A8F3C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3685032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🔍 野外里面有什么？有没有危险？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40080" y="41605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🌳 植物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40080" y="446227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94F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有些可能有毒！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651760" y="41605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🐾 动物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2651760" y="446227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94F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不要靠近触摸！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663440" y="41605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💧 水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663440" y="446227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94F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可能很深很急！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675120" y="41605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🌤 天气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675120" y="446227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94F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可能突然变化！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答案揭晓！是不是野外？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256032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280160"/>
            <a:ext cx="2560320" cy="54864"/>
          </a:xfrm>
          <a:prstGeom prst="rect">
            <a:avLst/>
          </a:prstGeom>
          <a:solidFill>
            <a:srgbClr val="D94F4F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4173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超市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2194560" y="1463040"/>
            <a:ext cx="914400" cy="320040"/>
          </a:xfrm>
          <a:prstGeom prst="roundRect">
            <a:avLst>
              <a:gd name="adj" fmla="val 22857"/>
            </a:avLst>
          </a:prstGeom>
          <a:solidFill>
            <a:srgbClr val="D94F4F"/>
          </a:solidFill>
          <a:ln/>
        </p:spPr>
      </p:sp>
      <p:sp>
        <p:nvSpPr>
          <p:cNvPr id="8" name="Text 6"/>
          <p:cNvSpPr/>
          <p:nvPr/>
        </p:nvSpPr>
        <p:spPr>
          <a:xfrm>
            <a:off x="2194560" y="14630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不是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1965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人造的室内场所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566160" y="1280160"/>
            <a:ext cx="256032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66160" y="1280160"/>
            <a:ext cx="2560320" cy="54864"/>
          </a:xfrm>
          <a:prstGeom prst="rect">
            <a:avLst/>
          </a:prstGeom>
          <a:solidFill>
            <a:srgbClr val="5A8F3C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0" y="14173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沙滩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029200" y="1463040"/>
            <a:ext cx="914400" cy="320040"/>
          </a:xfrm>
          <a:prstGeom prst="roundRect">
            <a:avLst>
              <a:gd name="adj" fmla="val 22857"/>
            </a:avLst>
          </a:prstGeom>
          <a:solidFill>
            <a:srgbClr val="5A8F3C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0" y="14630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是!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0" y="1965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大自然的海边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1280160"/>
            <a:ext cx="256032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0" y="1280160"/>
            <a:ext cx="2560320" cy="54864"/>
          </a:xfrm>
          <a:prstGeom prst="rect">
            <a:avLst/>
          </a:prstGeom>
          <a:solidFill>
            <a:srgbClr val="D94F4F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0" y="14173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7863840" y="1463040"/>
            <a:ext cx="914400" cy="320040"/>
          </a:xfrm>
          <a:prstGeom prst="roundRect">
            <a:avLst>
              <a:gd name="adj" fmla="val 22857"/>
            </a:avLst>
          </a:prstGeom>
          <a:solidFill>
            <a:srgbClr val="D94F4F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0" y="14630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不是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965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人造的建筑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31520" y="2834640"/>
            <a:ext cx="256032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31520" y="2834640"/>
            <a:ext cx="2560320" cy="54864"/>
          </a:xfrm>
          <a:prstGeom prst="rect">
            <a:avLst/>
          </a:prstGeom>
          <a:solidFill>
            <a:srgbClr val="5A8F3C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29718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2194560" y="3017520"/>
            <a:ext cx="914400" cy="320040"/>
          </a:xfrm>
          <a:prstGeom prst="roundRect">
            <a:avLst>
              <a:gd name="adj" fmla="val 22857"/>
            </a:avLst>
          </a:prstGeom>
          <a:solidFill>
            <a:srgbClr val="5A8F3C"/>
          </a:solidFill>
          <a:ln/>
        </p:spPr>
      </p:sp>
      <p:sp>
        <p:nvSpPr>
          <p:cNvPr id="26" name="Text 24"/>
          <p:cNvSpPr/>
          <p:nvPr/>
        </p:nvSpPr>
        <p:spPr>
          <a:xfrm>
            <a:off x="2194560" y="30175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是!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22960" y="35204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大自然的树林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566160" y="2834640"/>
            <a:ext cx="256032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566160" y="2834640"/>
            <a:ext cx="2560320" cy="54864"/>
          </a:xfrm>
          <a:prstGeom prst="rect">
            <a:avLst/>
          </a:prstGeom>
          <a:solidFill>
            <a:srgbClr val="D94F4F"/>
          </a:solidFill>
          <a:ln/>
        </p:spPr>
      </p:sp>
      <p:sp>
        <p:nvSpPr>
          <p:cNvPr id="30" name="Text 28"/>
          <p:cNvSpPr/>
          <p:nvPr/>
        </p:nvSpPr>
        <p:spPr>
          <a:xfrm>
            <a:off x="3657600" y="29718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停车场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5029200" y="3017520"/>
            <a:ext cx="914400" cy="320040"/>
          </a:xfrm>
          <a:prstGeom prst="roundRect">
            <a:avLst>
              <a:gd name="adj" fmla="val 22857"/>
            </a:avLst>
          </a:prstGeom>
          <a:solidFill>
            <a:srgbClr val="D94F4F"/>
          </a:solidFill>
          <a:ln/>
        </p:spPr>
      </p:sp>
      <p:sp>
        <p:nvSpPr>
          <p:cNvPr id="32" name="Text 30"/>
          <p:cNvSpPr/>
          <p:nvPr/>
        </p:nvSpPr>
        <p:spPr>
          <a:xfrm>
            <a:off x="5029200" y="30175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不是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657600" y="35204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人造的水泥地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400800" y="2834640"/>
            <a:ext cx="256032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00800" y="2834640"/>
            <a:ext cx="2560320" cy="54864"/>
          </a:xfrm>
          <a:prstGeom prst="rect">
            <a:avLst/>
          </a:prstGeom>
          <a:solidFill>
            <a:srgbClr val="5A8F3C"/>
          </a:solidFill>
          <a:ln/>
        </p:spPr>
      </p:sp>
      <p:sp>
        <p:nvSpPr>
          <p:cNvPr id="36" name="Text 34"/>
          <p:cNvSpPr/>
          <p:nvPr/>
        </p:nvSpPr>
        <p:spPr>
          <a:xfrm>
            <a:off x="6492240" y="29718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小溪</a:t>
            </a:r>
            <a:endParaRPr lang="en-US" sz="2000" dirty="0"/>
          </a:p>
        </p:txBody>
      </p:sp>
      <p:sp>
        <p:nvSpPr>
          <p:cNvPr id="37" name="Shape 35"/>
          <p:cNvSpPr/>
          <p:nvPr/>
        </p:nvSpPr>
        <p:spPr>
          <a:xfrm>
            <a:off x="7863840" y="3017520"/>
            <a:ext cx="914400" cy="320040"/>
          </a:xfrm>
          <a:prstGeom prst="roundRect">
            <a:avLst>
              <a:gd name="adj" fmla="val 22857"/>
            </a:avLst>
          </a:prstGeom>
          <a:solidFill>
            <a:srgbClr val="5A8F3C"/>
          </a:solidFill>
          <a:ln/>
        </p:spPr>
      </p:sp>
      <p:sp>
        <p:nvSpPr>
          <p:cNvPr id="38" name="Text 36"/>
          <p:cNvSpPr/>
          <p:nvPr/>
        </p:nvSpPr>
        <p:spPr>
          <a:xfrm>
            <a:off x="7863840" y="30175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是!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492240" y="35204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大自然的水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914400" y="4480560"/>
            <a:ext cx="7315200" cy="457200"/>
          </a:xfrm>
          <a:prstGeom prst="roundRect">
            <a:avLst>
              <a:gd name="adj" fmla="val 20000"/>
            </a:avLst>
          </a:prstGeom>
          <a:solidFill>
            <a:srgbClr val="2C5F2D">
              <a:alpha val="10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1097280" y="45262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野外 = 大自然的地方，不是人造的！你都答对了吗？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3A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2A93B"/>
          </a:solidFill>
          <a:ln/>
        </p:spPr>
      </p:sp>
      <p:sp>
        <p:nvSpPr>
          <p:cNvPr id="3" name="Text 1"/>
          <p:cNvSpPr/>
          <p:nvPr/>
        </p:nvSpPr>
        <p:spPr>
          <a:xfrm>
            <a:off x="3931920" y="18288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dirty="0">
                <a:solidFill>
                  <a:srgbClr val="000000"/>
                </a:solidFill>
              </a:rPr>
              <a:t>⭐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探险家三条黄金规则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CB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Explorer's 3 Golden Rules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2011680"/>
            <a:ext cx="7680960" cy="822960"/>
          </a:xfrm>
          <a:prstGeom prst="roundRect">
            <a:avLst>
              <a:gd name="adj" fmla="val 13333"/>
            </a:avLst>
          </a:prstGeom>
          <a:solidFill>
            <a:srgbClr val="2A3A2A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121408"/>
            <a:ext cx="594360" cy="594360"/>
          </a:xfrm>
          <a:prstGeom prst="ellipse">
            <a:avLst/>
          </a:prstGeom>
          <a:solidFill>
            <a:srgbClr val="3E8ED0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12140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45920" y="20574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👫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377440" y="20848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不离开队伍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377440" y="2423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8E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Together!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0" y="2176272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3E8ED0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0" y="217627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动作: 抱一抱！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2971800"/>
            <a:ext cx="7680960" cy="822960"/>
          </a:xfrm>
          <a:prstGeom prst="roundRect">
            <a:avLst>
              <a:gd name="adj" fmla="val 13333"/>
            </a:avLst>
          </a:prstGeom>
          <a:solidFill>
            <a:srgbClr val="2A3A2A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3081528"/>
            <a:ext cx="594360" cy="594360"/>
          </a:xfrm>
          <a:prstGeom prst="ellipse">
            <a:avLst/>
          </a:prstGeom>
          <a:solidFill>
            <a:srgbClr val="D94F4F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08152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45920" y="3017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✋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2377440" y="30449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不乱摸不认识的东西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2377440" y="3383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4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Touch!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0" y="3136392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D94F4F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0" y="313639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动作: 双手背后！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31520" y="3931920"/>
            <a:ext cx="7680960" cy="822960"/>
          </a:xfrm>
          <a:prstGeom prst="roundRect">
            <a:avLst>
              <a:gd name="adj" fmla="val 13333"/>
            </a:avLst>
          </a:prstGeom>
          <a:solidFill>
            <a:srgbClr val="2A3A2A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14400" y="4041648"/>
            <a:ext cx="594360" cy="594360"/>
          </a:xfrm>
          <a:prstGeom prst="ellipse">
            <a:avLst/>
          </a:prstGeom>
          <a:solidFill>
            <a:srgbClr val="5A8F3C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404164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1645920" y="39776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🙋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2377440" y="400507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有问题找大人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2377440" y="4343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8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Help!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0" y="4096512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5A8F3C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0" y="409651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动作: 举手！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F2A93B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5A8F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🎬 一起做动作！然后开始探险！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69748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88720"/>
            <a:ext cx="2697480" cy="411480"/>
          </a:xfrm>
          <a:prstGeom prst="rect">
            <a:avLst/>
          </a:prstGeom>
          <a:solidFill>
            <a:srgbClr val="3E8ED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23444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Together!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69164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🤗 抱一抱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2194560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不离开队伍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37560" y="1188720"/>
            <a:ext cx="269748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37560" y="1188720"/>
            <a:ext cx="2697480" cy="411480"/>
          </a:xfrm>
          <a:prstGeom prst="rect">
            <a:avLst/>
          </a:prstGeom>
          <a:solidFill>
            <a:srgbClr val="D94F4F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23444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Touch!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169164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🙅 双手背后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429000" y="2194560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不乱摸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1188720"/>
            <a:ext cx="269748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17920" y="1188720"/>
            <a:ext cx="2697480" cy="411480"/>
          </a:xfrm>
          <a:prstGeom prst="rect">
            <a:avLst/>
          </a:prstGeom>
          <a:solidFill>
            <a:srgbClr val="5A8F3C"/>
          </a:solidFill>
          <a:ln/>
        </p:spPr>
      </p:sp>
      <p:sp>
        <p:nvSpPr>
          <p:cNvPr id="16" name="Text 14"/>
          <p:cNvSpPr/>
          <p:nvPr/>
        </p:nvSpPr>
        <p:spPr>
          <a:xfrm>
            <a:off x="6309360" y="123444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Help!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09360" y="169164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🙋 举手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309360" y="2194560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找大人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2697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全班一起做3遍！1…2…3！🎉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371600" y="3200400"/>
            <a:ext cx="6400800" cy="1645920"/>
          </a:xfrm>
          <a:prstGeom prst="roundRect">
            <a:avLst>
              <a:gd name="adj" fmla="val 8333"/>
            </a:avLst>
          </a:prstGeom>
          <a:solidFill>
            <a:srgbClr val="1E3A1E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554480" y="329184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🗺️ 规则学完啦！现在出发探险！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554480" y="37490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2A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我们要经过4个不同的地方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2A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每个地方都有挑战等着你！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554480" y="434340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CB3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🌲 森林  →  🏞️ 河边  →  ⛰️ 山坡  →  ⛈️ 暴风雨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201168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FFFFF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01168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 1/4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737360" y="13716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🌲 深林小径 Forest Trail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2C5F2D">
              <a:alpha val="8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2801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📖 故事: </a:t>
            </a:r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你走在森林小路上，突然听到树丛沙沙声……你看到了——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6916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4F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一只浣熊 🦝 正在翻你的背包！旁边还有一个蜂巢 🐝 挂在树上！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2240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🤔 你会怎么做？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57200" y="2743200"/>
            <a:ext cx="269748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417320" y="2880360"/>
            <a:ext cx="594360" cy="594360"/>
          </a:xfrm>
          <a:prstGeom prst="ellipse">
            <a:avLst/>
          </a:prstGeom>
          <a:solidFill>
            <a:srgbClr val="EEEEEE"/>
          </a:solidFill>
          <a:ln/>
        </p:spPr>
      </p:sp>
      <p:sp>
        <p:nvSpPr>
          <p:cNvPr id="12" name="Text 10"/>
          <p:cNvSpPr/>
          <p:nvPr/>
        </p:nvSpPr>
        <p:spPr>
          <a:xfrm>
            <a:off x="1417320" y="28803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57200" y="352044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🏃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594360" y="388620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跑过去赶走浣熊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把背包抢回来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337560" y="2743200"/>
            <a:ext cx="269748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297680" y="2880360"/>
            <a:ext cx="594360" cy="594360"/>
          </a:xfrm>
          <a:prstGeom prst="ellipse">
            <a:avLst/>
          </a:prstGeom>
          <a:solidFill>
            <a:srgbClr val="EEEEEE"/>
          </a:solidFill>
          <a:ln/>
        </p:spPr>
      </p:sp>
      <p:sp>
        <p:nvSpPr>
          <p:cNvPr id="17" name="Text 15"/>
          <p:cNvSpPr/>
          <p:nvPr/>
        </p:nvSpPr>
        <p:spPr>
          <a:xfrm>
            <a:off x="4297680" y="28803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337560" y="352044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🚶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3474720" y="388620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慢慢后退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告诉大人/队长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17920" y="2743200"/>
            <a:ext cx="269748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178040" y="2880360"/>
            <a:ext cx="594360" cy="594360"/>
          </a:xfrm>
          <a:prstGeom prst="ellipse">
            <a:avLst/>
          </a:prstGeom>
          <a:solidFill>
            <a:srgbClr val="EEEEEE"/>
          </a:solidFill>
          <a:ln/>
        </p:spPr>
      </p:sp>
      <p:sp>
        <p:nvSpPr>
          <p:cNvPr id="22" name="Text 20"/>
          <p:cNvSpPr/>
          <p:nvPr/>
        </p:nvSpPr>
        <p:spPr>
          <a:xfrm>
            <a:off x="7178040" y="28803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217920" y="352044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🪨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6355080" y="388620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用石头扔蜂巢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把蜜蜂赶走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❓ 大家选好了吗？下一页揭晓答案！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C5F2D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716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91440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答案: B ✅ 为什么要慢慢后退？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457200" y="960120"/>
            <a:ext cx="82296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457200" y="960120"/>
            <a:ext cx="64008" cy="822960"/>
          </a:xfrm>
          <a:prstGeom prst="rect">
            <a:avLst/>
          </a:prstGeom>
          <a:solidFill>
            <a:srgbClr val="D94F4F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0058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🦝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280160" y="1005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浣熊可能会咬人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0" y="100584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浣熊有锋利的牙齿和爪子。跑过去它会觉得你在攻击它，就会咬你！浣熊还可能携带狂犬病(rabies)。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1920240"/>
            <a:ext cx="82296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7200" y="1920240"/>
            <a:ext cx="64008" cy="822960"/>
          </a:xfrm>
          <a:prstGeom prst="rect">
            <a:avLst/>
          </a:prstGeom>
          <a:solidFill>
            <a:srgbClr val="F2A93B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19659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🐝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1280160" y="1965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蜂巢千万不能碰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0" y="19659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一个蜂巢里有成千上万只蜜蜂！扔石头碰到蜂巢，所有蜜蜂都会飞出来蛰你。有些人还会严重过敏！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2880360"/>
            <a:ext cx="82296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57200" y="2880360"/>
            <a:ext cx="64008" cy="822960"/>
          </a:xfrm>
          <a:prstGeom prst="rect">
            <a:avLst/>
          </a:prstGeom>
          <a:solidFill>
            <a:srgbClr val="5A8F3C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9260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🚶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1280160" y="2926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慢慢后退最安全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572000" y="2926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大多数动物只是在找食物，不会主动攻击人。慢慢走开，它不会觉得你危险。跑步反而会让它们追你！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3840480"/>
            <a:ext cx="82296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57200" y="3840480"/>
            <a:ext cx="64008" cy="822960"/>
          </a:xfrm>
          <a:prstGeom prst="rect">
            <a:avLst/>
          </a:prstGeom>
          <a:solidFill>
            <a:srgbClr val="3E8ED0"/>
          </a:solidFill>
          <a:ln/>
        </p:spPr>
      </p:sp>
      <p:sp>
        <p:nvSpPr>
          <p:cNvPr id="22" name="Text 19"/>
          <p:cNvSpPr/>
          <p:nvPr/>
        </p:nvSpPr>
        <p:spPr>
          <a:xfrm>
            <a:off x="640080" y="38862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🗣️</a:t>
            </a:r>
            <a:endParaRPr lang="en-US" sz="2400" dirty="0"/>
          </a:p>
        </p:txBody>
      </p:sp>
      <p:sp>
        <p:nvSpPr>
          <p:cNvPr id="23" name="Text 20"/>
          <p:cNvSpPr/>
          <p:nvPr/>
        </p:nvSpPr>
        <p:spPr>
          <a:xfrm>
            <a:off x="1280160" y="38862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告诉大人是关键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572000" y="3886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大人有经验处理，比如用声音吓跑浣熊，或联系公园管理员来处理蜂巢。自己处理很容易受伤！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C5F2D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716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91440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🌲 森林小测验 Forest Quiz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457200" y="960120"/>
            <a:ext cx="8229600" cy="8961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457200" y="960120"/>
            <a:ext cx="64008" cy="896112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7" name="Shape 4"/>
          <p:cNvSpPr/>
          <p:nvPr/>
        </p:nvSpPr>
        <p:spPr>
          <a:xfrm>
            <a:off x="731520" y="1106424"/>
            <a:ext cx="502920" cy="50292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11064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417320" y="10332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在森林里走路时，看到一只小鹿宝宝独自在路边，你应该？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417320" y="141732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A) 把它抱回家    B) 走过去摸它    C) 不碰它，远远绕开走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57200" y="1984248"/>
            <a:ext cx="8229600" cy="8961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7200" y="1984248"/>
            <a:ext cx="64008" cy="896112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13" name="Shape 10"/>
          <p:cNvSpPr/>
          <p:nvPr/>
        </p:nvSpPr>
        <p:spPr>
          <a:xfrm>
            <a:off x="731520" y="2130552"/>
            <a:ext cx="502920" cy="50292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4" name="Text 11"/>
          <p:cNvSpPr/>
          <p:nvPr/>
        </p:nvSpPr>
        <p:spPr>
          <a:xfrm>
            <a:off x="731520" y="21305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417320" y="20574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在树林里迷路了，你应该？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417320" y="2441448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A) 到处乱跑找路    B) 停下来，待在原地，大声呼救    C) 爬到树上去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57200" y="3008376"/>
            <a:ext cx="8229600" cy="8961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57200" y="3008376"/>
            <a:ext cx="64008" cy="896112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19" name="Shape 16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0" name="Text 17"/>
          <p:cNvSpPr/>
          <p:nvPr/>
        </p:nvSpPr>
        <p:spPr>
          <a:xfrm>
            <a:off x="731520" y="3154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1417320" y="308152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走在小路上，听到身后有动物的脚步声，你应该？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1417320" y="3465576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A) 拼命跑    B) 停下来，慢慢转身看，不要突然动    C) 躺在地上装死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57200" y="4032504"/>
            <a:ext cx="8229600" cy="8961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57200" y="4032504"/>
            <a:ext cx="64008" cy="896112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25" name="Shape 22"/>
          <p:cNvSpPr/>
          <p:nvPr/>
        </p:nvSpPr>
        <p:spPr>
          <a:xfrm>
            <a:off x="731520" y="4178808"/>
            <a:ext cx="502920" cy="50292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6" name="Text 23"/>
          <p:cNvSpPr/>
          <p:nvPr/>
        </p:nvSpPr>
        <p:spPr>
          <a:xfrm>
            <a:off x="731520" y="41788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1417320" y="410565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下面哪个是在森林里正确的做法？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1417320" y="4489704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A) 保持安静不出声    B) 边走边说话/唱歌    C) 一个人跑到前面探路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🤔 大家选好了吗？翻到下一页看答案！→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C5F2D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716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91440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🌲 森林答案揭晓！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457200" y="960120"/>
            <a:ext cx="8229600" cy="8961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457200" y="960120"/>
            <a:ext cx="64008" cy="896112"/>
          </a:xfrm>
          <a:prstGeom prst="rect">
            <a:avLst/>
          </a:prstGeom>
          <a:solidFill>
            <a:srgbClr val="5A8F3C"/>
          </a:solidFill>
          <a:ln/>
        </p:spPr>
      </p:sp>
      <p:sp>
        <p:nvSpPr>
          <p:cNvPr id="7" name="Shape 4"/>
          <p:cNvSpPr/>
          <p:nvPr/>
        </p:nvSpPr>
        <p:spPr>
          <a:xfrm>
            <a:off x="731520" y="1106424"/>
            <a:ext cx="502920" cy="502920"/>
          </a:xfrm>
          <a:prstGeom prst="ellipse">
            <a:avLst/>
          </a:prstGeom>
          <a:solidFill>
            <a:srgbClr val="5A8F3C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11064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417320" y="10058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8F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C) 不碰它，远远绕开走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417320" y="132588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鹿妈妈可能就在附近！碰了小鹿，鹿妈妈闻到人的味道可能会抛弃它。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1984248"/>
            <a:ext cx="8229600" cy="8961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7200" y="1984248"/>
            <a:ext cx="64008" cy="896112"/>
          </a:xfrm>
          <a:prstGeom prst="rect">
            <a:avLst/>
          </a:prstGeom>
          <a:solidFill>
            <a:srgbClr val="5A8F3C"/>
          </a:solidFill>
          <a:ln/>
        </p:spPr>
      </p:sp>
      <p:sp>
        <p:nvSpPr>
          <p:cNvPr id="13" name="Shape 10"/>
          <p:cNvSpPr/>
          <p:nvPr/>
        </p:nvSpPr>
        <p:spPr>
          <a:xfrm>
            <a:off x="731520" y="2130552"/>
            <a:ext cx="502920" cy="502920"/>
          </a:xfrm>
          <a:prstGeom prst="ellipse">
            <a:avLst/>
          </a:prstGeom>
          <a:solidFill>
            <a:srgbClr val="5A8F3C"/>
          </a:solidFill>
          <a:ln/>
        </p:spPr>
      </p:sp>
      <p:sp>
        <p:nvSpPr>
          <p:cNvPr id="14" name="Text 11"/>
          <p:cNvSpPr/>
          <p:nvPr/>
        </p:nvSpPr>
        <p:spPr>
          <a:xfrm>
            <a:off x="731520" y="21305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417320" y="2029968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8F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B) 停下来，待在原地，大声呼救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417320" y="2350008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Hug-a-Tree法则：停下来→找一棵树→待在原地→吹哨子/大声喊→等大人来找你。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3008376"/>
            <a:ext cx="8229600" cy="8961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57200" y="3008376"/>
            <a:ext cx="64008" cy="896112"/>
          </a:xfrm>
          <a:prstGeom prst="rect">
            <a:avLst/>
          </a:prstGeom>
          <a:solidFill>
            <a:srgbClr val="5A8F3C"/>
          </a:solidFill>
          <a:ln/>
        </p:spPr>
      </p:sp>
      <p:sp>
        <p:nvSpPr>
          <p:cNvPr id="19" name="Shape 16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rgbClr val="5A8F3C"/>
          </a:solidFill>
          <a:ln/>
        </p:spPr>
      </p:sp>
      <p:sp>
        <p:nvSpPr>
          <p:cNvPr id="20" name="Text 17"/>
          <p:cNvSpPr/>
          <p:nvPr/>
        </p:nvSpPr>
        <p:spPr>
          <a:xfrm>
            <a:off x="731520" y="3154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1417320" y="3054096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8F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B) 停下来，慢慢转身看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1417320" y="3374136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跑步会触发动物的追逐本能！慢慢转身、让自己看起来很大、说话让动物知道你是人。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4032504"/>
            <a:ext cx="8229600" cy="8961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57200" y="4032504"/>
            <a:ext cx="64008" cy="896112"/>
          </a:xfrm>
          <a:prstGeom prst="rect">
            <a:avLst/>
          </a:prstGeom>
          <a:solidFill>
            <a:srgbClr val="5A8F3C"/>
          </a:solidFill>
          <a:ln/>
        </p:spPr>
      </p:sp>
      <p:sp>
        <p:nvSpPr>
          <p:cNvPr id="25" name="Shape 22"/>
          <p:cNvSpPr/>
          <p:nvPr/>
        </p:nvSpPr>
        <p:spPr>
          <a:xfrm>
            <a:off x="731520" y="4178808"/>
            <a:ext cx="502920" cy="502920"/>
          </a:xfrm>
          <a:prstGeom prst="ellipse">
            <a:avLst/>
          </a:prstGeom>
          <a:solidFill>
            <a:srgbClr val="5A8F3C"/>
          </a:solidFill>
          <a:ln/>
        </p:spPr>
      </p:sp>
      <p:sp>
        <p:nvSpPr>
          <p:cNvPr id="26" name="Text 23"/>
          <p:cNvSpPr/>
          <p:nvPr/>
        </p:nvSpPr>
        <p:spPr>
          <a:xfrm>
            <a:off x="731520" y="41788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1417320" y="4078224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8F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B) 边走边说话/唱歌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1417320" y="4398264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制造声音可以提前让动物知道你来了。大多数动物听到人声就会自己离开！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3A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C5F2D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716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91440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📺 推荐视频 Videos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课上播放片段帮助理解，或课后观看！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57200" y="1188720"/>
            <a:ext cx="8229600" cy="1097280"/>
          </a:xfrm>
          <a:prstGeom prst="rect">
            <a:avLst/>
          </a:prstGeom>
          <a:solidFill>
            <a:srgbClr val="2A3A2A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1188720"/>
            <a:ext cx="73152" cy="109728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1389888"/>
            <a:ext cx="640080" cy="64008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138988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▶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554480" y="12801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Hey Bears! Stay Safe in Bear Country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554480" y="160020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Alaska Dept. of Fish &amp; Game · 19 min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554480" y="18288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BBBB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由中学生主持，讲解如何避免熊、遇到熊怎么办、营地食物存储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675120" y="132588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4" name="Text 11"/>
          <p:cNvSpPr/>
          <p:nvPr/>
        </p:nvSpPr>
        <p:spPr>
          <a:xfrm>
            <a:off x="6675120" y="1325880"/>
            <a:ext cx="1828800" cy="7772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https://youtube.com/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watch?v=LIcMfCYRz0Q</a:t>
            </a:r>
            <a:endParaRPr lang="en-US" sz="750" dirty="0"/>
          </a:p>
        </p:txBody>
      </p:sp>
      <p:sp>
        <p:nvSpPr>
          <p:cNvPr id="15" name="Shape 12"/>
          <p:cNvSpPr/>
          <p:nvPr/>
        </p:nvSpPr>
        <p:spPr>
          <a:xfrm>
            <a:off x="457200" y="2423160"/>
            <a:ext cx="8229600" cy="1097280"/>
          </a:xfrm>
          <a:prstGeom prst="rect">
            <a:avLst/>
          </a:prstGeom>
          <a:solidFill>
            <a:srgbClr val="2A3A2A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57200" y="2423160"/>
            <a:ext cx="73152" cy="1097280"/>
          </a:xfrm>
          <a:prstGeom prst="rect">
            <a:avLst/>
          </a:prstGeom>
          <a:solidFill>
            <a:srgbClr val="8B6F47"/>
          </a:solidFill>
          <a:ln/>
        </p:spPr>
      </p:sp>
      <p:sp>
        <p:nvSpPr>
          <p:cNvPr id="17" name="Shape 14"/>
          <p:cNvSpPr/>
          <p:nvPr/>
        </p:nvSpPr>
        <p:spPr>
          <a:xfrm>
            <a:off x="731520" y="2624328"/>
            <a:ext cx="640080" cy="640080"/>
          </a:xfrm>
          <a:prstGeom prst="ellipse">
            <a:avLst/>
          </a:prstGeom>
          <a:solidFill>
            <a:srgbClr val="8B6F47"/>
          </a:solidFill>
          <a:ln/>
        </p:spPr>
      </p:sp>
      <p:sp>
        <p:nvSpPr>
          <p:cNvPr id="18" name="Text 15"/>
          <p:cNvSpPr/>
          <p:nvPr/>
        </p:nvSpPr>
        <p:spPr>
          <a:xfrm>
            <a:off x="731520" y="26243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▶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554480" y="25146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Brave Wilderness 野外动物近距离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1554480" y="28346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 Wilderness · 多集 · 5-15 min/集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554480" y="30632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BBBB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近距离观察野生动物行为，适合理解动物习性（大孩子适用）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675120" y="256032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23" name="Text 20"/>
          <p:cNvSpPr/>
          <p:nvPr/>
        </p:nvSpPr>
        <p:spPr>
          <a:xfrm>
            <a:off x="6675120" y="2560320"/>
            <a:ext cx="1828800" cy="7772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https://youtube.com/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@BraveWilderness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457200" y="3657600"/>
            <a:ext cx="8229600" cy="1097280"/>
          </a:xfrm>
          <a:prstGeom prst="rect">
            <a:avLst/>
          </a:prstGeom>
          <a:solidFill>
            <a:srgbClr val="2A3A2A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57200" y="3657600"/>
            <a:ext cx="73152" cy="109728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26" name="Shape 23"/>
          <p:cNvSpPr/>
          <p:nvPr/>
        </p:nvSpPr>
        <p:spPr>
          <a:xfrm>
            <a:off x="731520" y="3858768"/>
            <a:ext cx="640080" cy="64008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27" name="Text 24"/>
          <p:cNvSpPr/>
          <p:nvPr/>
        </p:nvSpPr>
        <p:spPr>
          <a:xfrm>
            <a:off x="731520" y="38587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▶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1554480" y="37490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Nat Geo Kids: 野生动物知识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1554480" y="406908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Geographic Kids · 3-5 min/集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1554480" y="42976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BBBB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精美画面展示各种野生动物的生活习性和特征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675120" y="379476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32" name="Text 29"/>
          <p:cNvSpPr/>
          <p:nvPr/>
        </p:nvSpPr>
        <p:spPr>
          <a:xfrm>
            <a:off x="6675120" y="3794760"/>
            <a:ext cx="1828800" cy="7772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https://youtube.com/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@NatGeoKids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3E8ED0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201168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FFFFF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01168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 2/4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737360" y="13716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🏞️ 河边营地 Riverside Camp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3E8ED0">
              <a:alpha val="8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2801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8E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📖 故事: </a:t>
            </a:r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探险队来到河边休息。天气好热，河水看起来好清好凉！朋友小明说——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6916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4F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"我好渴！直接喝河里的水吧！" 💧  "我们去河里游泳吧！" 🏊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2240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🤔 小明说的对吗？你要告诉他什么？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57200" y="2743200"/>
            <a:ext cx="269748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743200"/>
            <a:ext cx="2697480" cy="502920"/>
          </a:xfrm>
          <a:prstGeom prst="rect">
            <a:avLst/>
          </a:prstGeom>
          <a:solidFill>
            <a:srgbClr val="D94F4F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78892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🚱 不能喝河水！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94360" y="3383280"/>
            <a:ext cx="2423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河水可能有细菌和寄生虫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看起来干净 ≠ 真的干净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只喝自己带的水！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337560" y="2743200"/>
            <a:ext cx="269748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337560" y="2743200"/>
            <a:ext cx="2697480" cy="502920"/>
          </a:xfrm>
          <a:prstGeom prst="rect">
            <a:avLst/>
          </a:prstGeom>
          <a:solidFill>
            <a:srgbClr val="D94F4F"/>
          </a:solidFill>
          <a:ln/>
        </p:spPr>
      </p:sp>
      <p:sp>
        <p:nvSpPr>
          <p:cNvPr id="16" name="Text 14"/>
          <p:cNvSpPr/>
          <p:nvPr/>
        </p:nvSpPr>
        <p:spPr>
          <a:xfrm>
            <a:off x="3429000" y="278892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🚫🏊 不能随便下水！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474720" y="3383280"/>
            <a:ext cx="2423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河水可能很深很急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水底可能有石头和水草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必须有大人陪同！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17920" y="2743200"/>
            <a:ext cx="269748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17920" y="2743200"/>
            <a:ext cx="2697480" cy="502920"/>
          </a:xfrm>
          <a:prstGeom prst="rect">
            <a:avLst/>
          </a:prstGeom>
          <a:solidFill>
            <a:srgbClr val="5A8F3C"/>
          </a:solidFill>
          <a:ln/>
        </p:spPr>
      </p:sp>
      <p:sp>
        <p:nvSpPr>
          <p:cNvPr id="20" name="Text 18"/>
          <p:cNvSpPr/>
          <p:nvPr/>
        </p:nvSpPr>
        <p:spPr>
          <a:xfrm>
            <a:off x="6309360" y="278892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正确做法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355080" y="3383280"/>
            <a:ext cx="2423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💧 喝自己水壶里的水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👀 在岸边观察小鱼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📏 离水边至少2步远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3E8ED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716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91440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水边为什么这么危险？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457200" y="960120"/>
            <a:ext cx="82296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457200" y="960120"/>
            <a:ext cx="64008" cy="822960"/>
          </a:xfrm>
          <a:prstGeom prst="rect">
            <a:avLst/>
          </a:prstGeom>
          <a:solidFill>
            <a:srgbClr val="D94F4F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0058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🦠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280160" y="1005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河水有看不见的细菌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0" y="100584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河水里有贾第虫(Giardia)等寄生虫，肉眼看不见。喝了会肚子疼、拉肚子好几天！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1920240"/>
            <a:ext cx="82296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7200" y="1920240"/>
            <a:ext cx="64008" cy="822960"/>
          </a:xfrm>
          <a:prstGeom prst="rect">
            <a:avLst/>
          </a:prstGeom>
          <a:solidFill>
            <a:srgbClr val="3E8ED0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19659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🌊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1280160" y="1965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水流比你想的更强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0" y="19659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6英寸(15cm)深的水就能冲倒小孩！水底石头很滑，水草会缠脚。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2880360"/>
            <a:ext cx="82296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57200" y="2880360"/>
            <a:ext cx="64008" cy="822960"/>
          </a:xfrm>
          <a:prstGeom prst="rect">
            <a:avLst/>
          </a:prstGeom>
          <a:solidFill>
            <a:srgbClr val="6D4C2C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9260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🕳️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1280160" y="29260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水底有看不见的危险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572000" y="2926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河水看不到底。可能有深坑、尖石、断树枝，都可能让你受伤或被困。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3840480"/>
            <a:ext cx="82296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57200" y="3840480"/>
            <a:ext cx="64008" cy="822960"/>
          </a:xfrm>
          <a:prstGeom prst="rect">
            <a:avLst/>
          </a:prstGeom>
          <a:solidFill>
            <a:srgbClr val="5A8F3C"/>
          </a:solidFill>
          <a:ln/>
        </p:spPr>
      </p:sp>
      <p:sp>
        <p:nvSpPr>
          <p:cNvPr id="22" name="Text 19"/>
          <p:cNvSpPr/>
          <p:nvPr/>
        </p:nvSpPr>
        <p:spPr>
          <a:xfrm>
            <a:off x="640080" y="38862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📏</a:t>
            </a:r>
            <a:endParaRPr lang="en-US" sz="2400" dirty="0"/>
          </a:p>
        </p:txBody>
      </p:sp>
      <p:sp>
        <p:nvSpPr>
          <p:cNvPr id="23" name="Text 20"/>
          <p:cNvSpPr/>
          <p:nvPr/>
        </p:nvSpPr>
        <p:spPr>
          <a:xfrm>
            <a:off x="1280160" y="38862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2步距离很重要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572000" y="3886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保持至少2步远(约1米)，即使滑倒也不会掉进水里。双脚一定踩在干地上！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3E8ED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716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91440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🏞️ 水边小测验 Water Quiz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457200" y="960120"/>
            <a:ext cx="8229600" cy="8961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457200" y="960120"/>
            <a:ext cx="64008" cy="896112"/>
          </a:xfrm>
          <a:prstGeom prst="rect">
            <a:avLst/>
          </a:prstGeom>
          <a:solidFill>
            <a:srgbClr val="3E8ED0"/>
          </a:solidFill>
          <a:ln/>
        </p:spPr>
      </p:sp>
      <p:sp>
        <p:nvSpPr>
          <p:cNvPr id="7" name="Shape 4"/>
          <p:cNvSpPr/>
          <p:nvPr/>
        </p:nvSpPr>
        <p:spPr>
          <a:xfrm>
            <a:off x="731520" y="1106424"/>
            <a:ext cx="502920" cy="502920"/>
          </a:xfrm>
          <a:prstGeom prst="ellipse">
            <a:avLst/>
          </a:prstGeom>
          <a:solidFill>
            <a:srgbClr val="3E8ED0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11064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417320" y="10332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夏天很热，河边有个浅浅的水坑，可以踩进去玩吗？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417320" y="141732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A) 可以，很浅    B) 问大人，确认安全后可以    C) 随便玩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57200" y="1984248"/>
            <a:ext cx="8229600" cy="8961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7200" y="1984248"/>
            <a:ext cx="64008" cy="896112"/>
          </a:xfrm>
          <a:prstGeom prst="rect">
            <a:avLst/>
          </a:prstGeom>
          <a:solidFill>
            <a:srgbClr val="3E8ED0"/>
          </a:solidFill>
          <a:ln/>
        </p:spPr>
      </p:sp>
      <p:sp>
        <p:nvSpPr>
          <p:cNvPr id="13" name="Shape 10"/>
          <p:cNvSpPr/>
          <p:nvPr/>
        </p:nvSpPr>
        <p:spPr>
          <a:xfrm>
            <a:off x="731520" y="2130552"/>
            <a:ext cx="502920" cy="502920"/>
          </a:xfrm>
          <a:prstGeom prst="ellipse">
            <a:avLst/>
          </a:prstGeom>
          <a:solidFill>
            <a:srgbClr val="3E8ED0"/>
          </a:solidFill>
          <a:ln/>
        </p:spPr>
      </p:sp>
      <p:sp>
        <p:nvSpPr>
          <p:cNvPr id="14" name="Text 11"/>
          <p:cNvSpPr/>
          <p:nvPr/>
        </p:nvSpPr>
        <p:spPr>
          <a:xfrm>
            <a:off x="731520" y="21305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417320" y="20574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朋友的帽子被风吹到河里了，你应该？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417320" y="2441448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A) 跳进河里去捡    B) 用棍子够一够    C) 告诉大人来处理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57200" y="3008376"/>
            <a:ext cx="8229600" cy="8961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57200" y="3008376"/>
            <a:ext cx="64008" cy="896112"/>
          </a:xfrm>
          <a:prstGeom prst="rect">
            <a:avLst/>
          </a:prstGeom>
          <a:solidFill>
            <a:srgbClr val="3E8ED0"/>
          </a:solidFill>
          <a:ln/>
        </p:spPr>
      </p:sp>
      <p:sp>
        <p:nvSpPr>
          <p:cNvPr id="19" name="Shape 16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rgbClr val="3E8ED0"/>
          </a:solidFill>
          <a:ln/>
        </p:spPr>
      </p:sp>
      <p:sp>
        <p:nvSpPr>
          <p:cNvPr id="20" name="Text 17"/>
          <p:cNvSpPr/>
          <p:nvPr/>
        </p:nvSpPr>
        <p:spPr>
          <a:xfrm>
            <a:off x="731520" y="3154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1417320" y="308152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为什么不能喝看起来很干净的山泉水？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1417320" y="3465576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A) 太冰了    B) 可能有看不见的细菌和寄生虫    C) 味道不好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57200" y="4032504"/>
            <a:ext cx="8229600" cy="8961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57200" y="4032504"/>
            <a:ext cx="64008" cy="896112"/>
          </a:xfrm>
          <a:prstGeom prst="rect">
            <a:avLst/>
          </a:prstGeom>
          <a:solidFill>
            <a:srgbClr val="3E8ED0"/>
          </a:solidFill>
          <a:ln/>
        </p:spPr>
      </p:sp>
      <p:sp>
        <p:nvSpPr>
          <p:cNvPr id="25" name="Shape 22"/>
          <p:cNvSpPr/>
          <p:nvPr/>
        </p:nvSpPr>
        <p:spPr>
          <a:xfrm>
            <a:off x="731520" y="4178808"/>
            <a:ext cx="502920" cy="502920"/>
          </a:xfrm>
          <a:prstGeom prst="ellipse">
            <a:avLst/>
          </a:prstGeom>
          <a:solidFill>
            <a:srgbClr val="3E8ED0"/>
          </a:solidFill>
          <a:ln/>
        </p:spPr>
      </p:sp>
      <p:sp>
        <p:nvSpPr>
          <p:cNvPr id="26" name="Text 23"/>
          <p:cNvSpPr/>
          <p:nvPr/>
        </p:nvSpPr>
        <p:spPr>
          <a:xfrm>
            <a:off x="731520" y="41788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1417320" y="410565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在水边活动时，哪个装备最重要？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1417320" y="4489704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A) 太阳镜    B) 救生衣    C) 帽子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8E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🤔 大家选好了吗？翻到下一页看答案！→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9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3E8ED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716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91440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🏞️ 水边答案揭晓！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457200" y="960120"/>
            <a:ext cx="8229600" cy="8961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457200" y="960120"/>
            <a:ext cx="64008" cy="896112"/>
          </a:xfrm>
          <a:prstGeom prst="rect">
            <a:avLst/>
          </a:prstGeom>
          <a:solidFill>
            <a:srgbClr val="5A8F3C"/>
          </a:solidFill>
          <a:ln/>
        </p:spPr>
      </p:sp>
      <p:sp>
        <p:nvSpPr>
          <p:cNvPr id="7" name="Shape 4"/>
          <p:cNvSpPr/>
          <p:nvPr/>
        </p:nvSpPr>
        <p:spPr>
          <a:xfrm>
            <a:off x="731520" y="1106424"/>
            <a:ext cx="502920" cy="502920"/>
          </a:xfrm>
          <a:prstGeom prst="ellipse">
            <a:avLst/>
          </a:prstGeom>
          <a:solidFill>
            <a:srgbClr val="5A8F3C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11064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417320" y="10058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8F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B) 问大人，确认安全后可以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417320" y="132588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即使看起来很浅，也要先问大人！水坑底部可能很滑，边上可能有碎玻璃或尖石头。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1984248"/>
            <a:ext cx="8229600" cy="8961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7200" y="1984248"/>
            <a:ext cx="64008" cy="896112"/>
          </a:xfrm>
          <a:prstGeom prst="rect">
            <a:avLst/>
          </a:prstGeom>
          <a:solidFill>
            <a:srgbClr val="5A8F3C"/>
          </a:solidFill>
          <a:ln/>
        </p:spPr>
      </p:sp>
      <p:sp>
        <p:nvSpPr>
          <p:cNvPr id="13" name="Shape 10"/>
          <p:cNvSpPr/>
          <p:nvPr/>
        </p:nvSpPr>
        <p:spPr>
          <a:xfrm>
            <a:off x="731520" y="2130552"/>
            <a:ext cx="502920" cy="502920"/>
          </a:xfrm>
          <a:prstGeom prst="ellipse">
            <a:avLst/>
          </a:prstGeom>
          <a:solidFill>
            <a:srgbClr val="5A8F3C"/>
          </a:solidFill>
          <a:ln/>
        </p:spPr>
      </p:sp>
      <p:sp>
        <p:nvSpPr>
          <p:cNvPr id="14" name="Text 11"/>
          <p:cNvSpPr/>
          <p:nvPr/>
        </p:nvSpPr>
        <p:spPr>
          <a:xfrm>
            <a:off x="731520" y="21305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417320" y="2029968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8F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C) 告诉大人来处理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417320" y="2350008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一顶帽子不值得冒生命危险！大人有工具和经验来安全地把东西捞出来。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3008376"/>
            <a:ext cx="8229600" cy="8961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57200" y="3008376"/>
            <a:ext cx="64008" cy="896112"/>
          </a:xfrm>
          <a:prstGeom prst="rect">
            <a:avLst/>
          </a:prstGeom>
          <a:solidFill>
            <a:srgbClr val="5A8F3C"/>
          </a:solidFill>
          <a:ln/>
        </p:spPr>
      </p:sp>
      <p:sp>
        <p:nvSpPr>
          <p:cNvPr id="19" name="Shape 16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rgbClr val="5A8F3C"/>
          </a:solidFill>
          <a:ln/>
        </p:spPr>
      </p:sp>
      <p:sp>
        <p:nvSpPr>
          <p:cNvPr id="20" name="Text 17"/>
          <p:cNvSpPr/>
          <p:nvPr/>
        </p:nvSpPr>
        <p:spPr>
          <a:xfrm>
            <a:off x="731520" y="3154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1417320" y="3054096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8F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B) 可能有看不见的细菌和寄生虫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1417320" y="3374136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细菌和寄生虫肉眼看不到！山里的动物可能在上游喝水/排泄，细菌顺着水流下来。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4032504"/>
            <a:ext cx="8229600" cy="8961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57200" y="4032504"/>
            <a:ext cx="64008" cy="896112"/>
          </a:xfrm>
          <a:prstGeom prst="rect">
            <a:avLst/>
          </a:prstGeom>
          <a:solidFill>
            <a:srgbClr val="5A8F3C"/>
          </a:solidFill>
          <a:ln/>
        </p:spPr>
      </p:sp>
      <p:sp>
        <p:nvSpPr>
          <p:cNvPr id="25" name="Shape 22"/>
          <p:cNvSpPr/>
          <p:nvPr/>
        </p:nvSpPr>
        <p:spPr>
          <a:xfrm>
            <a:off x="731520" y="4178808"/>
            <a:ext cx="502920" cy="502920"/>
          </a:xfrm>
          <a:prstGeom prst="ellipse">
            <a:avLst/>
          </a:prstGeom>
          <a:solidFill>
            <a:srgbClr val="5A8F3C"/>
          </a:solidFill>
          <a:ln/>
        </p:spPr>
      </p:sp>
      <p:sp>
        <p:nvSpPr>
          <p:cNvPr id="26" name="Text 23"/>
          <p:cNvSpPr/>
          <p:nvPr/>
        </p:nvSpPr>
        <p:spPr>
          <a:xfrm>
            <a:off x="731520" y="41788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1417320" y="4078224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8F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B) 救生衣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1417320" y="4398264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在水边/船上活动，救生衣(life jacket)是最重要的安全装备！即使你会游泳也要穿。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3A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3E8ED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716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91440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📺 推荐视频 Videos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课上播放片段帮助理解，或课后观看！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57200" y="1188720"/>
            <a:ext cx="8229600" cy="1097280"/>
          </a:xfrm>
          <a:prstGeom prst="rect">
            <a:avLst/>
          </a:prstGeom>
          <a:solidFill>
            <a:srgbClr val="2A3A2A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1188720"/>
            <a:ext cx="73152" cy="1097280"/>
          </a:xfrm>
          <a:prstGeom prst="rect">
            <a:avLst/>
          </a:prstGeom>
          <a:solidFill>
            <a:srgbClr val="3E8ED0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1389888"/>
            <a:ext cx="640080" cy="640080"/>
          </a:xfrm>
          <a:prstGeom prst="ellipse">
            <a:avLst/>
          </a:prstGeom>
          <a:solidFill>
            <a:srgbClr val="3E8ED0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138988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▶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554480" y="12801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Kids Alive - Water Safety Cartoons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554480" y="160020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Kids Alive Do the Five · 多集卡通 · 3-5 min/集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554480" y="18288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BBBB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澳大利亚水安全卡通，分泳池/海滩/户外水域，画面可爱适合低龄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675120" y="132588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4" name="Text 11"/>
          <p:cNvSpPr/>
          <p:nvPr/>
        </p:nvSpPr>
        <p:spPr>
          <a:xfrm>
            <a:off x="6675120" y="1325880"/>
            <a:ext cx="1828800" cy="7772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https://youtube.com/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@KidsAliveDoTheFive</a:t>
            </a:r>
            <a:endParaRPr lang="en-US" sz="750" dirty="0"/>
          </a:p>
        </p:txBody>
      </p:sp>
      <p:sp>
        <p:nvSpPr>
          <p:cNvPr id="15" name="Shape 12"/>
          <p:cNvSpPr/>
          <p:nvPr/>
        </p:nvSpPr>
        <p:spPr>
          <a:xfrm>
            <a:off x="457200" y="2423160"/>
            <a:ext cx="8229600" cy="1097280"/>
          </a:xfrm>
          <a:prstGeom prst="rect">
            <a:avLst/>
          </a:prstGeom>
          <a:solidFill>
            <a:srgbClr val="2A3A2A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57200" y="2423160"/>
            <a:ext cx="73152" cy="1097280"/>
          </a:xfrm>
          <a:prstGeom prst="rect">
            <a:avLst/>
          </a:prstGeom>
          <a:solidFill>
            <a:srgbClr val="2AA198"/>
          </a:solidFill>
          <a:ln/>
        </p:spPr>
      </p:sp>
      <p:sp>
        <p:nvSpPr>
          <p:cNvPr id="17" name="Shape 14"/>
          <p:cNvSpPr/>
          <p:nvPr/>
        </p:nvSpPr>
        <p:spPr>
          <a:xfrm>
            <a:off x="731520" y="2624328"/>
            <a:ext cx="640080" cy="640080"/>
          </a:xfrm>
          <a:prstGeom prst="ellipse">
            <a:avLst/>
          </a:prstGeom>
          <a:solidFill>
            <a:srgbClr val="2AA198"/>
          </a:solidFill>
          <a:ln/>
        </p:spPr>
      </p:sp>
      <p:sp>
        <p:nvSpPr>
          <p:cNvPr id="18" name="Text 15"/>
          <p:cNvSpPr/>
          <p:nvPr/>
        </p:nvSpPr>
        <p:spPr>
          <a:xfrm>
            <a:off x="731520" y="26243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▶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554480" y="25146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Safe Kids: Water Safety Tips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1554480" y="28346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Kids Worldwide · 2-3 min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554480" y="30632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BBBB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美国安全组织制作的水上安全短视频，简洁实用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675120" y="256032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23" name="Text 20"/>
          <p:cNvSpPr/>
          <p:nvPr/>
        </p:nvSpPr>
        <p:spPr>
          <a:xfrm>
            <a:off x="6675120" y="2560320"/>
            <a:ext cx="1828800" cy="7772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https://youtube.com/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@safekidsworldwide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457200" y="3657600"/>
            <a:ext cx="8229600" cy="1097280"/>
          </a:xfrm>
          <a:prstGeom prst="rect">
            <a:avLst/>
          </a:prstGeom>
          <a:solidFill>
            <a:srgbClr val="2A3A2A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57200" y="3657600"/>
            <a:ext cx="73152" cy="109728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26" name="Shape 23"/>
          <p:cNvSpPr/>
          <p:nvPr/>
        </p:nvSpPr>
        <p:spPr>
          <a:xfrm>
            <a:off x="731520" y="3858768"/>
            <a:ext cx="640080" cy="64008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27" name="Text 24"/>
          <p:cNvSpPr/>
          <p:nvPr/>
        </p:nvSpPr>
        <p:spPr>
          <a:xfrm>
            <a:off x="731520" y="38587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▶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1554480" y="37490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Bobber the Water Safety Dog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1554480" y="406908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Army Corps of Engineers · 5 min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1554480" y="42976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BBBB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小狗Bobber教小朋友水上安全知识，适合5-8岁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675120" y="379476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32" name="Text 29"/>
          <p:cNvSpPr/>
          <p:nvPr/>
        </p:nvSpPr>
        <p:spPr>
          <a:xfrm>
            <a:off x="6675120" y="3794760"/>
            <a:ext cx="1828800" cy="7772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https://youtube.com/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search: Bobber Water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Dog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9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5A8F3C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201168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FFFFF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01168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 3/4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737360" y="13716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⛰️ 山坡草地 Mountain Meadow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5A8F3C">
              <a:alpha val="8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2801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8F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📖 故事: </a:t>
            </a:r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探险队爬到山坡草地。哇，好多植物！你发现了——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6916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4F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三片叶子的植物 🌿、红色小果子 🫐、超大蘑菇 🍄    能碰吗？能吃吗？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2240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🔍 大家猜猜看！下一页揭晓！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57200" y="2743200"/>
            <a:ext cx="269748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7200" y="288036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🌿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548640" y="33375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三片叶子的植物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703320"/>
            <a:ext cx="2148840" cy="320040"/>
          </a:xfrm>
          <a:prstGeom prst="roundRect">
            <a:avLst>
              <a:gd name="adj" fmla="val 22857"/>
            </a:avLst>
          </a:prstGeom>
          <a:solidFill>
            <a:srgbClr val="DDDDD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70332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94360" y="4114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可以摸吗？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看起来很普通…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337560" y="2743200"/>
            <a:ext cx="269748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337560" y="288036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🫐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3429000" y="33375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红色的小果子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11880" y="3703320"/>
            <a:ext cx="2148840" cy="320040"/>
          </a:xfrm>
          <a:prstGeom prst="roundRect">
            <a:avLst>
              <a:gd name="adj" fmla="val 22857"/>
            </a:avLst>
          </a:prstGeom>
          <a:solidFill>
            <a:srgbClr val="DDDDDD"/>
          </a:solidFill>
          <a:ln/>
        </p:spPr>
      </p:sp>
      <p:sp>
        <p:nvSpPr>
          <p:cNvPr id="20" name="Text 18"/>
          <p:cNvSpPr/>
          <p:nvPr/>
        </p:nvSpPr>
        <p:spPr>
          <a:xfrm>
            <a:off x="3611880" y="370332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❓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474720" y="4114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好像很好吃？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像草莓一样红…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17920" y="2743200"/>
            <a:ext cx="269748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217920" y="288036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🍄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6309360" y="333756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超大的蘑菇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492240" y="3703320"/>
            <a:ext cx="2148840" cy="320040"/>
          </a:xfrm>
          <a:prstGeom prst="roundRect">
            <a:avLst>
              <a:gd name="adj" fmla="val 22857"/>
            </a:avLst>
          </a:prstGeom>
          <a:solidFill>
            <a:srgbClr val="DDDDDD"/>
          </a:solidFill>
          <a:ln/>
        </p:spPr>
      </p:sp>
      <p:sp>
        <p:nvSpPr>
          <p:cNvPr id="26" name="Text 24"/>
          <p:cNvSpPr/>
          <p:nvPr/>
        </p:nvSpPr>
        <p:spPr>
          <a:xfrm>
            <a:off x="6492240" y="370332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❓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355080" y="4114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好漂亮！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能不能摘回去？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9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5A8F3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716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91440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答案：全部都不能碰也不能吃！⚠️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60120"/>
            <a:ext cx="269748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457200" y="10058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🌿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1097280" y="1051560"/>
            <a:ext cx="1828800" cy="320040"/>
          </a:xfrm>
          <a:prstGeom prst="roundRect">
            <a:avLst>
              <a:gd name="adj" fmla="val 17143"/>
            </a:avLst>
          </a:prstGeom>
          <a:solidFill>
            <a:srgbClr val="D94F4F"/>
          </a:solidFill>
          <a:ln/>
        </p:spPr>
      </p:sp>
      <p:sp>
        <p:nvSpPr>
          <p:cNvPr id="8" name="Text 5"/>
          <p:cNvSpPr/>
          <p:nvPr/>
        </p:nvSpPr>
        <p:spPr>
          <a:xfrm>
            <a:off x="1097280" y="10515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可能是毒藤！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94360" y="146304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不碰！Leaves of three,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let it be!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337560" y="960120"/>
            <a:ext cx="269748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3337560" y="10058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🫐</a:t>
            </a:r>
            <a:endParaRPr lang="en-US" sz="2600" dirty="0"/>
          </a:p>
        </p:txBody>
      </p:sp>
      <p:sp>
        <p:nvSpPr>
          <p:cNvPr id="12" name="Shape 9"/>
          <p:cNvSpPr/>
          <p:nvPr/>
        </p:nvSpPr>
        <p:spPr>
          <a:xfrm>
            <a:off x="3977640" y="1051560"/>
            <a:ext cx="1828800" cy="320040"/>
          </a:xfrm>
          <a:prstGeom prst="roundRect">
            <a:avLst>
              <a:gd name="adj" fmla="val 17143"/>
            </a:avLst>
          </a:prstGeom>
          <a:solidFill>
            <a:srgbClr val="D94F4F"/>
          </a:solidFill>
          <a:ln/>
        </p:spPr>
      </p:sp>
      <p:sp>
        <p:nvSpPr>
          <p:cNvPr id="13" name="Text 10"/>
          <p:cNvSpPr/>
          <p:nvPr/>
        </p:nvSpPr>
        <p:spPr>
          <a:xfrm>
            <a:off x="3977640" y="10515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不能吃！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3474720" y="146304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不认识 = 不吃！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野果可能有毒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217920" y="960120"/>
            <a:ext cx="269748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217920" y="10058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🍄</a:t>
            </a:r>
            <a:endParaRPr lang="en-US" sz="2600" dirty="0"/>
          </a:p>
        </p:txBody>
      </p:sp>
      <p:sp>
        <p:nvSpPr>
          <p:cNvPr id="17" name="Shape 14"/>
          <p:cNvSpPr/>
          <p:nvPr/>
        </p:nvSpPr>
        <p:spPr>
          <a:xfrm>
            <a:off x="6858000" y="1051560"/>
            <a:ext cx="1828800" cy="320040"/>
          </a:xfrm>
          <a:prstGeom prst="roundRect">
            <a:avLst>
              <a:gd name="adj" fmla="val 17143"/>
            </a:avLst>
          </a:prstGeom>
          <a:solidFill>
            <a:srgbClr val="D94F4F"/>
          </a:solidFill>
          <a:ln/>
        </p:spPr>
      </p:sp>
      <p:sp>
        <p:nvSpPr>
          <p:cNvPr id="18" name="Text 15"/>
          <p:cNvSpPr/>
          <p:nvPr/>
        </p:nvSpPr>
        <p:spPr>
          <a:xfrm>
            <a:off x="6858000" y="10515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不碰不吃！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355080" y="146304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漂亮蘑菇可能最毒！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用眼睛看就好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57200" y="2606040"/>
            <a:ext cx="8229600" cy="228600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57200" y="2606040"/>
            <a:ext cx="64008" cy="2286000"/>
          </a:xfrm>
          <a:prstGeom prst="rect">
            <a:avLst/>
          </a:prstGeom>
          <a:solidFill>
            <a:srgbClr val="5A8F3C"/>
          </a:solidFill>
          <a:ln/>
        </p:spPr>
      </p:sp>
      <p:sp>
        <p:nvSpPr>
          <p:cNvPr id="22" name="Text 19"/>
          <p:cNvSpPr/>
          <p:nvPr/>
        </p:nvSpPr>
        <p:spPr>
          <a:xfrm>
            <a:off x="731520" y="2651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8F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为什么？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731520" y="2971800"/>
            <a:ext cx="7772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🌿 毒藤含urushiol油脂，碰到皮肤起水泡，奇痒2-3周！80%的人过敏。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🫐 大自然中，鲜艳颜色是"危险警告"！红/白/黄色野果特别危险，几颗就可能中毒。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🍄 全世界上万种蘑菇，有毒和无毒长得几乎一样。有些毒蘑菇吃了几天后肝脏坏掉。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📸 最安全方式：用眼睛观察、拍照记录，回家后和大人一起查资料！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9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5A8F3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716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91440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⛰️ 植物小测验 Plant Quiz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457200" y="960120"/>
            <a:ext cx="8229600" cy="8961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457200" y="960120"/>
            <a:ext cx="64008" cy="896112"/>
          </a:xfrm>
          <a:prstGeom prst="rect">
            <a:avLst/>
          </a:prstGeom>
          <a:solidFill>
            <a:srgbClr val="5A8F3C"/>
          </a:solidFill>
          <a:ln/>
        </p:spPr>
      </p:sp>
      <p:sp>
        <p:nvSpPr>
          <p:cNvPr id="7" name="Shape 4"/>
          <p:cNvSpPr/>
          <p:nvPr/>
        </p:nvSpPr>
        <p:spPr>
          <a:xfrm>
            <a:off x="731520" y="1106424"/>
            <a:ext cx="502920" cy="502920"/>
          </a:xfrm>
          <a:prstGeom prst="ellipse">
            <a:avLst/>
          </a:prstGeom>
          <a:solidFill>
            <a:srgbClr val="5A8F3C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11064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417320" y="10332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"Leaves of three, let it be" 是什么意思？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417320" y="141732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A) 三片叶子的植物可以吃    B) 看到三片叶子的植物要远离    C) 数到三再跑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57200" y="1984248"/>
            <a:ext cx="8229600" cy="8961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7200" y="1984248"/>
            <a:ext cx="64008" cy="896112"/>
          </a:xfrm>
          <a:prstGeom prst="rect">
            <a:avLst/>
          </a:prstGeom>
          <a:solidFill>
            <a:srgbClr val="5A8F3C"/>
          </a:solidFill>
          <a:ln/>
        </p:spPr>
      </p:sp>
      <p:sp>
        <p:nvSpPr>
          <p:cNvPr id="13" name="Shape 10"/>
          <p:cNvSpPr/>
          <p:nvPr/>
        </p:nvSpPr>
        <p:spPr>
          <a:xfrm>
            <a:off x="731520" y="2130552"/>
            <a:ext cx="502920" cy="502920"/>
          </a:xfrm>
          <a:prstGeom prst="ellipse">
            <a:avLst/>
          </a:prstGeom>
          <a:solidFill>
            <a:srgbClr val="5A8F3C"/>
          </a:solidFill>
          <a:ln/>
        </p:spPr>
      </p:sp>
      <p:sp>
        <p:nvSpPr>
          <p:cNvPr id="14" name="Text 11"/>
          <p:cNvSpPr/>
          <p:nvPr/>
        </p:nvSpPr>
        <p:spPr>
          <a:xfrm>
            <a:off x="731520" y="21305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417320" y="20574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山上找到一种果子，和草莓长得很像，可以吃吗？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417320" y="2441448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A) 可以，看起来一样    B) 绝对不能吃    C) 先尝一小口试试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57200" y="3008376"/>
            <a:ext cx="8229600" cy="8961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57200" y="3008376"/>
            <a:ext cx="64008" cy="896112"/>
          </a:xfrm>
          <a:prstGeom prst="rect">
            <a:avLst/>
          </a:prstGeom>
          <a:solidFill>
            <a:srgbClr val="5A8F3C"/>
          </a:solidFill>
          <a:ln/>
        </p:spPr>
      </p:sp>
      <p:sp>
        <p:nvSpPr>
          <p:cNvPr id="19" name="Shape 16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rgbClr val="5A8F3C"/>
          </a:solidFill>
          <a:ln/>
        </p:spPr>
      </p:sp>
      <p:sp>
        <p:nvSpPr>
          <p:cNvPr id="20" name="Text 17"/>
          <p:cNvSpPr/>
          <p:nvPr/>
        </p:nvSpPr>
        <p:spPr>
          <a:xfrm>
            <a:off x="731520" y="3154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1417320" y="308152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碰了不认识的植物后手开始痒了，你应该？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1417320" y="3465576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A) 用力抓痒    B) 马上用大量清水冲洗，告诉大人    C) 不管它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57200" y="4032504"/>
            <a:ext cx="8229600" cy="8961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57200" y="4032504"/>
            <a:ext cx="64008" cy="896112"/>
          </a:xfrm>
          <a:prstGeom prst="rect">
            <a:avLst/>
          </a:prstGeom>
          <a:solidFill>
            <a:srgbClr val="5A8F3C"/>
          </a:solidFill>
          <a:ln/>
        </p:spPr>
      </p:sp>
      <p:sp>
        <p:nvSpPr>
          <p:cNvPr id="25" name="Shape 22"/>
          <p:cNvSpPr/>
          <p:nvPr/>
        </p:nvSpPr>
        <p:spPr>
          <a:xfrm>
            <a:off x="731520" y="4178808"/>
            <a:ext cx="502920" cy="502920"/>
          </a:xfrm>
          <a:prstGeom prst="ellipse">
            <a:avLst/>
          </a:prstGeom>
          <a:solidFill>
            <a:srgbClr val="5A8F3C"/>
          </a:solidFill>
          <a:ln/>
        </p:spPr>
      </p:sp>
      <p:sp>
        <p:nvSpPr>
          <p:cNvPr id="26" name="Text 23"/>
          <p:cNvSpPr/>
          <p:nvPr/>
        </p:nvSpPr>
        <p:spPr>
          <a:xfrm>
            <a:off x="731520" y="41788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1417320" y="410565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下面哪种行为在野外是安全的？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1417320" y="4489704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A) 闻漂亮的花    B) 用手机给植物拍照    C) 摘树叶做手链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8F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🤔 大家选好了吗？翻到下一页看答案！→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9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5A8F3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716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91440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⛰️ 植物答案揭晓！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457200" y="960120"/>
            <a:ext cx="8229600" cy="8961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457200" y="960120"/>
            <a:ext cx="64008" cy="896112"/>
          </a:xfrm>
          <a:prstGeom prst="rect">
            <a:avLst/>
          </a:prstGeom>
          <a:solidFill>
            <a:srgbClr val="5A8F3C"/>
          </a:solidFill>
          <a:ln/>
        </p:spPr>
      </p:sp>
      <p:sp>
        <p:nvSpPr>
          <p:cNvPr id="7" name="Shape 4"/>
          <p:cNvSpPr/>
          <p:nvPr/>
        </p:nvSpPr>
        <p:spPr>
          <a:xfrm>
            <a:off x="731520" y="1106424"/>
            <a:ext cx="502920" cy="502920"/>
          </a:xfrm>
          <a:prstGeom prst="ellipse">
            <a:avLst/>
          </a:prstGeom>
          <a:solidFill>
            <a:srgbClr val="5A8F3C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11064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417320" y="10058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8F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B) 看到三片叶子的植物要远离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417320" y="132588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毒藤特征就是三片叶子一组！全班一起说3遍："Leaves of three, let it be!"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1984248"/>
            <a:ext cx="8229600" cy="8961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7200" y="1984248"/>
            <a:ext cx="64008" cy="896112"/>
          </a:xfrm>
          <a:prstGeom prst="rect">
            <a:avLst/>
          </a:prstGeom>
          <a:solidFill>
            <a:srgbClr val="5A8F3C"/>
          </a:solidFill>
          <a:ln/>
        </p:spPr>
      </p:sp>
      <p:sp>
        <p:nvSpPr>
          <p:cNvPr id="13" name="Shape 10"/>
          <p:cNvSpPr/>
          <p:nvPr/>
        </p:nvSpPr>
        <p:spPr>
          <a:xfrm>
            <a:off x="731520" y="2130552"/>
            <a:ext cx="502920" cy="502920"/>
          </a:xfrm>
          <a:prstGeom prst="ellipse">
            <a:avLst/>
          </a:prstGeom>
          <a:solidFill>
            <a:srgbClr val="5A8F3C"/>
          </a:solidFill>
          <a:ln/>
        </p:spPr>
      </p:sp>
      <p:sp>
        <p:nvSpPr>
          <p:cNvPr id="14" name="Text 11"/>
          <p:cNvSpPr/>
          <p:nvPr/>
        </p:nvSpPr>
        <p:spPr>
          <a:xfrm>
            <a:off x="731520" y="21305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417320" y="2029968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8F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B) 绝对不能吃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417320" y="2350008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"长得像"不代表"是一样的"！很多有毒植物和常见水果长得相似，叫"拟态"。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3008376"/>
            <a:ext cx="8229600" cy="8961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57200" y="3008376"/>
            <a:ext cx="64008" cy="896112"/>
          </a:xfrm>
          <a:prstGeom prst="rect">
            <a:avLst/>
          </a:prstGeom>
          <a:solidFill>
            <a:srgbClr val="5A8F3C"/>
          </a:solidFill>
          <a:ln/>
        </p:spPr>
      </p:sp>
      <p:sp>
        <p:nvSpPr>
          <p:cNvPr id="19" name="Shape 16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rgbClr val="5A8F3C"/>
          </a:solidFill>
          <a:ln/>
        </p:spPr>
      </p:sp>
      <p:sp>
        <p:nvSpPr>
          <p:cNvPr id="20" name="Text 17"/>
          <p:cNvSpPr/>
          <p:nvPr/>
        </p:nvSpPr>
        <p:spPr>
          <a:xfrm>
            <a:off x="731520" y="3154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1417320" y="3054096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8F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B) 马上用大量清水冲洗，告诉大人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1417320" y="3374136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越抓越痒还可能感染！马上用水冲可以洗掉大部分过敏物质(urushiol)。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4032504"/>
            <a:ext cx="8229600" cy="8961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57200" y="4032504"/>
            <a:ext cx="64008" cy="896112"/>
          </a:xfrm>
          <a:prstGeom prst="rect">
            <a:avLst/>
          </a:prstGeom>
          <a:solidFill>
            <a:srgbClr val="5A8F3C"/>
          </a:solidFill>
          <a:ln/>
        </p:spPr>
      </p:sp>
      <p:sp>
        <p:nvSpPr>
          <p:cNvPr id="25" name="Shape 22"/>
          <p:cNvSpPr/>
          <p:nvPr/>
        </p:nvSpPr>
        <p:spPr>
          <a:xfrm>
            <a:off x="731520" y="4178808"/>
            <a:ext cx="502920" cy="502920"/>
          </a:xfrm>
          <a:prstGeom prst="ellipse">
            <a:avLst/>
          </a:prstGeom>
          <a:solidFill>
            <a:srgbClr val="5A8F3C"/>
          </a:solidFill>
          <a:ln/>
        </p:spPr>
      </p:sp>
      <p:sp>
        <p:nvSpPr>
          <p:cNvPr id="26" name="Text 23"/>
          <p:cNvSpPr/>
          <p:nvPr/>
        </p:nvSpPr>
        <p:spPr>
          <a:xfrm>
            <a:off x="731520" y="41788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1417320" y="4078224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8F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B) 用手机给植物拍照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1417320" y="4398264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拍照是最安全的观察方式！有些花粉也可能引起过敏，闻花要小心。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3A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5A8F3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716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91440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📺 推荐视频 Videos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课上播放片段帮助理解，或课后观看！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57200" y="1188720"/>
            <a:ext cx="8229600" cy="1097280"/>
          </a:xfrm>
          <a:prstGeom prst="rect">
            <a:avLst/>
          </a:prstGeom>
          <a:solidFill>
            <a:srgbClr val="2A3A2A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1188720"/>
            <a:ext cx="73152" cy="1097280"/>
          </a:xfrm>
          <a:prstGeom prst="rect">
            <a:avLst/>
          </a:prstGeom>
          <a:solidFill>
            <a:srgbClr val="5A8F3C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1389888"/>
            <a:ext cx="640080" cy="640080"/>
          </a:xfrm>
          <a:prstGeom prst="ellipse">
            <a:avLst/>
          </a:prstGeom>
          <a:solidFill>
            <a:srgbClr val="5A8F3C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138988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▶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554480" y="12801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Poison Ivy: What You Need to Know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554480" y="160020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Nemours KidsHealth · 文章 + 视频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554480" y="18288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BBBB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讲解毒藤是什么、为什么让人过敏、如何识别和预防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675120" y="132588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4" name="Text 11"/>
          <p:cNvSpPr/>
          <p:nvPr/>
        </p:nvSpPr>
        <p:spPr>
          <a:xfrm>
            <a:off x="6675120" y="1325880"/>
            <a:ext cx="1828800" cy="7772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https://kidshealth.org/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en/kids/poison-ivy.html</a:t>
            </a:r>
            <a:endParaRPr lang="en-US" sz="750" dirty="0"/>
          </a:p>
        </p:txBody>
      </p:sp>
      <p:sp>
        <p:nvSpPr>
          <p:cNvPr id="15" name="Shape 12"/>
          <p:cNvSpPr/>
          <p:nvPr/>
        </p:nvSpPr>
        <p:spPr>
          <a:xfrm>
            <a:off x="457200" y="2423160"/>
            <a:ext cx="8229600" cy="1097280"/>
          </a:xfrm>
          <a:prstGeom prst="rect">
            <a:avLst/>
          </a:prstGeom>
          <a:solidFill>
            <a:srgbClr val="2A3A2A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57200" y="2423160"/>
            <a:ext cx="73152" cy="1097280"/>
          </a:xfrm>
          <a:prstGeom prst="rect">
            <a:avLst/>
          </a:prstGeom>
          <a:solidFill>
            <a:srgbClr val="7CB342"/>
          </a:solidFill>
          <a:ln/>
        </p:spPr>
      </p:sp>
      <p:sp>
        <p:nvSpPr>
          <p:cNvPr id="17" name="Shape 14"/>
          <p:cNvSpPr/>
          <p:nvPr/>
        </p:nvSpPr>
        <p:spPr>
          <a:xfrm>
            <a:off x="731520" y="2624328"/>
            <a:ext cx="640080" cy="640080"/>
          </a:xfrm>
          <a:prstGeom prst="ellipse">
            <a:avLst/>
          </a:prstGeom>
          <a:solidFill>
            <a:srgbClr val="7CB342"/>
          </a:solidFill>
          <a:ln/>
        </p:spPr>
      </p:sp>
      <p:sp>
        <p:nvSpPr>
          <p:cNvPr id="18" name="Text 15"/>
          <p:cNvSpPr/>
          <p:nvPr/>
        </p:nvSpPr>
        <p:spPr>
          <a:xfrm>
            <a:off x="731520" y="26243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▶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554480" y="25146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SciShow Kids: 植物科普系列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1554480" y="28346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SciShow Kids · 多集 · 4-5 min/集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554480" y="30632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BBBB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Jessi和Squeaks探索各种植物知识，语言简单适合K-3年级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675120" y="256032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23" name="Text 20"/>
          <p:cNvSpPr/>
          <p:nvPr/>
        </p:nvSpPr>
        <p:spPr>
          <a:xfrm>
            <a:off x="6675120" y="2560320"/>
            <a:ext cx="1828800" cy="7772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https://youtube.com/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@SciShowKids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457200" y="3657600"/>
            <a:ext cx="8229600" cy="1097280"/>
          </a:xfrm>
          <a:prstGeom prst="rect">
            <a:avLst/>
          </a:prstGeom>
          <a:solidFill>
            <a:srgbClr val="2A3A2A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57200" y="3657600"/>
            <a:ext cx="73152" cy="1097280"/>
          </a:xfrm>
          <a:prstGeom prst="rect">
            <a:avLst/>
          </a:prstGeom>
          <a:solidFill>
            <a:srgbClr val="8B6F47"/>
          </a:solidFill>
          <a:ln/>
        </p:spPr>
      </p:sp>
      <p:sp>
        <p:nvSpPr>
          <p:cNvPr id="26" name="Shape 23"/>
          <p:cNvSpPr/>
          <p:nvPr/>
        </p:nvSpPr>
        <p:spPr>
          <a:xfrm>
            <a:off x="731520" y="3858768"/>
            <a:ext cx="640080" cy="640080"/>
          </a:xfrm>
          <a:prstGeom prst="ellipse">
            <a:avLst/>
          </a:prstGeom>
          <a:solidFill>
            <a:srgbClr val="8B6F47"/>
          </a:solidFill>
          <a:ln/>
        </p:spPr>
      </p:sp>
      <p:sp>
        <p:nvSpPr>
          <p:cNvPr id="27" name="Text 24"/>
          <p:cNvSpPr/>
          <p:nvPr/>
        </p:nvSpPr>
        <p:spPr>
          <a:xfrm>
            <a:off x="731520" y="38587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▶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1554480" y="37490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Learn Bright: Plant Safety for Kids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1554480" y="406908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Bright · 5-8 min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1554480" y="42976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BBBB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课堂教育视频，结构清晰，讲解如何识别危险植物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675120" y="379476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32" name="Text 29"/>
          <p:cNvSpPr/>
          <p:nvPr/>
        </p:nvSpPr>
        <p:spPr>
          <a:xfrm>
            <a:off x="6675120" y="3794760"/>
            <a:ext cx="1828800" cy="7772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https://youtube.com/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@LearnBright</a:t>
            </a:r>
            <a:endParaRPr lang="en-US" sz="7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9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7B5EA7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201168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FFFFF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01168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 4/4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737360" y="13716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⛈️ 突然暴风雨！Sudden Storm!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7B5EA7">
              <a:alpha val="8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2801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5EA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📖 故事: </a:t>
            </a:r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天突然变暗了……轰隆隆！打雷了！闪电划过天空！⚡ 旁边有——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6916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5EA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一棵大树 🌳、一个小山洞 🕳️、和远处的一栋小房子 🏠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2240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⚡ 你应该躲在哪里？大家选选看！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57200" y="2743200"/>
            <a:ext cx="269748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7200" y="28346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🌳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097280" y="28803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大树下面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097280" y="3246120"/>
            <a:ext cx="914400" cy="274320"/>
          </a:xfrm>
          <a:prstGeom prst="roundRect">
            <a:avLst>
              <a:gd name="adj" fmla="val 20000"/>
            </a:avLst>
          </a:prstGeom>
          <a:solidFill>
            <a:srgbClr val="DDDDDD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3246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94360" y="35661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它够大能挡雨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选这个？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337560" y="2743200"/>
            <a:ext cx="269748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337560" y="28346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🕳️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3977640" y="28803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小山洞里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977640" y="3246120"/>
            <a:ext cx="914400" cy="274320"/>
          </a:xfrm>
          <a:prstGeom prst="roundRect">
            <a:avLst>
              <a:gd name="adj" fmla="val 20000"/>
            </a:avLst>
          </a:prstGeom>
          <a:solidFill>
            <a:srgbClr val="DDDDDD"/>
          </a:solidFill>
          <a:ln/>
        </p:spPr>
      </p:sp>
      <p:sp>
        <p:nvSpPr>
          <p:cNvPr id="20" name="Text 18"/>
          <p:cNvSpPr/>
          <p:nvPr/>
        </p:nvSpPr>
        <p:spPr>
          <a:xfrm>
            <a:off x="3977640" y="3246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❓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474720" y="35661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看起来能躲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选这个？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17920" y="2743200"/>
            <a:ext cx="269748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217920" y="28346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🏠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6858000" y="28803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跑去小房子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858000" y="3246120"/>
            <a:ext cx="914400" cy="274320"/>
          </a:xfrm>
          <a:prstGeom prst="roundRect">
            <a:avLst>
              <a:gd name="adj" fmla="val 20000"/>
            </a:avLst>
          </a:prstGeom>
          <a:solidFill>
            <a:srgbClr val="DDDDDD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0" y="3246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❓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355080" y="35661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有点远要跑一会儿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选这个？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4297680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7B5EA7">
              <a:alpha val="10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43434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B5EA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❓ 你选了哪一个？下一页揭晓答案！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9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7B5EA7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716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91440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⚡ 答案揭晓！你选对了吗？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457200" y="1005840"/>
            <a:ext cx="2697480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457200" y="1005840"/>
            <a:ext cx="2697480" cy="54864"/>
          </a:xfrm>
          <a:prstGeom prst="rect">
            <a:avLst/>
          </a:prstGeom>
          <a:solidFill>
            <a:srgbClr val="D94F4F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078992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🌳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1097280" y="10972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大树下面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097280" y="1389888"/>
            <a:ext cx="1463040" cy="256032"/>
          </a:xfrm>
          <a:prstGeom prst="roundRect">
            <a:avLst>
              <a:gd name="adj" fmla="val 21429"/>
            </a:avLst>
          </a:prstGeom>
          <a:solidFill>
            <a:srgbClr val="D94F4F"/>
          </a:solidFill>
          <a:ln/>
        </p:spPr>
      </p:sp>
      <p:sp>
        <p:nvSpPr>
          <p:cNvPr id="10" name="Text 7"/>
          <p:cNvSpPr/>
          <p:nvPr/>
        </p:nvSpPr>
        <p:spPr>
          <a:xfrm>
            <a:off x="1097280" y="1389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最危险！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94360" y="16916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闪电劈最高的东西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大树就是闪电目标！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337560" y="1005840"/>
            <a:ext cx="2697480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337560" y="1005840"/>
            <a:ext cx="2697480" cy="54864"/>
          </a:xfrm>
          <a:prstGeom prst="rect">
            <a:avLst/>
          </a:prstGeom>
          <a:solidFill>
            <a:srgbClr val="E8731A"/>
          </a:solidFill>
          <a:ln/>
        </p:spPr>
      </p:sp>
      <p:sp>
        <p:nvSpPr>
          <p:cNvPr id="14" name="Text 11"/>
          <p:cNvSpPr/>
          <p:nvPr/>
        </p:nvSpPr>
        <p:spPr>
          <a:xfrm>
            <a:off x="3337560" y="1078992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🕳️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3977640" y="10972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小山洞里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977640" y="1389888"/>
            <a:ext cx="1463040" cy="256032"/>
          </a:xfrm>
          <a:prstGeom prst="roundRect">
            <a:avLst>
              <a:gd name="adj" fmla="val 21429"/>
            </a:avLst>
          </a:prstGeom>
          <a:solidFill>
            <a:srgbClr val="E8731A"/>
          </a:solidFill>
          <a:ln/>
        </p:spPr>
      </p:sp>
      <p:sp>
        <p:nvSpPr>
          <p:cNvPr id="17" name="Text 14"/>
          <p:cNvSpPr/>
          <p:nvPr/>
        </p:nvSpPr>
        <p:spPr>
          <a:xfrm>
            <a:off x="3977640" y="1389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看情况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3474720" y="16916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够大够深可以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但注意里面可能有动物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217920" y="1005840"/>
            <a:ext cx="2697480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217920" y="1005840"/>
            <a:ext cx="2697480" cy="54864"/>
          </a:xfrm>
          <a:prstGeom prst="rect">
            <a:avLst/>
          </a:prstGeom>
          <a:solidFill>
            <a:srgbClr val="5A8F3C"/>
          </a:solidFill>
          <a:ln/>
        </p:spPr>
      </p:sp>
      <p:sp>
        <p:nvSpPr>
          <p:cNvPr id="21" name="Text 18"/>
          <p:cNvSpPr/>
          <p:nvPr/>
        </p:nvSpPr>
        <p:spPr>
          <a:xfrm>
            <a:off x="6217920" y="1078992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🏠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6858000" y="10972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跑去小房子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858000" y="1389888"/>
            <a:ext cx="1463040" cy="256032"/>
          </a:xfrm>
          <a:prstGeom prst="roundRect">
            <a:avLst>
              <a:gd name="adj" fmla="val 21429"/>
            </a:avLst>
          </a:prstGeom>
          <a:solidFill>
            <a:srgbClr val="5A8F3C"/>
          </a:solidFill>
          <a:ln/>
        </p:spPr>
      </p:sp>
      <p:sp>
        <p:nvSpPr>
          <p:cNvPr id="24" name="Text 21"/>
          <p:cNvSpPr/>
          <p:nvPr/>
        </p:nvSpPr>
        <p:spPr>
          <a:xfrm>
            <a:off x="6858000" y="13898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最安全！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355080" y="16916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建筑物/汽车最安全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值得跑远一点！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457200" y="2468880"/>
            <a:ext cx="8229600" cy="411480"/>
          </a:xfrm>
          <a:prstGeom prst="roundRect">
            <a:avLst>
              <a:gd name="adj" fmla="val 22222"/>
            </a:avLst>
          </a:prstGeom>
          <a:solidFill>
            <a:srgbClr val="7B5EA7">
              <a:alpha val="10000"/>
            </a:srgbClr>
          </a:solidFill>
          <a:ln/>
        </p:spPr>
      </p:sp>
      <p:sp>
        <p:nvSpPr>
          <p:cNvPr id="27" name="Text 24"/>
          <p:cNvSpPr/>
          <p:nvPr/>
        </p:nvSpPr>
        <p:spPr>
          <a:xfrm>
            <a:off x="640080" y="2496312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5EA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⚡ 口诀: 听到雷声→离开高处和大树→找室内或车内→蹲下抱头（没地方躲）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3017520"/>
            <a:ext cx="8229600" cy="3840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457200" y="3017520"/>
            <a:ext cx="64008" cy="384048"/>
          </a:xfrm>
          <a:prstGeom prst="rect">
            <a:avLst/>
          </a:prstGeom>
          <a:solidFill>
            <a:srgbClr val="7B5EA7"/>
          </a:solidFill>
          <a:ln/>
        </p:spPr>
      </p:sp>
      <p:sp>
        <p:nvSpPr>
          <p:cNvPr id="30" name="Text 27"/>
          <p:cNvSpPr/>
          <p:nvPr/>
        </p:nvSpPr>
        <p:spPr>
          <a:xfrm>
            <a:off x="640080" y="301752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31" name="Text 28"/>
          <p:cNvSpPr/>
          <p:nvPr/>
        </p:nvSpPr>
        <p:spPr>
          <a:xfrm>
            <a:off x="1188720" y="30175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闪电温度比太阳还高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4114800" y="301752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闪电30,000°C，太阳表面的5倍！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457200" y="3474720"/>
            <a:ext cx="8229600" cy="3840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57200" y="3474720"/>
            <a:ext cx="64008" cy="384048"/>
          </a:xfrm>
          <a:prstGeom prst="rect">
            <a:avLst/>
          </a:prstGeom>
          <a:solidFill>
            <a:srgbClr val="7B5EA7"/>
          </a:solidFill>
          <a:ln/>
        </p:spPr>
      </p:sp>
      <p:sp>
        <p:nvSpPr>
          <p:cNvPr id="35" name="Text 32"/>
          <p:cNvSpPr/>
          <p:nvPr/>
        </p:nvSpPr>
        <p:spPr>
          <a:xfrm>
            <a:off x="640080" y="347472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🌳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1188720" y="34747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闪电走最短路径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4114800" y="347472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先劈最高的——大树、电线杆。站树下=站在目标旁！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457200" y="3931920"/>
            <a:ext cx="8229600" cy="3840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457200" y="3931920"/>
            <a:ext cx="64008" cy="384048"/>
          </a:xfrm>
          <a:prstGeom prst="rect">
            <a:avLst/>
          </a:prstGeom>
          <a:solidFill>
            <a:srgbClr val="7B5EA7"/>
          </a:solidFill>
          <a:ln/>
        </p:spPr>
      </p:sp>
      <p:sp>
        <p:nvSpPr>
          <p:cNvPr id="40" name="Text 37"/>
          <p:cNvSpPr/>
          <p:nvPr/>
        </p:nvSpPr>
        <p:spPr>
          <a:xfrm>
            <a:off x="640080" y="393192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🚗</a:t>
            </a:r>
            <a:endParaRPr lang="en-US" sz="1800" dirty="0"/>
          </a:p>
        </p:txBody>
      </p:sp>
      <p:sp>
        <p:nvSpPr>
          <p:cNvPr id="41" name="Text 38"/>
          <p:cNvSpPr/>
          <p:nvPr/>
        </p:nvSpPr>
        <p:spPr>
          <a:xfrm>
            <a:off x="1188720" y="39319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汽车有"法拉第笼"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4114800" y="393192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金属外壳把电流导到地面，车里的人不受伤。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457200" y="4389120"/>
            <a:ext cx="8229600" cy="3840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457200" y="4389120"/>
            <a:ext cx="64008" cy="384048"/>
          </a:xfrm>
          <a:prstGeom prst="rect">
            <a:avLst/>
          </a:prstGeom>
          <a:solidFill>
            <a:srgbClr val="7B5EA7"/>
          </a:solidFill>
          <a:ln/>
        </p:spPr>
      </p:sp>
      <p:sp>
        <p:nvSpPr>
          <p:cNvPr id="45" name="Text 42"/>
          <p:cNvSpPr/>
          <p:nvPr/>
        </p:nvSpPr>
        <p:spPr>
          <a:xfrm>
            <a:off x="640080" y="438912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🧎</a:t>
            </a:r>
            <a:endParaRPr lang="en-US" sz="1800" dirty="0"/>
          </a:p>
        </p:txBody>
      </p:sp>
      <p:sp>
        <p:nvSpPr>
          <p:cNvPr id="46" name="Text 43"/>
          <p:cNvSpPr/>
          <p:nvPr/>
        </p:nvSpPr>
        <p:spPr>
          <a:xfrm>
            <a:off x="1188720" y="43891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"雷雨安全蹲"</a:t>
            </a:r>
            <a:endParaRPr lang="en-US" sz="1100" dirty="0"/>
          </a:p>
        </p:txBody>
      </p:sp>
      <p:sp>
        <p:nvSpPr>
          <p:cNvPr id="47" name="Text 44"/>
          <p:cNvSpPr/>
          <p:nvPr/>
        </p:nvSpPr>
        <p:spPr>
          <a:xfrm>
            <a:off x="4114800" y="438912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蹲下→双脚并拢→双手抱头→不要趴在地上！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9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7B5EA7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716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91440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⛈️ 雷雨小测验 Storm Quiz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457200" y="960120"/>
            <a:ext cx="8229600" cy="8961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457200" y="960120"/>
            <a:ext cx="64008" cy="896112"/>
          </a:xfrm>
          <a:prstGeom prst="rect">
            <a:avLst/>
          </a:prstGeom>
          <a:solidFill>
            <a:srgbClr val="7B5EA7"/>
          </a:solidFill>
          <a:ln/>
        </p:spPr>
      </p:sp>
      <p:sp>
        <p:nvSpPr>
          <p:cNvPr id="7" name="Shape 4"/>
          <p:cNvSpPr/>
          <p:nvPr/>
        </p:nvSpPr>
        <p:spPr>
          <a:xfrm>
            <a:off x="731520" y="1106424"/>
            <a:ext cx="502920" cy="502920"/>
          </a:xfrm>
          <a:prstGeom prst="ellipse">
            <a:avLst/>
          </a:prstGeom>
          <a:solidFill>
            <a:srgbClr val="7B5EA7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11064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417320" y="103327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在游泳池游泳时听到打雷，你应该？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417320" y="141732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A) 没关系继续游    B) 马上上岸去室内    C) 潜到水底躲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57200" y="1984248"/>
            <a:ext cx="8229600" cy="8961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7200" y="1984248"/>
            <a:ext cx="64008" cy="896112"/>
          </a:xfrm>
          <a:prstGeom prst="rect">
            <a:avLst/>
          </a:prstGeom>
          <a:solidFill>
            <a:srgbClr val="7B5EA7"/>
          </a:solidFill>
          <a:ln/>
        </p:spPr>
      </p:sp>
      <p:sp>
        <p:nvSpPr>
          <p:cNvPr id="13" name="Shape 10"/>
          <p:cNvSpPr/>
          <p:nvPr/>
        </p:nvSpPr>
        <p:spPr>
          <a:xfrm>
            <a:off x="731520" y="2130552"/>
            <a:ext cx="502920" cy="502920"/>
          </a:xfrm>
          <a:prstGeom prst="ellipse">
            <a:avLst/>
          </a:prstGeom>
          <a:solidFill>
            <a:srgbClr val="7B5EA7"/>
          </a:solidFill>
          <a:ln/>
        </p:spPr>
      </p:sp>
      <p:sp>
        <p:nvSpPr>
          <p:cNvPr id="14" name="Text 11"/>
          <p:cNvSpPr/>
          <p:nvPr/>
        </p:nvSpPr>
        <p:spPr>
          <a:xfrm>
            <a:off x="731520" y="21305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417320" y="20574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从看到闪电到听到雷声有5秒，雷雨离你多远？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417320" y="2441448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A) 约1英里(1.6公里)    B) 很远不用担心    C) 就在头顶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57200" y="3008376"/>
            <a:ext cx="8229600" cy="8961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57200" y="3008376"/>
            <a:ext cx="64008" cy="896112"/>
          </a:xfrm>
          <a:prstGeom prst="rect">
            <a:avLst/>
          </a:prstGeom>
          <a:solidFill>
            <a:srgbClr val="7B5EA7"/>
          </a:solidFill>
          <a:ln/>
        </p:spPr>
      </p:sp>
      <p:sp>
        <p:nvSpPr>
          <p:cNvPr id="19" name="Shape 16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rgbClr val="7B5EA7"/>
          </a:solidFill>
          <a:ln/>
        </p:spPr>
      </p:sp>
      <p:sp>
        <p:nvSpPr>
          <p:cNvPr id="20" name="Text 17"/>
          <p:cNvSpPr/>
          <p:nvPr/>
        </p:nvSpPr>
        <p:spPr>
          <a:xfrm>
            <a:off x="731520" y="3154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1417320" y="308152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雷雨天在室内，哪个做法安全？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1417320" y="3465576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A) 用有线电话打电话    B) 远离窗户，待在房间中间    C) 在浴缸里洗澡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57200" y="4032504"/>
            <a:ext cx="8229600" cy="8961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57200" y="4032504"/>
            <a:ext cx="64008" cy="896112"/>
          </a:xfrm>
          <a:prstGeom prst="rect">
            <a:avLst/>
          </a:prstGeom>
          <a:solidFill>
            <a:srgbClr val="7B5EA7"/>
          </a:solidFill>
          <a:ln/>
        </p:spPr>
      </p:sp>
      <p:sp>
        <p:nvSpPr>
          <p:cNvPr id="25" name="Shape 22"/>
          <p:cNvSpPr/>
          <p:nvPr/>
        </p:nvSpPr>
        <p:spPr>
          <a:xfrm>
            <a:off x="731520" y="4178808"/>
            <a:ext cx="502920" cy="502920"/>
          </a:xfrm>
          <a:prstGeom prst="ellipse">
            <a:avLst/>
          </a:prstGeom>
          <a:solidFill>
            <a:srgbClr val="7B5EA7"/>
          </a:solidFill>
          <a:ln/>
        </p:spPr>
      </p:sp>
      <p:sp>
        <p:nvSpPr>
          <p:cNvPr id="26" name="Text 23"/>
          <p:cNvSpPr/>
          <p:nvPr/>
        </p:nvSpPr>
        <p:spPr>
          <a:xfrm>
            <a:off x="731520" y="41788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1417320" y="410565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为什么雷雨时不能打伞？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1417320" y="4489704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A) 会被风吹走    B) 金属伞尖会吸引闪电    C) 会淋湿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B5EA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🤔 大家选好了吗？翻到下一页看答案！→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9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7B5EA7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716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91440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⛈️ 雷雨答案揭晓！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457200" y="960120"/>
            <a:ext cx="8229600" cy="8961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457200" y="960120"/>
            <a:ext cx="64008" cy="896112"/>
          </a:xfrm>
          <a:prstGeom prst="rect">
            <a:avLst/>
          </a:prstGeom>
          <a:solidFill>
            <a:srgbClr val="5A8F3C"/>
          </a:solidFill>
          <a:ln/>
        </p:spPr>
      </p:sp>
      <p:sp>
        <p:nvSpPr>
          <p:cNvPr id="7" name="Shape 4"/>
          <p:cNvSpPr/>
          <p:nvPr/>
        </p:nvSpPr>
        <p:spPr>
          <a:xfrm>
            <a:off x="731520" y="1106424"/>
            <a:ext cx="502920" cy="502920"/>
          </a:xfrm>
          <a:prstGeom prst="ellipse">
            <a:avLst/>
          </a:prstGeom>
          <a:solidFill>
            <a:srgbClr val="5A8F3C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11064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417320" y="10058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8F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B) 马上上岸去室内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417320" y="132588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水是导电体！闪电打到水面，电流会传遍整个泳池。听到雷声立刻上岸！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1984248"/>
            <a:ext cx="8229600" cy="8961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7200" y="1984248"/>
            <a:ext cx="64008" cy="896112"/>
          </a:xfrm>
          <a:prstGeom prst="rect">
            <a:avLst/>
          </a:prstGeom>
          <a:solidFill>
            <a:srgbClr val="5A8F3C"/>
          </a:solidFill>
          <a:ln/>
        </p:spPr>
      </p:sp>
      <p:sp>
        <p:nvSpPr>
          <p:cNvPr id="13" name="Shape 10"/>
          <p:cNvSpPr/>
          <p:nvPr/>
        </p:nvSpPr>
        <p:spPr>
          <a:xfrm>
            <a:off x="731520" y="2130552"/>
            <a:ext cx="502920" cy="502920"/>
          </a:xfrm>
          <a:prstGeom prst="ellipse">
            <a:avLst/>
          </a:prstGeom>
          <a:solidFill>
            <a:srgbClr val="5A8F3C"/>
          </a:solidFill>
          <a:ln/>
        </p:spPr>
      </p:sp>
      <p:sp>
        <p:nvSpPr>
          <p:cNvPr id="14" name="Text 11"/>
          <p:cNvSpPr/>
          <p:nvPr/>
        </p:nvSpPr>
        <p:spPr>
          <a:xfrm>
            <a:off x="731520" y="21305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417320" y="2029968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8F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A) 约1英里(1.6公里)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417320" y="2350008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5秒≈1英里！"30-30法则"：闪电到雷声少于30秒赶紧找掩护，雷停后等30分钟再出去。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3008376"/>
            <a:ext cx="8229600" cy="8961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57200" y="3008376"/>
            <a:ext cx="64008" cy="896112"/>
          </a:xfrm>
          <a:prstGeom prst="rect">
            <a:avLst/>
          </a:prstGeom>
          <a:solidFill>
            <a:srgbClr val="5A8F3C"/>
          </a:solidFill>
          <a:ln/>
        </p:spPr>
      </p:sp>
      <p:sp>
        <p:nvSpPr>
          <p:cNvPr id="19" name="Shape 16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rgbClr val="5A8F3C"/>
          </a:solidFill>
          <a:ln/>
        </p:spPr>
      </p:sp>
      <p:sp>
        <p:nvSpPr>
          <p:cNvPr id="20" name="Text 17"/>
          <p:cNvSpPr/>
          <p:nvPr/>
        </p:nvSpPr>
        <p:spPr>
          <a:xfrm>
            <a:off x="731520" y="3154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1417320" y="3054096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8F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B) 远离窗户，待在房间中间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1417320" y="3374136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雷雨时不碰水管/电话线/电器，这些都可能导电！洗澡也危险，水管是金属的。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4032504"/>
            <a:ext cx="8229600" cy="8961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57200" y="4032504"/>
            <a:ext cx="64008" cy="896112"/>
          </a:xfrm>
          <a:prstGeom prst="rect">
            <a:avLst/>
          </a:prstGeom>
          <a:solidFill>
            <a:srgbClr val="5A8F3C"/>
          </a:solidFill>
          <a:ln/>
        </p:spPr>
      </p:sp>
      <p:sp>
        <p:nvSpPr>
          <p:cNvPr id="25" name="Shape 22"/>
          <p:cNvSpPr/>
          <p:nvPr/>
        </p:nvSpPr>
        <p:spPr>
          <a:xfrm>
            <a:off x="731520" y="4178808"/>
            <a:ext cx="502920" cy="502920"/>
          </a:xfrm>
          <a:prstGeom prst="ellipse">
            <a:avLst/>
          </a:prstGeom>
          <a:solidFill>
            <a:srgbClr val="5A8F3C"/>
          </a:solidFill>
          <a:ln/>
        </p:spPr>
      </p:sp>
      <p:sp>
        <p:nvSpPr>
          <p:cNvPr id="26" name="Text 23"/>
          <p:cNvSpPr/>
          <p:nvPr/>
        </p:nvSpPr>
        <p:spPr>
          <a:xfrm>
            <a:off x="731520" y="41788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1417320" y="4078224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8F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B) 金属伞尖会吸引闪电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1417320" y="4398264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金属伞尖像小避雷针！雷雨时也不要举高金属物品（高尔夫球杆、钓鱼竿等）。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E3A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7B5EA7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716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91440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📺 推荐视频 Videos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课上播放片段帮助理解，或课后观看！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57200" y="1188720"/>
            <a:ext cx="8229600" cy="1097280"/>
          </a:xfrm>
          <a:prstGeom prst="rect">
            <a:avLst/>
          </a:prstGeom>
          <a:solidFill>
            <a:srgbClr val="2A3A2A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1188720"/>
            <a:ext cx="73152" cy="1097280"/>
          </a:xfrm>
          <a:prstGeom prst="rect">
            <a:avLst/>
          </a:prstGeom>
          <a:solidFill>
            <a:srgbClr val="7B5EA7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1389888"/>
            <a:ext cx="640080" cy="640080"/>
          </a:xfrm>
          <a:prstGeom prst="ellipse">
            <a:avLst/>
          </a:prstGeom>
          <a:solidFill>
            <a:srgbClr val="7B5EA7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138988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▶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554480" y="12801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SciShow Kids: 雷电是怎么产生的？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554480" y="160020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SciShow Kids · 4 min · K-3年级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554480" y="18288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BBBB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Jessi用简单语言解释闪电和雷声的科学原理，帮孩子理解而不是恐惧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675120" y="132588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14" name="Text 11"/>
          <p:cNvSpPr/>
          <p:nvPr/>
        </p:nvSpPr>
        <p:spPr>
          <a:xfrm>
            <a:off x="6675120" y="1325880"/>
            <a:ext cx="1828800" cy="7772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https://youtube.com/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watch?v=fEiVi9TB_RQ</a:t>
            </a:r>
            <a:endParaRPr lang="en-US" sz="750" dirty="0"/>
          </a:p>
        </p:txBody>
      </p:sp>
      <p:sp>
        <p:nvSpPr>
          <p:cNvPr id="15" name="Shape 12"/>
          <p:cNvSpPr/>
          <p:nvPr/>
        </p:nvSpPr>
        <p:spPr>
          <a:xfrm>
            <a:off x="457200" y="2423160"/>
            <a:ext cx="8229600" cy="1097280"/>
          </a:xfrm>
          <a:prstGeom prst="rect">
            <a:avLst/>
          </a:prstGeom>
          <a:solidFill>
            <a:srgbClr val="2A3A2A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57200" y="2423160"/>
            <a:ext cx="73152" cy="109728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17" name="Shape 14"/>
          <p:cNvSpPr/>
          <p:nvPr/>
        </p:nvSpPr>
        <p:spPr>
          <a:xfrm>
            <a:off x="731520" y="2624328"/>
            <a:ext cx="640080" cy="64008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8" name="Text 15"/>
          <p:cNvSpPr/>
          <p:nvPr/>
        </p:nvSpPr>
        <p:spPr>
          <a:xfrm>
            <a:off x="731520" y="26243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▶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554480" y="25146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Free School: 60秒雷电科学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1554480" y="28346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School · 1 min · 超短科普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554480" y="30632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BBBB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快速回答：闪电是什么？怎么形成？雷声又是什么？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675120" y="256032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23" name="Text 20"/>
          <p:cNvSpPr/>
          <p:nvPr/>
        </p:nvSpPr>
        <p:spPr>
          <a:xfrm>
            <a:off x="6675120" y="2560320"/>
            <a:ext cx="1828800" cy="7772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https://youtube.com/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@FreeSchool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457200" y="3657600"/>
            <a:ext cx="8229600" cy="1097280"/>
          </a:xfrm>
          <a:prstGeom prst="rect">
            <a:avLst/>
          </a:prstGeom>
          <a:solidFill>
            <a:srgbClr val="2A3A2A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57200" y="3657600"/>
            <a:ext cx="73152" cy="1097280"/>
          </a:xfrm>
          <a:prstGeom prst="rect">
            <a:avLst/>
          </a:prstGeom>
          <a:solidFill>
            <a:srgbClr val="F2A93B"/>
          </a:solidFill>
          <a:ln/>
        </p:spPr>
      </p:sp>
      <p:sp>
        <p:nvSpPr>
          <p:cNvPr id="26" name="Shape 23"/>
          <p:cNvSpPr/>
          <p:nvPr/>
        </p:nvSpPr>
        <p:spPr>
          <a:xfrm>
            <a:off x="731520" y="3858768"/>
            <a:ext cx="640080" cy="640080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27" name="Text 24"/>
          <p:cNvSpPr/>
          <p:nvPr/>
        </p:nvSpPr>
        <p:spPr>
          <a:xfrm>
            <a:off x="731520" y="38587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▶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1554480" y="37490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Nat Geo: The Science of Lightning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1554480" y="406908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Geographic · 3 min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1554480" y="42976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BBBB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精美画面展示闪电的科学数据：频率、温度、形成过程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675120" y="379476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FFFFFF">
              <a:alpha val="10000"/>
            </a:srgbClr>
          </a:solidFill>
          <a:ln/>
        </p:spPr>
      </p:sp>
      <p:sp>
        <p:nvSpPr>
          <p:cNvPr id="32" name="Text 29"/>
          <p:cNvSpPr/>
          <p:nvPr/>
        </p:nvSpPr>
        <p:spPr>
          <a:xfrm>
            <a:off x="6675120" y="3794760"/>
            <a:ext cx="1828800" cy="7772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https://youtube.com/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search: National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lightning</a:t>
            </a:r>
            <a:endParaRPr lang="en-US" sz="7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9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8B6F4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🎭 谁来当小演员？Role Play!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一个人演，一个人纠正！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269748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554480"/>
            <a:ext cx="2697480" cy="457200"/>
          </a:xfrm>
          <a:prstGeom prst="rect">
            <a:avLst/>
          </a:prstGeom>
          <a:solidFill>
            <a:srgbClr val="5A8F3C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6002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🍄 场景A: 摘蘑菇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214884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小明看到漂亮蘑菇要去摘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你怎么阻止他？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3017520"/>
            <a:ext cx="2148840" cy="320040"/>
          </a:xfrm>
          <a:prstGeom prst="roundRect">
            <a:avLst>
              <a:gd name="adj" fmla="val 22857"/>
            </a:avLst>
          </a:prstGeom>
          <a:solidFill>
            <a:srgbClr val="5A8F3C">
              <a:alpha val="8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301752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8F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规则2: Don't Touch!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337560" y="1554480"/>
            <a:ext cx="269748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37560" y="1554480"/>
            <a:ext cx="2697480" cy="457200"/>
          </a:xfrm>
          <a:prstGeom prst="rect">
            <a:avLst/>
          </a:prstGeom>
          <a:solidFill>
            <a:srgbClr val="8B6F47"/>
          </a:solidFill>
          <a:ln/>
        </p:spPr>
      </p:sp>
      <p:sp>
        <p:nvSpPr>
          <p:cNvPr id="13" name="Text 11"/>
          <p:cNvSpPr/>
          <p:nvPr/>
        </p:nvSpPr>
        <p:spPr>
          <a:xfrm>
            <a:off x="3429000" y="16002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🐿 场景B: 追松鼠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74720" y="214884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小红要去追一只松鼠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你怎么告诉她？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11880" y="3017520"/>
            <a:ext cx="2148840" cy="320040"/>
          </a:xfrm>
          <a:prstGeom prst="roundRect">
            <a:avLst>
              <a:gd name="adj" fmla="val 22857"/>
            </a:avLst>
          </a:prstGeom>
          <a:solidFill>
            <a:srgbClr val="8B6F47">
              <a:alpha val="8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3611880" y="301752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规则1: Stay Together!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17920" y="1554480"/>
            <a:ext cx="269748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17920" y="1554480"/>
            <a:ext cx="2697480" cy="457200"/>
          </a:xfrm>
          <a:prstGeom prst="rect">
            <a:avLst/>
          </a:prstGeom>
          <a:solidFill>
            <a:srgbClr val="3E8ED0"/>
          </a:solidFill>
          <a:ln/>
        </p:spPr>
      </p:sp>
      <p:sp>
        <p:nvSpPr>
          <p:cNvPr id="19" name="Text 17"/>
          <p:cNvSpPr/>
          <p:nvPr/>
        </p:nvSpPr>
        <p:spPr>
          <a:xfrm>
            <a:off x="6309360" y="16002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😟 场景C: 走丢了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55080" y="214884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你发现看不到老师了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你该怎么做？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92240" y="3017520"/>
            <a:ext cx="2148840" cy="320040"/>
          </a:xfrm>
          <a:prstGeom prst="roundRect">
            <a:avLst>
              <a:gd name="adj" fmla="val 22857"/>
            </a:avLst>
          </a:prstGeom>
          <a:solidFill>
            <a:srgbClr val="3E8ED0">
              <a:alpha val="8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6492240" y="301752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E8E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规则3: Ask for Help!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355080" y="342900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E8E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🛑停 → 👂听 → 📣喊 → 📍等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4297680"/>
            <a:ext cx="3931920" cy="594360"/>
          </a:xfrm>
          <a:prstGeom prst="roundRect">
            <a:avLst>
              <a:gd name="adj" fmla="val 15385"/>
            </a:avLst>
          </a:prstGeom>
          <a:solidFill>
            <a:srgbClr val="F2A93B">
              <a:alpha val="15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34340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6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🟡 小年龄: 判断对错 (👍 or 👎)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54880" y="4297680"/>
            <a:ext cx="3931920" cy="594360"/>
          </a:xfrm>
          <a:prstGeom prst="roundRect">
            <a:avLst>
              <a:gd name="adj" fmla="val 15385"/>
            </a:avLst>
          </a:prstGeom>
          <a:solidFill>
            <a:srgbClr val="3E8ED0">
              <a:alpha val="15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434340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E8E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🔵 大年龄: 解释为什么 + 示范正确做法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9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8B6F47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860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13716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制作探险手册 My Explorer's Journal!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234440"/>
            <a:ext cx="3931920" cy="3566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457200" y="1234440"/>
            <a:ext cx="3931920" cy="502920"/>
          </a:xfrm>
          <a:prstGeom prst="rect">
            <a:avLst/>
          </a:prstGeom>
          <a:solidFill>
            <a:srgbClr val="8B6F47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2801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📝 制作步骤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31520" y="187452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几张纸对折 → 装订成小本子 📖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31520" y="233172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封面画探险家造型的自己! 🧭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278892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第一页: 今天最难忘的情景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31520" y="324612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第二页: 画3个安全规则 🛡️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370332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第三页: 画最喜欢的野外动物 🦊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416052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 涂上颜色！专属探险手册！🎨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754880" y="1234440"/>
            <a:ext cx="3931920" cy="3566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754880" y="1234440"/>
            <a:ext cx="3931920" cy="502920"/>
          </a:xfrm>
          <a:prstGeom prst="rect">
            <a:avLst/>
          </a:prstGeom>
          <a:solidFill>
            <a:srgbClr val="5A8F3C"/>
          </a:solidFill>
          <a:ln/>
        </p:spPr>
      </p:sp>
      <p:sp>
        <p:nvSpPr>
          <p:cNvPr id="16" name="Text 13"/>
          <p:cNvSpPr/>
          <p:nvPr/>
        </p:nvSpPr>
        <p:spPr>
          <a:xfrm>
            <a:off x="4937760" y="12801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📋 探险日志模板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029200" y="187452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📅 日期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029200" y="2075688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______月______日  天气: ☀️⛅🌧️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5029200" y="233172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📍 今天去了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029200" y="2532888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□森林 □河边 □山上 □_____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5029200" y="278892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👀 我发现了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029200" y="2990088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画出来：_______________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5029200" y="324612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安全知识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029200" y="3447288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______________________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5029200" y="370332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⭐ 最开心的事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5029200" y="3904488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______________________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5029200" y="416052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🤔 我还想知道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029200" y="4361688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______________________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9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📝 今天我们学到了… What We Learned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914400" y="1188720"/>
            <a:ext cx="731520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118872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✔ 🌍  什么是「野外」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303520" y="118872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outdoors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14400" y="1719072"/>
            <a:ext cx="731520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97280" y="1719072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✔ ⭐  探险家三条黄金规则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303520" y="1719072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Golden Rules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14400" y="2249424"/>
            <a:ext cx="731520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097280" y="2249424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✔ 🦝  遇到野生动物怎么办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303520" y="2249424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Wildlife safety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14400" y="2779776"/>
            <a:ext cx="731520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097280" y="2779776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✔ 💧  水边的安全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303520" y="2779776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safety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14400" y="3310128"/>
            <a:ext cx="731520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097280" y="3310128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✔ 🌿  不碰不吃不认识的植物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303520" y="331012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safety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14400" y="3840480"/>
            <a:ext cx="731520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097280" y="384048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✔ ⚡  打雷下雨怎么避险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303520" y="384048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Storm safety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14400" y="4370832"/>
            <a:ext cx="731520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1097280" y="4370832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✔ 😟  走丢了怎么办: 停→听→喊→等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303520" y="4370832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lost: Stop→Listen→Shout→Wait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C5F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💬 还有什么想补充的吗？</a:t>
            </a:r>
            <a:endParaRPr lang="en-US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3A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2A93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86200" y="274320"/>
            <a:ext cx="1371600" cy="1371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小小探险家宣誓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2240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CB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Explorer's Pledge  ·  全班站起来，右手举起跟我念！✋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731520" y="2743200"/>
            <a:ext cx="7680960" cy="384048"/>
          </a:xfrm>
          <a:prstGeom prst="roundRect">
            <a:avLst>
              <a:gd name="adj" fmla="val 19048"/>
            </a:avLst>
          </a:prstGeom>
          <a:solidFill>
            <a:srgbClr val="2A3A2A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74320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🌳  我会爱护自然，不破坏花草树木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943600" y="274320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2A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（双手托起）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31520" y="3182112"/>
            <a:ext cx="7680960" cy="384048"/>
          </a:xfrm>
          <a:prstGeom prst="roundRect">
            <a:avLst>
              <a:gd name="adj" fmla="val 19048"/>
            </a:avLst>
          </a:prstGeom>
          <a:solidFill>
            <a:srgbClr val="2A3A2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318211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🛡️  不认识的东西，我不碰、不吃、不摸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943600" y="318211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2A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（双手背后）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31520" y="3621024"/>
            <a:ext cx="7680960" cy="384048"/>
          </a:xfrm>
          <a:prstGeom prst="roundRect">
            <a:avLst>
              <a:gd name="adj" fmla="val 19048"/>
            </a:avLst>
          </a:prstGeom>
          <a:solidFill>
            <a:srgbClr val="2A3A2A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3621024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👫  遇到危险，我会找大人帮忙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943600" y="362102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2A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（举手）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31520" y="4059936"/>
            <a:ext cx="7680960" cy="384048"/>
          </a:xfrm>
          <a:prstGeom prst="roundRect">
            <a:avLst>
              <a:gd name="adj" fmla="val 19048"/>
            </a:avLst>
          </a:prstGeom>
          <a:solidFill>
            <a:srgbClr val="2A3A2A"/>
          </a:solidFill>
          <a:ln/>
        </p:spPr>
      </p:sp>
      <p:sp>
        <p:nvSpPr>
          <p:cNvPr id="16" name="Text 13"/>
          <p:cNvSpPr/>
          <p:nvPr/>
        </p:nvSpPr>
        <p:spPr>
          <a:xfrm>
            <a:off x="914400" y="4059936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👀  我用五感观察世界，眼看耳听鼻闻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5943600" y="405993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2A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（指眼耳鼻）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31520" y="4498848"/>
            <a:ext cx="7680960" cy="384048"/>
          </a:xfrm>
          <a:prstGeom prst="roundRect">
            <a:avLst>
              <a:gd name="adj" fmla="val 19048"/>
            </a:avLst>
          </a:prstGeom>
          <a:solidFill>
            <a:srgbClr val="2A3A2A"/>
          </a:solidFill>
          <a:ln/>
        </p:spPr>
      </p:sp>
      <p:sp>
        <p:nvSpPr>
          <p:cNvPr id="19" name="Text 16"/>
          <p:cNvSpPr/>
          <p:nvPr/>
        </p:nvSpPr>
        <p:spPr>
          <a:xfrm>
            <a:off x="914400" y="449884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💪  我是勇敢又聪明的小探险家！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943600" y="449884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2A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（竖大拇指）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F2A93B"/>
          </a:solidFill>
          <a:ln/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49040" y="457200"/>
            <a:ext cx="1645920" cy="1645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1945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今天的探险结束啦！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57200" y="2834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CC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今天你学会了：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1371600" y="3154680"/>
            <a:ext cx="1463040" cy="548640"/>
          </a:xfrm>
          <a:prstGeom prst="roundRect">
            <a:avLst>
              <a:gd name="adj" fmla="val 16667"/>
            </a:avLst>
          </a:prstGeom>
          <a:solidFill>
            <a:srgbClr val="2A4A2A"/>
          </a:solidFill>
          <a:ln/>
        </p:spPr>
      </p:sp>
      <p:sp>
        <p:nvSpPr>
          <p:cNvPr id="6" name="Text 3"/>
          <p:cNvSpPr/>
          <p:nvPr/>
        </p:nvSpPr>
        <p:spPr>
          <a:xfrm>
            <a:off x="1371600" y="31546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🦝 动物应对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108960" y="3154680"/>
            <a:ext cx="1463040" cy="548640"/>
          </a:xfrm>
          <a:prstGeom prst="roundRect">
            <a:avLst>
              <a:gd name="adj" fmla="val 16667"/>
            </a:avLst>
          </a:prstGeom>
          <a:solidFill>
            <a:srgbClr val="2A4A2A"/>
          </a:solidFill>
          <a:ln/>
        </p:spPr>
      </p:sp>
      <p:sp>
        <p:nvSpPr>
          <p:cNvPr id="8" name="Text 5"/>
          <p:cNvSpPr/>
          <p:nvPr/>
        </p:nvSpPr>
        <p:spPr>
          <a:xfrm>
            <a:off x="3108960" y="31546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💧 水边安全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846320" y="3154680"/>
            <a:ext cx="1463040" cy="548640"/>
          </a:xfrm>
          <a:prstGeom prst="roundRect">
            <a:avLst>
              <a:gd name="adj" fmla="val 16667"/>
            </a:avLst>
          </a:prstGeom>
          <a:solidFill>
            <a:srgbClr val="2A4A2A"/>
          </a:solidFill>
          <a:ln/>
        </p:spPr>
      </p:sp>
      <p:sp>
        <p:nvSpPr>
          <p:cNvPr id="10" name="Text 7"/>
          <p:cNvSpPr/>
          <p:nvPr/>
        </p:nvSpPr>
        <p:spPr>
          <a:xfrm>
            <a:off x="4846320" y="31546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🌿 植物辨识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583680" y="3154680"/>
            <a:ext cx="1463040" cy="548640"/>
          </a:xfrm>
          <a:prstGeom prst="roundRect">
            <a:avLst>
              <a:gd name="adj" fmla="val 16667"/>
            </a:avLst>
          </a:prstGeom>
          <a:solidFill>
            <a:srgbClr val="2A4A2A"/>
          </a:solidFill>
          <a:ln/>
        </p:spPr>
      </p:sp>
      <p:sp>
        <p:nvSpPr>
          <p:cNvPr id="12" name="Text 9"/>
          <p:cNvSpPr/>
          <p:nvPr/>
        </p:nvSpPr>
        <p:spPr>
          <a:xfrm>
            <a:off x="6583680" y="31546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⚡ 雷雨避险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2A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明天预告: 🏕 搭建迷你营地  🧭 学方向和地图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DDD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准备好继续探险了吗？别忘了带上探险手册！📖</a:t>
            </a:r>
            <a:endParaRPr lang="en-US" sz="13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474720"/>
            <a:ext cx="640080" cy="640080"/>
          </a:xfrm>
          <a:prstGeom prst="rect">
            <a:avLst/>
          </a:prstGeom>
        </p:spPr>
      </p:pic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36576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2026-02-28T02:21:12Z</dcterms:created>
  <dcterms:modified xsi:type="dcterms:W3CDTF">2026-02-28T02:21:12Z</dcterms:modified>
</cp:coreProperties>
</file>