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7772400" cy="1280160"/>
          </a:xfrm>
          <a:prstGeom prst="roundRect">
            <a:avLst/>
          </a:prstGeom>
          <a:solidFill>
            <a:srgbClr val="9DC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243584"/>
            <a:ext cx="7772400" cy="36576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KaiTi"/>
              </a:defRPr>
            </a:pPr>
            <a:r>
              <a:t>暑假中文课程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KaiTi"/>
              </a:defRPr>
            </a:pPr>
            <a:r>
              <a:t>Summer Chinese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E0"/>
                </a:solidFill>
                <a:latin typeface="KaiTi"/>
              </a:defRPr>
            </a:pPr>
            <a:r>
              <a:t>谷雨中文 · 2025 Summer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2C2C"/>
                </a:solidFill>
                <a:latin typeface="KaiTi"/>
              </a:defRPr>
            </a:pPr>
            <a:r>
              <a:t>课程特色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103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562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2C2C"/>
                </a:solidFill>
                <a:latin typeface="KaiTi"/>
              </a:defRPr>
            </a:pPr>
            <a:r>
              <a:t>✏️ 零基础入门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2C2C"/>
                </a:solidFill>
                <a:latin typeface="KaiTi"/>
              </a:defRPr>
            </a:pPr>
            <a:r>
              <a:t>从握笔、笔画、基础汉字学起，认一认、读一读、写一写，轻松开启中文学习。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1783080"/>
            <a:ext cx="2103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8562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2C2C"/>
                </a:solidFill>
                <a:latin typeface="KaiTi"/>
              </a:defRPr>
            </a:pPr>
            <a:r>
              <a:t>🔍 查漏补缺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1488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2C2C"/>
                </a:solidFill>
                <a:latin typeface="KaiTi"/>
              </a:defRPr>
            </a:pPr>
            <a:r>
              <a:t>针对学过中文但基础不牢的孩子，利用暑假复习巩固，补齐短板，迎接新学期更轻松。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1783080"/>
            <a:ext cx="2103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2C2C"/>
                </a:solidFill>
                <a:latin typeface="KaiTi"/>
              </a:defRPr>
            </a:pPr>
            <a:r>
              <a:t>🚀 进阶提升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148840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2C2C"/>
                </a:solidFill>
                <a:latin typeface="KaiTi"/>
              </a:defRPr>
            </a:pPr>
            <a:r>
              <a:t>加强识字、阅读、写字与表达训练，全面提升中文能力，让孩子更上一层楼。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004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2C2C"/>
                </a:solidFill>
                <a:latin typeface="KaiTi"/>
              </a:defRPr>
            </a:pPr>
            <a:r>
              <a:t>课程介绍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566160"/>
            <a:ext cx="6583680" cy="32004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0273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KaiTi"/>
              </a:defRPr>
            </a:pPr>
            <a:r>
              <a:t>级别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60273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KaiTi"/>
              </a:defRPr>
            </a:pPr>
            <a:r>
              <a:t>🎯 适合学生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027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KaiTi"/>
              </a:defRPr>
            </a:pPr>
            <a:r>
              <a:t>📖 教学内容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60273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KaiTi"/>
              </a:defRPr>
            </a:pPr>
            <a:r>
              <a:t>📋 测评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886200"/>
            <a:ext cx="6583680" cy="640080"/>
          </a:xfrm>
          <a:prstGeom prst="roundRect">
            <a:avLst/>
          </a:prstGeom>
          <a:solidFill>
            <a:srgbClr val="FFF8F0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KaiTi"/>
              </a:defRPr>
            </a:pPr>
            <a:r>
              <a:t>Level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9319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零基础，希望在暑假进行中文入门，建立基本识字、写字和阅读兴趣的学生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3931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基础识字、写字、分级阅读，培养阅读兴趣和信心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931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无需测评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544568"/>
            <a:ext cx="658368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902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KaiTi"/>
              </a:defRPr>
            </a:pPr>
            <a:r>
              <a:t>Level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902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已有一定中文学习基础（半年到一年），希望转入部编版体系或巩固提升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459028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《部编版语文一年级上册》重难点课文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590288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测评正确率 &lt; 70% 建议选择本级别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202936"/>
            <a:ext cx="6583680" cy="640080"/>
          </a:xfrm>
          <a:prstGeom prst="roundRect">
            <a:avLst/>
          </a:prstGeom>
          <a:solidFill>
            <a:srgbClr val="FFF8F0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24865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KaiTi"/>
              </a:defRPr>
            </a:pPr>
            <a:r>
              <a:t>Level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248656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已有中文基础（一年到一年半），希望转入部编版体系或巩固提升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524865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《部编版语文一年级下册》重难点课文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248656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测评正确率 &lt; 70% 建议选择本级别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61304"/>
            <a:ext cx="658368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90702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KaiTi"/>
              </a:defRPr>
            </a:pPr>
            <a:r>
              <a:t>Level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90702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已有中文基础（一年半到两年左右），希望转入部编版体系或巩固提升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59070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《部编版语文二年级上册》重难点课文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907024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测评正确率 &lt; 70% 建议选择本级别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6519672"/>
            <a:ext cx="6583680" cy="640080"/>
          </a:xfrm>
          <a:prstGeom prst="roundRect">
            <a:avLst/>
          </a:prstGeom>
          <a:solidFill>
            <a:srgbClr val="FFF8F0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56539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KaiTi"/>
              </a:defRPr>
            </a:pPr>
            <a:r>
              <a:t>Level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65653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已有中文基础（两到三年左右），希望转入部编版体系或巩固提升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656539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《部编版语文二年级下册》重难点课文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6565392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2C2C"/>
                </a:solidFill>
                <a:latin typeface="KaiTi"/>
              </a:defRPr>
            </a:pPr>
            <a:r>
              <a:t>测评正确率 &lt; 70% 建议选择本级别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73609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2C2C"/>
                </a:solidFill>
                <a:latin typeface="KaiTi"/>
              </a:defRPr>
            </a:pPr>
            <a:r>
              <a:t>课程安排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94360" y="7708392"/>
            <a:ext cx="6583680" cy="292608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7744968"/>
            <a:ext cx="6400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E9428"/>
                </a:solidFill>
                <a:latin typeface="KaiTi"/>
              </a:defRPr>
            </a:pPr>
            <a:r>
              <a:t>📅 每个 Session 共 4 节课（每周 2 次 × 2 周）  |  5 个级别  |  每级别 4 个 Session 可选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8092440"/>
            <a:ext cx="150876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81381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9428"/>
                </a:solidFill>
                <a:latin typeface="KaiTi"/>
              </a:defRPr>
            </a:pPr>
            <a:r>
              <a:t>Session 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838504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KaiTi"/>
              </a:defRPr>
            </a:pPr>
            <a:r>
              <a:t>6/8–6/19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31720" y="8092440"/>
            <a:ext cx="150876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77440" y="81381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9428"/>
                </a:solidFill>
                <a:latin typeface="KaiTi"/>
              </a:defRPr>
            </a:pPr>
            <a:r>
              <a:t>Session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7440" y="838504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KaiTi"/>
              </a:defRPr>
            </a:pPr>
            <a:r>
              <a:t>6/22–7/10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77640" y="8092440"/>
            <a:ext cx="150876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23360" y="81381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9428"/>
                </a:solidFill>
                <a:latin typeface="KaiTi"/>
              </a:defRPr>
            </a:pPr>
            <a:r>
              <a:t>Session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23360" y="838504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KaiTi"/>
              </a:defRPr>
            </a:pPr>
            <a:r>
              <a:t>7/13–7/24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23560" y="8092440"/>
            <a:ext cx="150876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0" y="81381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9428"/>
                </a:solidFill>
                <a:latin typeface="KaiTi"/>
              </a:defRPr>
            </a:pPr>
            <a:r>
              <a:t>Session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0" y="838504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KaiTi"/>
              </a:defRPr>
            </a:pPr>
            <a:r>
              <a:t>7/27–8/7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8778240"/>
            <a:ext cx="6583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8833104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KaiTi"/>
              </a:defRPr>
            </a:pPr>
            <a:r>
              <a:t>📋 课程详情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9107424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2C2C"/>
                </a:solidFill>
                <a:latin typeface="KaiTi"/>
              </a:defRPr>
            </a:pPr>
            <a:r>
              <a:t>上课形式：线上小班（Zoom）  |  每班 4–8 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9290304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2C2C"/>
                </a:solidFill>
                <a:latin typeface="KaiTi"/>
              </a:defRPr>
            </a:pPr>
            <a:r>
              <a:t>课时安排：每节课 50 分钟  |  每周 2 次  |  每 Session 共 4 节课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9473184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2C2C"/>
                </a:solidFill>
                <a:latin typeface="KaiTi"/>
              </a:defRPr>
            </a:pPr>
            <a:r>
              <a:t>适合年龄：K–5 年级（按中文水平分级，非按年级分班）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0" y="9829800"/>
            <a:ext cx="7772400" cy="54864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988466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KaiTi"/>
              </a:defRPr>
            </a:pPr>
            <a:r>
              <a:t>立即报名  Register Now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10149840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E0"/>
                </a:solidFill>
                <a:latin typeface="KaiTi"/>
              </a:defRPr>
            </a:pPr>
            <a:r>
              <a:t>谷雨中文  |  www.mygredu.com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