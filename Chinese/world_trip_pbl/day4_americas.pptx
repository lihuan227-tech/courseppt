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822960" cy="822960"/>
          </a:xfrm>
          <a:prstGeom prst="ellipse">
            <a:avLst/>
          </a:prstGeom>
          <a:solidFill>
            <a:srgbClr val="2E7D32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3474720"/>
            <a:ext cx="640080" cy="640080"/>
          </a:xfrm>
          <a:prstGeom prst="ellipse">
            <a:avLst/>
          </a:prstGeom>
          <a:solidFill>
            <a:srgbClr val="FF6F00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45720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920240"/>
            <a:ext cx="5486400" cy="2560320"/>
          </a:xfrm>
          <a:prstGeom prst="roundRect">
            <a:avLst>
              <a:gd name="adj" fmla="val 5357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20116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03120" y="2514600"/>
            <a:ext cx="4937760" cy="1828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6060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航班: GR-004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目的地:  美洲 AMERICAS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日期: June 11, 2025  (6/11)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登机口: Room 101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旅客: ________________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 seatbelts!  系好安全带！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护照进度  Passport Progress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集齐4个签证章就完成环球之旅！Collect all 4 stamps!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920240" cy="1920240"/>
          </a:xfrm>
          <a:prstGeom prst="ellipse">
            <a:avLst/>
          </a:prstGeom>
          <a:solidFill>
            <a:srgbClr val="D32F2F"/>
          </a:solidFill>
          <a:ln w="38100">
            <a:solidFill>
              <a:srgbClr val="D32F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06040" y="1463040"/>
            <a:ext cx="1920240" cy="1920240"/>
          </a:xfrm>
          <a:prstGeom prst="ellipse">
            <a:avLst/>
          </a:prstGeom>
          <a:solidFill>
            <a:srgbClr val="FF8F00"/>
          </a:solidFill>
          <a:ln w="38100">
            <a:solidFill>
              <a:srgbClr val="FF8F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60604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1920240" cy="192024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75488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03720" y="1463040"/>
            <a:ext cx="1920240" cy="19202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7D32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903720" y="15544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0372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90372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3977640"/>
            <a:ext cx="6400800" cy="548640"/>
          </a:xfrm>
          <a:prstGeom prst="roundRect">
            <a:avLst>
              <a:gd name="adj" fmla="val 25000"/>
            </a:avLst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39776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最后一个章！Last stamp today! Let's go!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今天目标  Today's Goals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深入了解美洲3个国家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 USA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🇲🇽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 Mexico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 Brazil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1B5E2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学习目标 Learning Targets: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每个国家的基本信息（国旗、首都、人口、语言）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文化特色与旅行礼节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代表美食与饮食习惯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比较三个国家的异同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认识美洲  About the Americas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北美洲 + 南美洲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Continents!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1546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35个国家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Countries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亚马逊雨林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Rainforest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7432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安第斯山脉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Andes Mountains (7,000km)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5468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15468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从北极到南极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5468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Arctic to Antarctic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3504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03504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英/西/葡语为主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English/Spanish/Portuguese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美洲横跨南北半球，拥有丰富的自然和文化多样性！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美洲地图  Americas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2743200" cy="1645920"/>
          </a:xfrm>
          <a:prstGeom prst="roundRect">
            <a:avLst>
              <a:gd name="adj" fmla="val 11111"/>
            </a:avLst>
          </a:prstGeom>
          <a:solidFill>
            <a:srgbClr val="1565C0">
              <a:alpha val="85000"/>
            </a:srgbClr>
          </a:solidFill>
          <a:ln w="3175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0972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0" y="2834640"/>
            <a:ext cx="2011680" cy="1097280"/>
          </a:xfrm>
          <a:prstGeom prst="roundRect">
            <a:avLst>
              <a:gd name="adj" fmla="val 16667"/>
            </a:avLst>
          </a:prstGeom>
          <a:solidFill>
            <a:srgbClr val="E65100">
              <a:alpha val="85000"/>
            </a:srgbClr>
          </a:solidFill>
          <a:ln w="31750">
            <a:solidFill>
              <a:srgbClr val="E65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346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Mexico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0" y="2743200"/>
            <a:ext cx="2560320" cy="1828800"/>
          </a:xfrm>
          <a:prstGeom prst="roundRect">
            <a:avLst>
              <a:gd name="adj" fmla="val 10000"/>
            </a:avLst>
          </a:prstGeom>
          <a:solidFill>
            <a:srgbClr val="2E7D32">
              <a:alpha val="85000"/>
            </a:srgbClr>
          </a:solidFill>
          <a:ln w="3175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274320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Brazil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777240"/>
            <a:ext cx="2286000" cy="548640"/>
          </a:xfrm>
          <a:prstGeom prst="roundRect">
            <a:avLst>
              <a:gd name="adj" fmla="val 33333"/>
            </a:avLst>
          </a:prstGeom>
          <a:solidFill>
            <a:srgbClr val="90A4AE">
              <a:alpha val="4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777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加拿大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Canada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3108960"/>
            <a:ext cx="1371600" cy="731520"/>
          </a:xfrm>
          <a:prstGeom prst="roundRect">
            <a:avLst>
              <a:gd name="adj" fmla="val 25000"/>
            </a:avLst>
          </a:prstGeom>
          <a:solidFill>
            <a:srgbClr val="00897B">
              <a:alpha val="4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310896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中美洲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America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3200400"/>
            <a:ext cx="914400" cy="1645920"/>
          </a:xfrm>
          <a:prstGeom prst="roundRect">
            <a:avLst>
              <a:gd name="adj" fmla="val 20000"/>
            </a:avLst>
          </a:prstGeom>
          <a:solidFill>
            <a:srgbClr val="7CB342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3200400"/>
            <a:ext cx="914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安第斯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109728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1188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今天去这3个国家!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9440" y="1691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49440" y="2971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今天我们去这三个国家！Today we visit these 3 countries!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美国概览  USA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liber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国旗：星条旗 50星13条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人口：约3.3亿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语言：无官方语言！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24028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(英语是事实上的通用语)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606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首都：华盛顿DC Washington DC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063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面积：世界第三大国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520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🗽 象征：自由女神像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美国是世界上最多元文化的国家之一！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首都：华盛顿DC  Capital: Washington DC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d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首都不是纽约！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白宫 White House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总统的家和办公室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国会大厦 Capitol Building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美国国会开会的地方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林肯纪念堂 Lincoln Memorial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纪念第16任总统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史密森尼博物馆 Smithsonian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世界最大的博物馆群(免费!)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DC不属于任何一个州，是特别行政区！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🗽 自由女神像  Statue of Liberty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liber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法国1886年送的礼物！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高93米（约30层楼高）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代表自由和民主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每年400万游客参观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位于纽约港口的小岛上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右手举火炬，左手拿书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「给我你的疲惫和贫穷的人民」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——女神底座上的诗句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🌈 美国多元文化  American Diversity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ny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移民国家 Nation of Immigrants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唐人街 Chinatown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纽约、旧金山都有中国城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华人修铁路历史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19世纪华工建造太平洋铁路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好莱坞 Hollywood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全球电影中心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美国宇航局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1969年人类首次登月！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4160520"/>
            <a:ext cx="320040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4206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「你知道美国有哪些华人名人吗？」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美国是一个由来自世界各地的移民建立的国家！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🍔 美国美食  American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hamburg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🍔 汉堡 Hamburger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最具代表性的美式食物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🌭 热狗 Hot Dog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看棒球赛必吃！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🥧 苹果派 Apple Pie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「像苹果派一样美国」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🦃 感恩节火鸡 Thanksgiving Turkey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每年11月全家团聚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🍖 BBQ 烤肉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德州BBQ最有名！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可口可乐 Coca-Cola 1886年诞生于亚特兰大！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美国饮食深受世界各地移民影响！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美国礼节  USA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在美国旅行要注意：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握手微笑——美国人见面最常见的方式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给小费15-20%！（餐厅、出租车都要给）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注意个人空间——保持一定距离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直呼名字OK——老师也可以叫名字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 鞋子可以穿进屋（和亚洲不同！）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说话很直接——Yes就是Yes，No就是No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准时很重要——迟到被认为不礼貌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小费文化是美国最独特的文化之一！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美国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美国的首都是哪里？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华盛顿DC (不是纽约!)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美国国旗有几颗星？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50颗 (代表50个州)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自由女神像是谁送的？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法国 (1886年)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在美国吃饭要给多少小费？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15-20%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美国有官方语言吗？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没有！(英语是通用语)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美国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自由女神像有多高？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93米 (约30层楼)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华人在美国建造了什么？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太平洋铁路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感恩节吃什么？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火鸡 Turkey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在美国可以穿鞋进屋吗？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可以！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可口可乐诞生于哪一年？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1886年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墨西哥概览  Mexico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chichenitz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国旗：绿白红 + 鹰蛇仙人掌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人口：约1.3亿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语言：西班牙语 Spanish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首都：墨西哥城 Mexico City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🌵 仙人掌是国家的象征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古文明：玛雅 + 阿兹特克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世界上辣椒种类最多！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墨西哥国旗上的鹰叼蛇站在仙人掌上——来自阿兹特克传说！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玛雅与阿兹特克文明  Maya &amp; Aztec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chichenitz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奇琴伊察金字塔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世界新七大奇迹之一！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玛雅人发明了数字0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和印度一样独立发明的！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阿兹特克太阳石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精确的天文历法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墨西哥城建在湖上！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阿兹特克首都在湖中的岛上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玛雅和阿兹特克是美洲最伟大的古文明！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💀 亡灵节  Day of the Dead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dayofde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不是恐怖的！Not scary!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纪念去世的亲人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彩色骷髅 Colorful skulls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万寿菊花 Marigold flowers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搭建祭坛 Build altars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放上去世亲人喜欢的食物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11月1-2日庆祝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迪士尼电影「Coco 寻梦环游记」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就是关于亡灵节的！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🌮 墨西哥美食  Mexican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tac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🌮 Taco 墨西哥卷饼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最具代表性的墨西哥食物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Guacamole 牛油果酱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美国超级碗必备!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🌯 Burrito 大卷饼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包着米饭豆子肉和酱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🌽 玉米有59种颜色！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包括蓝色和黑色的玉米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566160"/>
            <a:ext cx="3200400" cy="182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6576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🍫 巧克力是阿兹特克人发明的！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原来是苦的，加了糖才变甜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墨西哥礼节  Mexico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在墨西哥旅行要注意：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 Hola! 拥抱 + 亲脸颊——热情的问候方式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93392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时间比较随意——迟到15-30分钟很正常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478024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午餐是最重要的一餐（下午2-4点！）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62656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 非常热情友好——陌生人也会打招呼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447288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说一点西班牙语会让墨西哥人很开心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 不怕辣？墨西哥辣椒可能超出想象！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墨西哥人是世界上最热情好客的民族之一！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墨西哥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墨西哥国旗上有什么动物？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鹰叼蛇站在仙人掌上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墨西哥人说什么语言？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西班牙语 Spanish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奇琴伊察是什么？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玛雅金字塔（世界七大奇迹之一）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玛雅人发明了什么数字？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数字 0 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亡灵节是恐怖的节日吗？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不是！是纪念去世亲人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墨西哥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巧克力是谁发明的？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阿兹特克人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墨西哥人怎么打招呼？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拥抱 + 亲脸颊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玉米有多少种颜色？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59种！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「Coco寻梦环游记」讲的是什么节日？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亡灵节 Day of the Dead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墨西哥一天中最重要的一餐是？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午餐（下午2-4点）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巴西概览  Brazil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r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国旗：绿黄蓝 + 星空图案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人口：约2.1亿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语言：葡萄牙语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49240" y="22402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(不是西班牙语！)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49240" y="26060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首都：巴西利亚 Brasilia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4924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(不是里约！)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49240" y="32461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足球王国——5次世界杯冠军！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49240" y="3703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南美洲面积最大的国家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巴西是南美洲最大的国家，也是足球的王国！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🌿 亚马逊雨林  Amazon Rainforest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amaz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地球之肺 Lungs of Earth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产生全球20%的氧气！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世界上最大的热带雨林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拥有世界10%的物种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亚马逊河是世界最大的河流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(水量是第二名的10倍!)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面积等于25个日本！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如果亚马逊消失，地球气候将剧变！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嘉年华 Carnival  世界最大的派对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americas_carniv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世界最大的派对！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在里约热内卢举行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桑巴舞 Samba dancing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华丽的服装和花车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持续5天不停歇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200万人上街跳舞！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在天主教大斋节前举行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嘉年华是巴西人一年中最期待的活动！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🍖 巴西美食  Brazilian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303520" cy="3931920"/>
          </a:xfrm>
          <a:prstGeom prst="roundRect">
            <a:avLst>
              <a:gd name="adj" fmla="val 3488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🍖 Churrasco 巴西烤肉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服务员拿大串肉走来走去!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🫘 Feijoada 黑豆饭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巴西的国民菜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🧀 Pao de Queijo 奶酪面包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圆圆的Q弹奶酪面包球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🫐 Acai Bowl 巴西莓碗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超级食物，从亚马逊来的！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3657600"/>
            <a:ext cx="48463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巴西是世界第一咖啡产国！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06440" y="868680"/>
            <a:ext cx="3017520" cy="39319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8932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🍖 巴西饮食特色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89320" y="14173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巴西烤肉餐厅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吃到饱(rodizio)!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绿牌=继续上肉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红牌=我吃饱了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63640" y="2194560"/>
            <a:ext cx="210312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989320" y="22860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巴西是世界上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最大的咖啡出口国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全球1/3咖啡豆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来自巴西！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3063240"/>
            <a:ext cx="210312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315468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巴西莓(Acai)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在巴西冲浪者中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最受欢迎的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能量食物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巴西礼节  Brazil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在巴西旅行要注意：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😘  亲两次脸颊——见面和告别都这样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93392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 非常热情外向——巴西人很爱聊天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478024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站得很近——这是友好的表示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62656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 竖大拇指 = OK/好的（常用手势）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447288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 千万别说足球不好——足球是巴西人的生命！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迟到很正常——巴西时间比较灵活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巴西人是世界上最热情开朗的民族之一！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巴西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巴西人说什么语言？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葡萄牙语 (不是西班牙语!)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巴西的首都是哪里？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巴西利亚 (不是里约!)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亚马逊雨林产生多少氧气？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全球20%！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嘉年华持续几天？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巴西赢了几次世界杯？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5次！最多的国家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巴西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巴西烤肉餐厅怎么叫停？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翻红牌(我吃饱了)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在巴西见面怎么打招呼？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亲两次脸颊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巴西是世界第几大咖啡产国？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第一！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亚马逊河水量是第二名的几倍？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10倍！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在巴西千万不能说什么不好？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足球！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🌽 美洲改变世界的食物  Foods that Changed the World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这些食物都来自美洲！Without the Americas, no...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" y="1417320"/>
            <a:ext cx="1600200" cy="31089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15087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82880" y="21488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番茄 Tomato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51760"/>
            <a:ext cx="123444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274320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没有番茄就没有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披萨和炒鸡蛋！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1417320"/>
            <a:ext cx="1600200" cy="31089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0240" y="15087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🥔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920240" y="21488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土豆 Potato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651760"/>
            <a:ext cx="1234440" cy="1828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6" name="Text 14"/>
          <p:cNvSpPr/>
          <p:nvPr/>
        </p:nvSpPr>
        <p:spPr>
          <a:xfrm>
            <a:off x="1965960" y="274320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没有土豆就没有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薯条和薯片！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0" y="1417320"/>
            <a:ext cx="1600200" cy="31089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FFA0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0" y="15087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🌽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657600" y="21488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A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玉米 Corn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651760"/>
            <a:ext cx="1234440" cy="18288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21" name="Text 19"/>
          <p:cNvSpPr/>
          <p:nvPr/>
        </p:nvSpPr>
        <p:spPr>
          <a:xfrm>
            <a:off x="3703320" y="274320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现在全球主食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养活几十亿人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94960" y="1417320"/>
            <a:ext cx="1600200" cy="31089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79554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94960" y="15087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🍫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394960" y="21488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55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巧克力 Chocolate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0" y="2651760"/>
            <a:ext cx="1234440" cy="18288"/>
          </a:xfrm>
          <a:prstGeom prst="rect">
            <a:avLst/>
          </a:prstGeom>
          <a:solidFill>
            <a:srgbClr val="795548"/>
          </a:solidFill>
          <a:ln/>
        </p:spPr>
      </p:sp>
      <p:sp>
        <p:nvSpPr>
          <p:cNvPr id="26" name="Text 24"/>
          <p:cNvSpPr/>
          <p:nvPr/>
        </p:nvSpPr>
        <p:spPr>
          <a:xfrm>
            <a:off x="5440680" y="274320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阿兹特克人的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神圣饮品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0" y="1417320"/>
            <a:ext cx="1600200" cy="31089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132320" y="1508760"/>
            <a:ext cx="1600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132320" y="21488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辣椒 Chili Pepper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0" y="2651760"/>
            <a:ext cx="123444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1" name="Text 29"/>
          <p:cNvSpPr/>
          <p:nvPr/>
        </p:nvSpPr>
        <p:spPr>
          <a:xfrm>
            <a:off x="7178040" y="274320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没有辣椒就没有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四川火锅！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美洲的食物改变了全世界的饮食习惯！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 打招呼练习 (3-5 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站起来和旁边的同学练习！Stand up and practice!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 USA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「Hi!」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🇲🇽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5468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 Mexico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651760"/>
            <a:ext cx="2103120" cy="182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 + 「Hola!」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 Brazil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5176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亲两次脸颊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「Oi!」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尊重每个文化的问候方式！Respect every culture's greeting!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上午竞赛  Morning Challenge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132320" cy="22860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280160"/>
            <a:ext cx="6583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分组比赛！Team Challenge!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说出3个国家的首都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每个国家的打招呼方式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3: 说出每个国家的代表食物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4: 说出美洲改变世界的食物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3657600"/>
            <a:ext cx="7132320" cy="1097280"/>
          </a:xfrm>
          <a:prstGeom prst="roundRect">
            <a:avLst>
              <a:gd name="adj" fmla="val 12500"/>
            </a:avLst>
          </a:prstGeom>
          <a:solidFill>
            <a:srgbClr val="FF6F0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88720" y="37033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🧩 Project 提醒：今天是最后一页！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明天文化展览，准备好你的护照！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6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371600" cy="1371600"/>
          </a:xfrm>
          <a:prstGeom prst="ellipse">
            <a:avLst/>
          </a:prstGeom>
          <a:solidFill>
            <a:srgbClr val="FFD54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下午开始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8F5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0" y="256032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 → 对比总结 → 语言学习 → Project Time!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快速复习  Quick Review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说出3个国家 + 每个国家一个特别的礼节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美国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15468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5468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🇲🇽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15468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墨西哥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103120" cy="182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5468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巴西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「谁能第一个说出来？」Who can answer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美洲三国文化对比 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solidFill>
            <a:srgbClr val="1B5E2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solidFill>
            <a:srgbClr val="E65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Hi!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 Hola!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Oi!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英语(非官方)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西班牙语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葡萄牙语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汉堡 BBQ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 玉米饼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 Churrasco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重要节日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感恩节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亡灵节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嘉年华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守时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很准时!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比较灵活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也比较灵活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solidFill>
            <a:srgbClr val="1B5E2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给小费!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59种玉米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足球=生命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三个国家各有特色，你最想去哪个？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共同点与不同  Similarities &amp; Differences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都在美洲大陆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都曾是欧洲殖民地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都是多元文化国家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都热爱体育运动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打招呼都很热情友好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FFF3E0"/>
          </a:solidFill>
          <a:ln w="15240">
            <a:solidFill>
              <a:srgbClr val="FF6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1417320"/>
            <a:ext cx="3200400" cy="1828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语言不同（英/西/葡）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打招呼亲密程度不同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对时间的态度不同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美国准时/墨巴灵活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小费文化只有美国有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 Travel Tips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「如果你去美洲旅行，要记住：」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在美国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记得给小费！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握手微笑说Hi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准时很重要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5468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在墨西哥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103120" cy="1828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拥抱说Hola！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午餐最重要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迟到没关系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在巴西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103120" cy="182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亲脸颊说Oi！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别说足球不好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竖大拇指=OK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4114800"/>
            <a:ext cx="6400800" cy="640080"/>
          </a:xfrm>
          <a:prstGeom prst="roundRect">
            <a:avLst>
              <a:gd name="adj" fmla="val 21429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4114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尊重每个国家的文化是最重要的！Respect every culture!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solidFill>
            <a:srgbClr val="1B5E2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 bao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 rou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BBQ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火鸡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huo ji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turkey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雨林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lin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rainforest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金字塔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 zi ta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移民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 min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immigrant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亡灵节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ling jie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of Dead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fei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嘉年华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nian hua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carnival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足球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qiu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跟老师一起读！Read with the teacher!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「我喜欢吃___」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960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eat ___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138160" cy="91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我喜欢吃汉堡/taco/巴西烤肉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「在___，人们用___打招呼」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___, people greet by ___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138160" cy="91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在巴西，人们亲两次脸颊说Oi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611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「去___旅行要注意___」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to ___, be careful about ___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138160" cy="91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去美国旅行要注意给15-20%小费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和同伴一起练习！Practice with a partner!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 角色扮演：华人移民 (10-15 min)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「你是一个华人移民，到美洲三个国家生活！」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到美国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握手说Hi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去唐人街吃中餐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记得给小费！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2: 到墨西哥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拥抱说Hola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吃taco和guacamole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下午2点吃午餐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3: 到巴西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亲脸颊说Oi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去吃巴西烤肉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一起看足球赛！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分层 Differentiation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模仿动作 + 说国家名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「你好！我想吃___」+ 做动作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完整对话 + 介绍文化礼节 + 华人移民经历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护照美洲页（最后一页!）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Passport 美洲页 Template — 这是护照的最后一页！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Where am I?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美洲 (美国/墨西哥/巴西)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29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👀 What did I see?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自由女神像 / 奇琴伊察 / 亚马逊雨林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715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🍜 What did I eat?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971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汉堡 / taco / 巴西烤肉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01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Cultural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小费文化 / 亡灵节 / 嘉年华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My Sentence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我喜欢吃___。在___，人们...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用彩色笔画出你最喜欢的！Draw your favorite!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Differentiated Tasks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画图 + 写词  (汉堡 / taco / 烤肉)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EAF6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 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 see ___. I eat ___. In Brazil, people kiss cheeks.」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8503920" cy="1280160"/>
          </a:xfrm>
          <a:prstGeom prst="roundRect">
            <a:avLst>
              <a:gd name="adj" fmla="val 10714"/>
            </a:avLst>
          </a:prstGeom>
          <a:solidFill>
            <a:srgbClr val="F3E5F5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 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 the USA, I saw the Statue of Liberty. I learned about tipping 15-20%.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Mexico, Day of the Dead is not scary — it celebrates family love.」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准备展览  Prepare for Exhibition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明天是文化展览日！Tomorrow is Exhibition Day!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46304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展览准备清单 Exhibition Checklist: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检查护照4页都完成了吗？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亚洲 + 非洲 + 欧洲 + 美洲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每一页都有图画和文字吗？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准备好向同学和家长介绍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用中文说：我去了___，看到了___，吃了___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想一想：四天旅行中你最喜欢哪个国家？为什么？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🗣️ 分享时间  Sharing Time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和同伴分享你的美洲页！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Americas page with a partner!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1B5E2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句型提示 Sentence Starters: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「我去了___，看到了___。」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「我最喜欢吃___，因为___。」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「在___旅行，要注意___。」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「我觉得最有趣的是___。」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美洲签证章  Americas Visa Stamp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657600" cy="3200400"/>
          </a:xfrm>
          <a:prstGeom prst="ellipse">
            <a:avLst/>
          </a:prstGeom>
          <a:solidFill>
            <a:srgbClr val="1B5E20"/>
          </a:solidFill>
          <a:ln w="50800">
            <a:solidFill>
              <a:srgbClr val="2E7D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2801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30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</a:t>
            </a:r>
            <a:endParaRPr lang="en-US" sz="3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VISITED</a:t>
            </a:r>
            <a:endParaRPr lang="en-US" sz="3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6/11/2025</a:t>
            </a:r>
            <a:endParaRPr lang="en-US" sz="3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 · 墨西哥 · 巴西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集齐4个签证章！All 4 stamps collected!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D32F2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1645920"/>
            <a:ext cx="457200" cy="45720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11680" y="1645920"/>
            <a:ext cx="457200" cy="45720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51760" y="16459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明天：文化展览日！</a:t>
            </a:r>
            <a:endParaRPr lang="en-US" sz="3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Tomorrow: Culture Exhibition Day!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554480"/>
            <a:ext cx="36576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828800"/>
            <a:ext cx="6400800" cy="2560320"/>
          </a:xfrm>
          <a:prstGeom prst="roundRect">
            <a:avLst>
              <a:gd name="adj" fmla="val 5357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920240"/>
            <a:ext cx="5852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航班: GR-005 (Final!)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Destination: 文化展览 EXHIBITION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带上你的护照，向大家展示你的环球之旅！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passport to everyone!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准备好用中文介绍你最喜欢的国家！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tomorrow, explorers!  明天见，小探险家们！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4: 美洲 Americas</dc:title>
  <dc:subject>PptxGenJS Presentation</dc:subject>
  <dc:creator>谷雨中文 GR EDU</dc:creator>
  <cp:lastModifiedBy>谷雨中文 GR EDU</cp:lastModifiedBy>
  <cp:revision>1</cp:revision>
  <dcterms:created xsi:type="dcterms:W3CDTF">2026-03-19T21:37:23Z</dcterms:created>
  <dcterms:modified xsi:type="dcterms:W3CDTF">2026-03-19T21:37:23Z</dcterms:modified>
</cp:coreProperties>
</file>