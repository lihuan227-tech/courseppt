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0"/>
            <a:ext cx="822960" cy="822960"/>
          </a:xfrm>
          <a:prstGeom prst="ellipse">
            <a:avLst/>
          </a:prstGeom>
          <a:solidFill>
            <a:srgbClr val="1565C0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0" y="3474720"/>
            <a:ext cx="640080" cy="640080"/>
          </a:xfrm>
          <a:prstGeom prst="ellipse">
            <a:avLst/>
          </a:prstGeom>
          <a:solidFill>
            <a:srgbClr val="FFC107">
              <a:alpha val="4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572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Explorer Camp</a:t>
            </a:r>
            <a:endParaRPr lang="en-US" sz="36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环球探索沉浸式夏令营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2286000" y="1691640"/>
            <a:ext cx="4572000" cy="36576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8" name="Shape 6"/>
          <p:cNvSpPr/>
          <p:nvPr/>
        </p:nvSpPr>
        <p:spPr>
          <a:xfrm>
            <a:off x="1828800" y="1920240"/>
            <a:ext cx="5486400" cy="2560320"/>
          </a:xfrm>
          <a:prstGeom prst="roundRect">
            <a:avLst>
              <a:gd name="adj" fmla="val 5357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03120" y="201168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BOARDING PASS  登机牌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103120" y="2514600"/>
            <a:ext cx="4937760" cy="18288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26060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航班: GR-003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目的地:  欧洲 EUROPE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日期: June 10, 2025  (6/10)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登机口: Room 101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旅客: ________________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 seatbelts!  系好安全带！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🪪 护照进度  Passport Progress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371600" cy="1371600"/>
          </a:xfrm>
          <a:prstGeom prst="ellipse">
            <a:avLst/>
          </a:prstGeom>
          <a:solidFill>
            <a:srgbClr val="D32F2F"/>
          </a:solidFill>
          <a:ln w="38100">
            <a:solidFill>
              <a:srgbClr val="D32F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8016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 Asia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48840" y="1188720"/>
            <a:ext cx="1371600" cy="1371600"/>
          </a:xfrm>
          <a:prstGeom prst="ellipse">
            <a:avLst/>
          </a:prstGeom>
          <a:solidFill>
            <a:srgbClr val="FF8F00"/>
          </a:solidFill>
          <a:ln w="38100">
            <a:solidFill>
              <a:srgbClr val="FF8F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48840" y="128016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非洲 Africa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48840" y="20116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84048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840480" y="128016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 Europe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53212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5532120" y="128016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美洲 Americas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2376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897B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7223760" y="128016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展览 Exhibition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18288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3063240"/>
            <a:ext cx="7680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已完成: 亚洲 ✓  非洲 ✓</a:t>
            </a:r>
            <a:endParaRPr lang="en-US" sz="16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今天: 欧洲 — 法国、意大利、英国!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stamps collected, 3 more to go!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今天目标  Today's Goals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深入了解欧洲3个国家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🇫🇷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 France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🇮🇹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9184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 Italy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26480" y="1508760"/>
            <a:ext cx="2560320" cy="1463040"/>
          </a:xfrm>
          <a:prstGeom prst="roundRect">
            <a:avLst>
              <a:gd name="adj" fmla="val 9375"/>
            </a:avLst>
          </a:prstGeom>
          <a:solidFill>
            <a:srgbClr val="FFEBEE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🇬🇧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 UK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5240">
            <a:solidFill>
              <a:srgbClr val="0D47A1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2461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学习目标 Learning Targets: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每个国家的基本信息（国旗、首都、人口、语言）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文化特色与旅行礼节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代表美食与饮食习惯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比较三个国家的异同 + 丝绸之路连接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认识欧洲  About Europe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432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44个国家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Countries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15468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文艺复兴发源地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5468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Birthplace of Renaissance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9144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03504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工业革命起源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35040" y="20116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Revolution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27432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7.5亿人口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7432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 Million People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5468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315468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200+种语言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15468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Languages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283464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035040" y="29260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035040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古堡与教堂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035040" y="39319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Castles &amp; Cathedrals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欧洲是现代文明的重要发源地！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0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🗺️ 欧洲地图  Europe Map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371600" y="1097280"/>
            <a:ext cx="1463040" cy="1280160"/>
          </a:xfrm>
          <a:prstGeom prst="roundRect">
            <a:avLst>
              <a:gd name="adj" fmla="val 14286"/>
            </a:avLst>
          </a:prstGeom>
          <a:solidFill>
            <a:srgbClr val="C62828">
              <a:alpha val="85000"/>
            </a:srgbClr>
          </a:solidFill>
          <a:ln w="3175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1097280"/>
            <a:ext cx="1463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🇬🇧 英国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86000" y="2286000"/>
            <a:ext cx="1828800" cy="1463040"/>
          </a:xfrm>
          <a:prstGeom prst="roundRect">
            <a:avLst>
              <a:gd name="adj" fmla="val 12500"/>
            </a:avLst>
          </a:prstGeom>
          <a:solidFill>
            <a:srgbClr val="1565C0">
              <a:alpha val="85000"/>
            </a:srgbClr>
          </a:solidFill>
          <a:ln w="3175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228600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🇫🇷 法国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40480" y="1371600"/>
            <a:ext cx="1371600" cy="1188720"/>
          </a:xfrm>
          <a:prstGeom prst="roundRect">
            <a:avLst>
              <a:gd name="adj" fmla="val 15385"/>
            </a:avLst>
          </a:prstGeom>
          <a:solidFill>
            <a:srgbClr val="616161">
              <a:alpha val="4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1371600"/>
            <a:ext cx="1371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🇩🇪 德国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Germany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0" y="2560320"/>
            <a:ext cx="1188720" cy="1828800"/>
          </a:xfrm>
          <a:prstGeom prst="roundRect">
            <a:avLst>
              <a:gd name="adj" fmla="val 15385"/>
            </a:avLst>
          </a:prstGeom>
          <a:solidFill>
            <a:srgbClr val="388E3C">
              <a:alpha val="85000"/>
            </a:srgbClr>
          </a:solidFill>
          <a:ln w="31750">
            <a:solidFill>
              <a:srgbClr val="388E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0" y="2560320"/>
            <a:ext cx="1188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🇮🇹 意大利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3200400"/>
            <a:ext cx="1645920" cy="1188720"/>
          </a:xfrm>
          <a:prstGeom prst="roundRect">
            <a:avLst>
              <a:gd name="adj" fmla="val 15385"/>
            </a:avLst>
          </a:prstGeom>
          <a:solidFill>
            <a:srgbClr val="FF8F00">
              <a:alpha val="4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20040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🇪🇸 西班牙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Spain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0" y="822960"/>
            <a:ext cx="2286000" cy="914400"/>
          </a:xfrm>
          <a:prstGeom prst="roundRect">
            <a:avLst>
              <a:gd name="adj" fmla="val 20000"/>
            </a:avLst>
          </a:prstGeom>
          <a:solidFill>
            <a:srgbClr val="00897B">
              <a:alpha val="4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0" y="8229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北欧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Nordic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43600" y="1371600"/>
            <a:ext cx="2286000" cy="2286000"/>
          </a:xfrm>
          <a:prstGeom prst="roundRect">
            <a:avLst>
              <a:gd name="adj" fmla="val 8000"/>
            </a:avLst>
          </a:prstGeom>
          <a:solidFill>
            <a:srgbClr val="90A4AE">
              <a:alpha val="4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0" y="137160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东欧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 Europe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0" y="3200400"/>
            <a:ext cx="1371600" cy="1097280"/>
          </a:xfrm>
          <a:prstGeom prst="roundRect">
            <a:avLst>
              <a:gd name="adj" fmla="val 16667"/>
            </a:avLst>
          </a:prstGeom>
          <a:solidFill>
            <a:srgbClr val="1976D2">
              <a:alpha val="4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0" y="32004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🇬🇷 希腊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今天我们去这三个国家！Today we visit these 3 countries!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🇫🇷 法国概览  France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eiffe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国旗：蓝白红 三色旗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人口：约6700万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语言：法语 French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3774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首都：巴黎 Paris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834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🍷 世界美食之都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3291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艺术与时尚中心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3749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启蒙运动发源地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法国是世界上最受欢迎的旅游国家！France is the most visited country!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🏛️ 首都：巴黎  Capital: Paris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par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巴黎被称为「浪漫之都」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塞纳河穿过城市中心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每年2200万游客来访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世界时尚之都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2024年举办了奥运会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657600"/>
            <a:ext cx="320040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7490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巴黎的名字来自古代高卢部落「Parisii」！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🗼 埃菲尔铁塔  Eiffel Tower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eiffe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1889年建成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高324米（约100层楼高！）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原计划20年后拆除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（因为广播天线被保留下来了）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每年700万人参观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晚上整点会闪灯5分钟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用了750万公斤的铁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铁塔本来只是临时建筑，现在是法国的标志！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🖼️ 卢浮宫与蒙娜丽莎  Louvre &amp; Mona Lisa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louv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世界最大的博物馆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拥有38万件藏品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玻璃金字塔入口是标志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最出名的是蒙娜丽莎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蒙娜丽莎很小！</a:t>
            </a: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只有 77 x 53 cm!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全部看完要走约15公里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卢浮宫每年有约1000万游客！The most visited museum!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🥐 法国美食  French Food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croiss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🥐 可颂 Croissant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325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法国人每天早上的最爱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34924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🥖 法棍 Baguette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011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法国人每天吃3000万根！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34924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🧀 奶酪 Cheese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2697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法国有400多种奶酪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🐌 蜗牛 Escargot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4924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法国的特色菜！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49240" y="3749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🍬 马卡龙 Macaron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349240" y="4069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五颜六色的甜点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法国旅行礼节  French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🇫🇷 在法国旅行要注意：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💋  见面亲脸颊「la bise」（左右各一次或多次）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 不要催服务员（被认为很不礼貌！）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8658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🥖  面包放在桌上，不放在盘子里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 午餐通常1-2个小时（法国人很重视吃饭）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打招呼先说「Bonjour!」（你好）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🏪  商店周日经常不营业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1422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💐  送花不要送菊花（只在葬礼用）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在法国，慢慢享受生活是一种艺术！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法国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法国的国旗是什么颜色？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蓝、白、红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法国的首都是哪里？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巴黎 Paris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埃菲尔铁塔有多高？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324米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埃菲尔铁塔原来计划多少年后拆？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20年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卢浮宫最有名的画是什么？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蒙娜丽莎 Mona Lisa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法国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蒙娜丽莎有多大？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只有77 x 53 cm！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法国有多少种奶酪？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400多种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法国人见面怎么打招呼？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亲脸颊 la bise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法国人每天吃多少根法棍？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3000万根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在法国为什么不能催服务员？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被认为很不礼貌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🇮🇹 意大利概览  Italy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colosse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国旗：绿白红 三色旗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人口：约5900万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语言：意大利语 Italian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3774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首都：罗马 Rome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834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👢 国土形状像一只靴子！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3291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文艺复兴发源地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3749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罗马帝国的故乡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意大利的国土像一只高跟靴子，你看到了吗？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🏛️ 首都：罗马  Capital: Rome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colosse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罗马有2700年历史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斗兽场能容纳5万人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许愿池每天收到3000欧元硬币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万神殿有2000年历史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梵蒂冈在罗马城内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（世界上最小的国家！）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840480"/>
            <a:ext cx="320040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9319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「条条大路通罗马」All roads lead to Rome!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🏗️ 比萨斜塔与威尼斯  Pisa &amp; Venice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ven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9601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🏗️ 比萨斜塔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349240" y="132588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倾斜约4度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建了200年才完工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地基太软导致倾斜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49240" y="2468880"/>
            <a:ext cx="320040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9" name="Text 6"/>
          <p:cNvSpPr/>
          <p:nvPr/>
        </p:nvSpPr>
        <p:spPr>
          <a:xfrm>
            <a:off x="534924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🚣 威尼斯水城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49240" y="292608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由118个小岛组成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没有汽车，只有船！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贡多拉(Gondola)是传统小船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城市正在慢慢下沉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威尼斯水城 — 世界上最独特的城市之一！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🍕 意大利美食  Italian Food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pizz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🍕 披萨 Pizza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325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Margherita是最经典的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34924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🍝 意面 Pasta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011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有350多种形状！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34924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🍦 冰淇淋 Gelato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2697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比普通冰淇淋更顺滑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☕ 浓缩咖啡 Espresso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4924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意大利人的每日必备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49240" y="3749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🍰 提拉米苏 Tiramisu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349240" y="4069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意思是「带我走」！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意大利旅行礼节  Italian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🇮🇹 在意大利旅行要注意：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 见面说「Ciao!」+ 喜欢用手势说话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🍕  不要加菠萝在披萨上！（意大利人会生气）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8658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早上以后不要在咖啡里加牛奶（cappuccino只在早上喝）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⛪  进教堂要穿长袖长裤（表示尊重）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🍝  吃意面不要用勺子卷（用叉子就好）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🧈  面包不蘸橄榄油（那是美国人的做法）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1422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给小费不是必须的（和美国不一样）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意大利人对食物非常认真和骄傲！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意大利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意大利的国土像什么形状？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一只靴子！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意大利的首都在哪里？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罗马 Rome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斗兽场能容纳多少人？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5万人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比萨斜塔倾斜多少度？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约4度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威尼斯有多少个小岛？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118个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意大利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意大利面有多少种形状？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350多种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「Tiramisu」是什么意思？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「带我走」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为什么不能加菠萝在披萨上？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意大利人觉得不正宗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Cappuccino什么时候喝？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只在早上喝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世界上最小的国家在哪个城市里？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梵蒂冈在罗马城内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🇬🇧 英国概览  UK Overview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bigb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国旗：Union Jack 米字旗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人口：约6700万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49240" y="19202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语言：英语 English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3774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首都：伦敦 London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49240" y="28346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有国王！King Charles III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32918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工业革命发源地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374904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⚽ 现代足球的故乡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英国的全名是「大不列颠及北爱尔兰联合王国」！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🏙️ 首都：伦敦  Capital: London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lond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大本钟 Big Ben — 地标建筑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白金汉宫 — 国王住在这里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伦敦塔桥 — 可以打开让船通过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双层巴士 — 红色的，很有名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红色电话亭 — 英国的标志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泰晤士河穿过城市中心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349240" y="3840480"/>
            <a:ext cx="3200400" cy="182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8" name="Text 5"/>
          <p:cNvSpPr/>
          <p:nvPr/>
        </p:nvSpPr>
        <p:spPr>
          <a:xfrm>
            <a:off x="5349240" y="39319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伦敦有300多个博物馆，大部分免费！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☕ 下午茶文化  Afternoon Tea Culture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14800" cy="3840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60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🇬🇧 英国下午茶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0876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英国人每天喝1.65亿杯茶！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下午茶时间：3-5点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吃scones(司康饼)和三明治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先倒茶再加牛奶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三层点心架是经典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868680"/>
            <a:ext cx="4114800" cy="3840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24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960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中国茶文化对比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937760" y="1371600"/>
            <a:ext cx="3566160" cy="1828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50876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中国是茶的故乡（5000年历史）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绿茶、红茶、乌龙茶等种类多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功夫茶 — 讲究泡茶技艺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茶是待客之道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中国茶传到英国变成下午茶！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茶从中国传到英国，变成了不一样的文化！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🍟 英国美食  British Food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fishandchip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🐟 炸鱼薯条 Fish &amp; Chips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49240" y="1325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英国最有名的食物！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34924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🍳 英式早餐 Full English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349240" y="2011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鸡蛋+培根+香肠+豆子+吐司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34924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🥧 牧羊人派 Shepherd's Pie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2697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肉馅加土豆泥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🍖 Sunday Roast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4924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周日全家一起吃烤肉大餐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49240" y="3749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☕ 茶 Tea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349240" y="4069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英国人的灵魂饮品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英国旅行礼节  British Etiquette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03920" cy="3840480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058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🇬🇧 在英国旅行要注意：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一定要排队！（英国人最讨厌插队）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9476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 多说 Please 和 Thank you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8658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不要问别人收入多少（很不礼貌）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🌧️  聊天气是最安全的话题（英国经常下雨）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靠左开车！（过马路先看右边）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70332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🤫  公共场所说话声音要小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1422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对皇室要表示尊重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英国人非常有礼貌，排队是一种美德！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英国 Check Understanding (1/2)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英国的国旗叫什么名字？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Union Jack 米字旗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英国现在的国王是谁？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King Charles III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英国人每天喝多少杯茶？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1.65亿杯！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英国人最讨厌什么？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插队！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英国开车靠哪边？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靠左边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英国 Check Understanding (2/2)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3327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332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91440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英国最有名的食物是什么？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91440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炸鱼薯条 Fish &amp; Chips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81051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8105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69164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下午茶的时间是几点？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69164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3-5点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8775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5877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246888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英国人最喜欢聊什么话题？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46888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天气！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2461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36499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3649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24612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白金汉宫里住着谁？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24612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国王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023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1480" y="4142232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41422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4023360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伦敦有多少个博物馆？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4023360"/>
            <a:ext cx="3429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300多个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🐪 丝绸之路  The Silk Road</a:t>
            </a:r>
            <a:endParaRPr lang="en-US" sz="2800" dirty="0"/>
          </a:p>
        </p:txBody>
      </p:sp>
      <p:pic>
        <p:nvPicPr>
          <p:cNvPr id="4" name="Image 0" descr="/Users/Huan/projects/summercourse/Chinese/world_trip_pbl/images/europe_silkroa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86868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86868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0D47A1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349240" y="100584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连接中国和欧洲的贸易之路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长约6400公里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中国出口：丝绸、茶叶、瓷器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欧洲出口：金银、宝石、玻璃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马可波罗 Marco Polo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来自意大利，到中国旅行了24年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丝绸之路不只运货，还传播了文化、宗教和技术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丝绸之路把亚洲和欧洲连在了一起！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Mini Role Play  打招呼练习 (3-5 min)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站起来和旁边的同学练习！Stand up and practice!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🇫🇷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432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 France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210312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 +「Bonjour!」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5468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🇮🇹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15468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 Italy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2651760"/>
            <a:ext cx="210312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5468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手势 +「Ciao!」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2651760" cy="2743200"/>
          </a:xfrm>
          <a:prstGeom prst="roundRect">
            <a:avLst>
              <a:gd name="adj" fmla="val 5172"/>
            </a:avLst>
          </a:prstGeom>
          <a:solidFill>
            <a:srgbClr val="FFEBEE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🇬🇧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035040" y="2148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 UK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09360" y="2651760"/>
            <a:ext cx="2103120" cy="182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27889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 +「Hello!」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排队！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每个国家的问候方式都不一样！Every culture greets differently!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🏆 上午竞赛  Morning Challenge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188720"/>
            <a:ext cx="7132320" cy="3200400"/>
          </a:xfrm>
          <a:prstGeom prst="roundRect">
            <a:avLst>
              <a:gd name="adj" fmla="val 4286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88720" y="1371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分组比赛！Team Challenge!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说出3个国家的首都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每个国家的打招呼方式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3: 说出每个国家不能做的事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4: 丝绸之路运了什么货物？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最快最准确的组得分！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C1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457200"/>
            <a:ext cx="1371600" cy="1371600"/>
          </a:xfrm>
          <a:prstGeom prst="ellipse">
            <a:avLst/>
          </a:prstGeom>
          <a:solidFill>
            <a:srgbClr val="FFD54F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☀️ 下午开始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3F2F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Afternoon Session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743200" y="2560320"/>
            <a:ext cx="36576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复习 → 对比总结 → 语言学习 → Project Time!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快速复习  Quick Review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说出3个国家 + 每个国家一个特别的礼节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🇫🇷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法国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210312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15468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5468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🇮🇹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315468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意大利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429000" y="2834640"/>
            <a:ext cx="210312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17" name="Text 15"/>
          <p:cNvSpPr/>
          <p:nvPr/>
        </p:nvSpPr>
        <p:spPr>
          <a:xfrm>
            <a:off x="315468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5468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5172"/>
            </a:avLst>
          </a:prstGeom>
          <a:solidFill>
            <a:srgbClr val="FFEBEE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035040" y="15544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🇬🇧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035040" y="22860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英国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309360" y="2834640"/>
            <a:ext cx="2103120" cy="182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0" y="2971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特别的礼节：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035040" y="33832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___?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「谁能第一个说出来？」Who can answer first?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欧洲三国文化对比  Comparison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1645920" cy="576072"/>
          </a:xfrm>
          <a:prstGeom prst="rect">
            <a:avLst/>
          </a:prstGeom>
          <a:solidFill>
            <a:srgbClr val="0D47A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868680"/>
            <a:ext cx="2194560" cy="576072"/>
          </a:xfrm>
          <a:prstGeom prst="rect">
            <a:avLst/>
          </a:prstGeom>
          <a:solidFill>
            <a:srgbClr val="1565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🇫🇷 法国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06240" y="868680"/>
            <a:ext cx="2194560" cy="576072"/>
          </a:xfrm>
          <a:prstGeom prst="rect">
            <a:avLst/>
          </a:prstGeom>
          <a:solidFill>
            <a:srgbClr val="388E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🇮🇹 意大利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868680"/>
            <a:ext cx="2194560" cy="576072"/>
          </a:xfrm>
          <a:prstGeom prst="rect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86868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🇬🇧 英国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444752"/>
            <a:ext cx="1645920" cy="576072"/>
          </a:xfrm>
          <a:prstGeom prst="rect">
            <a:avLst/>
          </a:prstGeom>
          <a:solidFill>
            <a:srgbClr val="0D47A1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444752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01168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 la bise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0624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Ciao + 手势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444752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4475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 + Hello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020824"/>
            <a:ext cx="1645920" cy="576072"/>
          </a:xfrm>
          <a:prstGeom prst="rect">
            <a:avLst/>
          </a:prstGeom>
          <a:solidFill>
            <a:srgbClr val="0D47A1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020824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代表食物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011680" y="2020824"/>
            <a:ext cx="2194560" cy="576072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168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可颂/法棍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06240" y="2020824"/>
            <a:ext cx="2194560" cy="576072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624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披萨/意面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0" y="2020824"/>
            <a:ext cx="2194560" cy="576072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020824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炸鱼薯条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2596896"/>
            <a:ext cx="1645920" cy="576072"/>
          </a:xfrm>
          <a:prstGeom prst="rect">
            <a:avLst/>
          </a:prstGeom>
          <a:solidFill>
            <a:srgbClr val="0D47A1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596896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著名地标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01168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1168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埃菲尔铁塔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0624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0624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斗兽场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0" y="2596896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596896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大本钟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3172968"/>
            <a:ext cx="1645920" cy="576072"/>
          </a:xfrm>
          <a:prstGeom prst="rect">
            <a:avLst/>
          </a:prstGeom>
          <a:solidFill>
            <a:srgbClr val="0D47A1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172968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重要文化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011680" y="3172968"/>
            <a:ext cx="2194560" cy="576072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1168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时尚/美食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206240" y="3172968"/>
            <a:ext cx="2194560" cy="576072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0624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文艺复兴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400800" y="3172968"/>
            <a:ext cx="2194560" cy="576072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3172968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下午茶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3749040"/>
            <a:ext cx="1645920" cy="576072"/>
          </a:xfrm>
          <a:prstGeom prst="rect">
            <a:avLst/>
          </a:prstGeom>
          <a:solidFill>
            <a:srgbClr val="0D47A1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3749040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不能做的事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01168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1168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催服务员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20624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0624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菠萝配披萨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400800" y="3749040"/>
            <a:ext cx="2194560" cy="576072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3749040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插队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325112"/>
            <a:ext cx="1645920" cy="576072"/>
          </a:xfrm>
          <a:prstGeom prst="rect">
            <a:avLst/>
          </a:prstGeom>
          <a:solidFill>
            <a:srgbClr val="0D47A1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325112"/>
            <a:ext cx="164592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特别的传统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011680" y="4325112"/>
            <a:ext cx="2194560" cy="576072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1168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午餐1-2小时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206240" y="4325112"/>
            <a:ext cx="2194560" cy="576072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0624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早上后不喝cappuccino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00800" y="4325112"/>
            <a:ext cx="2194560" cy="576072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0" y="4325112"/>
            <a:ext cx="219456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聊天气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三个国家各有特色，你最想去哪个？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🤔 共同点与不同  Similarities &amp; Differences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114800" cy="3657600"/>
          </a:xfrm>
          <a:prstGeom prst="roundRect">
            <a:avLst>
              <a:gd name="adj" fmla="val 3750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共同点 Similarities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1417320"/>
            <a:ext cx="320040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都在欧洲，地理位置很近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都有悠久的历史和丰富的文化遗产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都非常重视美食文化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都有世界著名的博物馆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都通过丝绸之路和中国有联系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3657600"/>
          </a:xfrm>
          <a:prstGeom prst="roundRect">
            <a:avLst>
              <a:gd name="adj" fmla="val 3750"/>
            </a:avLst>
          </a:prstGeom>
          <a:solidFill>
            <a:srgbClr val="FFF3E0"/>
          </a:solidFill>
          <a:ln w="15240">
            <a:solidFill>
              <a:srgbClr val="FFC107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C1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❌ 不同点 Differences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0" y="1417320"/>
            <a:ext cx="3200400" cy="18288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打招呼方式不同（亲脸/Ciao/握手）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开车方向不同（英国靠左）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政治制度不同（英国有国王）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食物风格不同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法国精致/意大利热情/英国传统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🧳 旅行小贴士  Travel Tips Summary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「如果你去欧洲旅行，要记住：」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🇫🇷 在法国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2103120" cy="182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说Bonjour！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不要催服务员！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慢慢享受午餐！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5468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5468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🇮🇹 在意大利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2011680"/>
            <a:ext cx="2103120" cy="18288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说Ciao！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不加菠萝在披萨上！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进教堂穿长袖！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2651760" cy="2560320"/>
          </a:xfrm>
          <a:prstGeom prst="roundRect">
            <a:avLst>
              <a:gd name="adj" fmla="val 5357"/>
            </a:avLst>
          </a:prstGeom>
          <a:solidFill>
            <a:srgbClr val="FFEBEE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508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🇬🇧 在英国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011680"/>
            <a:ext cx="2103120" cy="1828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214884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记得排队！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多说Please!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过马路先看右！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371600" y="4114800"/>
            <a:ext cx="6400800" cy="640080"/>
          </a:xfrm>
          <a:prstGeom prst="roundRect">
            <a:avLst>
              <a:gd name="adj" fmla="val 21429"/>
            </a:avLst>
          </a:prstGeom>
          <a:solidFill>
            <a:srgbClr val="0D47A1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71600" y="41148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尊重每个国家的文化是最重要的！Respect every culture!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📝 生词卡  Vocabulary Cards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280160" cy="384048"/>
          </a:xfrm>
          <a:prstGeom prst="rect">
            <a:avLst/>
          </a:prstGeom>
          <a:solidFill>
            <a:srgbClr val="0D47A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汉字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54480" y="868680"/>
            <a:ext cx="1828800" cy="384048"/>
          </a:xfrm>
          <a:prstGeom prst="rect">
            <a:avLst/>
          </a:prstGeom>
          <a:solidFill>
            <a:srgbClr val="0D47A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8686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868680"/>
            <a:ext cx="1280160" cy="384048"/>
          </a:xfrm>
          <a:prstGeom prst="rect">
            <a:avLst/>
          </a:prstGeom>
          <a:solidFill>
            <a:srgbClr val="0D47A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868680"/>
            <a:ext cx="1828800" cy="384048"/>
          </a:xfrm>
          <a:prstGeom prst="rect">
            <a:avLst/>
          </a:prstGeom>
          <a:solidFill>
            <a:srgbClr val="0D47A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8686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汉字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868680"/>
            <a:ext cx="1280160" cy="384048"/>
          </a:xfrm>
          <a:prstGeom prst="rect">
            <a:avLst/>
          </a:prstGeom>
          <a:solidFill>
            <a:srgbClr val="0D47A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拼音 Pinyin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0" y="868680"/>
            <a:ext cx="1280160" cy="384048"/>
          </a:xfrm>
          <a:prstGeom prst="rect">
            <a:avLst/>
          </a:prstGeom>
          <a:solidFill>
            <a:srgbClr val="0D47A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8686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English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铁塔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554480" y="125272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54480" y="12527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ta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252728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2527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排队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9224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 dui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0" y="1252728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125272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queue/line up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1636776"/>
            <a:ext cx="128016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博物馆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554480" y="1636776"/>
            <a:ext cx="182880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54480" y="16367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 wu guan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83280" y="1636776"/>
            <a:ext cx="128016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museum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1636776"/>
            <a:ext cx="182880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16367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丝绸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492240" y="1636776"/>
            <a:ext cx="128016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9224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chou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0" y="1636776"/>
            <a:ext cx="128016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1636776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国王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554480" y="2020824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554480" y="20208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guo wang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38328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8328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3440" y="2020824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0" y="202082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教堂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49224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9224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jiao tang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72400" y="2020824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0" y="2020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404872"/>
            <a:ext cx="128016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432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披萨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1554480" y="2404872"/>
            <a:ext cx="182880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554480" y="24048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sa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383280" y="2404872"/>
            <a:ext cx="128016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328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pizza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663440" y="2404872"/>
            <a:ext cx="182880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0" y="24048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下午茶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492240" y="2404872"/>
            <a:ext cx="128016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9224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 wu cha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72400" y="2404872"/>
            <a:ext cx="1280160" cy="384048"/>
          </a:xfrm>
          <a:prstGeom prst="rect">
            <a:avLst/>
          </a:prstGeom>
          <a:solidFill>
            <a:srgbClr val="E3F2FD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72400" y="24048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tea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7432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奶酪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1554480" y="2788920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554480" y="27889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 lao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38328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38328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cheese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663440" y="2788920"/>
            <a:ext cx="18288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0" y="27889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礼貌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49224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9224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mao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772400" y="2788920"/>
            <a:ext cx="1280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772400" y="278892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跟老师一起读！Read with the teacher!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句型练习  Sentence Patterns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「我喜欢吃___」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960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 to eat ___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8138160" cy="914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630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我喜欢吃可颂/披萨/炸鱼薯条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2860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「在___，人们用___打招呼」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0" y="22860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___, people greet by ___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8138160" cy="9144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8892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在法国，人们用亲脸颊打招呼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566160"/>
            <a:ext cx="850392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6118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「去___旅行要注意___」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36118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traveling to ___, be careful about ___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138160" cy="914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11480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去英国旅行要注意排队和靠左开车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和同伴一起练习！Practice with a partner!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Role Play  角色扮演 (10-15 min)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「你到了欧洲三个国家旅行！」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1: 到法国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亲脸颊说「Bonjour」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慢慢吃可颂和法棍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2: 到意大利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4612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手势+「Ciao」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吃披萨（不加菠萝！）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371600"/>
            <a:ext cx="2651760" cy="1645920"/>
          </a:xfrm>
          <a:prstGeom prst="roundRect">
            <a:avLst>
              <a:gd name="adj" fmla="val 8333"/>
            </a:avLst>
          </a:prstGeom>
          <a:solidFill>
            <a:srgbClr val="FFEBEE"/>
          </a:solidFill>
          <a:ln w="1524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4173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 3: 到英国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握手说「Hello」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排队买炸鱼薯条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46120"/>
            <a:ext cx="8503920" cy="146304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5240">
            <a:solidFill>
              <a:srgbClr val="7B1FA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291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分层 Differentiation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零基础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模仿动作 + 说国家名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Level 2-3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「Bonjour! 我想吃___」+ 做动作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0" y="36576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Level 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0" y="3977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完整对话 + 介绍文化礼节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Project Time!  护照欧洲页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Passport 欧洲页 Template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Where am I?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欧洲 (法国/意大利/英国)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0299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👀 What did I see?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埃菲尔铁塔 / 斗兽场 / 大本钟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27157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🍽️ What did I eat?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29718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可颂 / 披萨 / 炸鱼薯条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401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🎭 Cultural Discovery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亲脸颊 / Ciao手势 / 排队文化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8229600" cy="566928"/>
          </a:xfrm>
          <a:prstGeom prst="roundRect">
            <a:avLst>
              <a:gd name="adj" fmla="val 24194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0873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My Sentence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3434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我喜欢吃___。在___，人们...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用彩色笔画出你最喜欢的！Draw your favorite!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📊 Project 分层  Differentiated Tasks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8503920" cy="1097280"/>
          </a:xfrm>
          <a:prstGeom prst="roundRect">
            <a:avLst>
              <a:gd name="adj" fmla="val 12500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8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零基础 Beginners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画图 + 写词  (可颂 / 披萨 / 炸鱼薯条)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2194560"/>
            <a:ext cx="8503920" cy="1097280"/>
          </a:xfrm>
          <a:prstGeom prst="roundRect">
            <a:avLst>
              <a:gd name="adj" fmla="val 12500"/>
            </a:avLst>
          </a:prstGeom>
          <a:solidFill>
            <a:srgbClr val="E3F2FD"/>
          </a:solidFill>
          <a:ln w="1524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240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Level 2-3 Intermediate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 see the Eiffel Tower. I eat pizza. In the UK, people queue.」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3474720"/>
            <a:ext cx="8503920" cy="1280160"/>
          </a:xfrm>
          <a:prstGeom prst="roundRect">
            <a:avLst>
              <a:gd name="adj" fmla="val 10714"/>
            </a:avLst>
          </a:prstGeom>
          <a:solidFill>
            <a:srgbClr val="F3E5F5"/>
          </a:solidFill>
          <a:ln w="15240">
            <a:solidFill>
              <a:srgbClr val="7B1FA2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3520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F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Level 4 Advanced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88620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「In France, I saw the Louvre. I ate croissants and baguettes.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traveling there, don't rush the waiter because the French value slow dining.」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📄 Project 示范  Example Page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14400" y="914400"/>
            <a:ext cx="7315200" cy="3840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240">
            <a:solidFill>
              <a:srgbClr val="00897B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00584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89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My Europe Page  我的欧洲页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28800" y="1463040"/>
            <a:ext cx="5486400" cy="18288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160020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I visited: 欧洲 Europe — 法国, 意大利, 英国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2075688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👀 I saw: 埃菲尔铁塔, 斗兽场, 大本钟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2551176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I ate: 可颂 croissants, 披萨 pizza, 炸鱼薯条 fish &amp; chips!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3026664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I learned: 在法国亲脸颊，在意大利说Ciao，在英国排队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3502152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My sentence: 我最喜欢吃披萨。在英国，人们排队很重要。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6583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[Draw your favorite food or landmark here!]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F2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896112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45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🗣️ 分享时间  Sharing Time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和同伴分享你的欧洲页！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 your Europe page with a partner!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82296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0D47A1"/>
            </a:solidFill>
            <a:prstDash val="solid"/>
          </a:ln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202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句型提示 Sentence Starters: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「我去了___，看到了___。」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「我最喜欢吃___，因为___。」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「在___旅行，要注意___。」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「我觉得最有趣的是___。」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🪪 欧洲签证章  Europe Visa Stamp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0" y="1097280"/>
            <a:ext cx="3657600" cy="3200400"/>
          </a:xfrm>
          <a:prstGeom prst="ellipse">
            <a:avLst/>
          </a:prstGeom>
          <a:solidFill>
            <a:srgbClr val="0D47A1"/>
          </a:solidFill>
          <a:ln w="50800">
            <a:solidFill>
              <a:srgbClr val="1565C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2743200" y="128016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</a:t>
            </a:r>
            <a:endParaRPr lang="en-US" sz="3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 VISITED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6/10/2025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 · 意大利 · 英国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恭喜你完成欧洲之旅！Congratulations!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8961120" cy="54864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✈️ 明天航班</a:t>
            </a:r>
            <a:endParaRPr lang="en-US" sz="3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Tomorrow's Flight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0" y="1554480"/>
            <a:ext cx="3657600" cy="36576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828800"/>
            <a:ext cx="6400800" cy="2377440"/>
          </a:xfrm>
          <a:prstGeom prst="roundRect">
            <a:avLst>
              <a:gd name="adj" fmla="val 576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16200000">
              <a:srgbClr val="BDBD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45920" y="1920240"/>
            <a:ext cx="5852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Flight 航班: GR-004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Destination 目的地: 美洲 AMERICAS</a:t>
            </a:r>
            <a:endParaRPr lang="en-US" sz="1800" dirty="0"/>
          </a:p>
          <a:p>
            <a:pPr algn="ctr" indent="0" marL="0">
              <a:buNone/>
            </a:pPr>
            <a:endParaRPr lang="en-US" sz="18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明天我们去美洲！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0D47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那里有什么有名的地方？</a:t>
            </a:r>
            <a:endParaRPr lang="en-US" sz="1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we fly to the Americas! What famous places are there?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tomorrow, explorers!  明天见，小探险家们！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783455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616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Explorer Camp · Day 3: 欧洲 Europe</dc:title>
  <dc:subject>PptxGenJS Presentation</dc:subject>
  <dc:creator>谷雨中文 GR EDU</dc:creator>
  <cp:lastModifiedBy>谷雨中文 GR EDU</cp:lastModifiedBy>
  <cp:revision>1</cp:revision>
  <dcterms:created xsi:type="dcterms:W3CDTF">2026-03-19T21:35:55Z</dcterms:created>
  <dcterms:modified xsi:type="dcterms:W3CDTF">2026-03-19T21:35:55Z</dcterms:modified>
</cp:coreProperties>
</file>