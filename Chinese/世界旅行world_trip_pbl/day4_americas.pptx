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Camp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环球探索沉浸式夏令营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2286000" y="1600200"/>
            <a:ext cx="4572000" cy="36576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航班 GR-004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美洲 AMERICAS · 6/11 周四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828800" y="256032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0" y="2560320"/>
            <a:ext cx="5486400" cy="384048"/>
          </a:xfrm>
          <a:prstGeom prst="roundRect">
            <a:avLst>
              <a:gd name="adj" fmla="val 28571"/>
            </a:avLst>
          </a:prstGeom>
          <a:solidFill>
            <a:srgbClr val="FF6F00"/>
          </a:solidFill>
          <a:ln/>
        </p:spPr>
      </p:sp>
      <p:sp>
        <p:nvSpPr>
          <p:cNvPr id="10" name="Shape 8"/>
          <p:cNvSpPr/>
          <p:nvPr/>
        </p:nvSpPr>
        <p:spPr>
          <a:xfrm>
            <a:off x="1828800" y="2743200"/>
            <a:ext cx="5486400" cy="20116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1" name="Text 9"/>
          <p:cNvSpPr/>
          <p:nvPr/>
        </p:nvSpPr>
        <p:spPr>
          <a:xfrm>
            <a:off x="1828800" y="2560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BOARDING PASS  登机牌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03120" y="301752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航班</a:t>
            </a:r>
            <a:endParaRPr lang="en-US" sz="11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GR-004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30175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出发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 Europe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108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✈️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577840" y="30175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目的地</a:t>
            </a:r>
            <a:endParaRPr lang="en-US" sz="11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美洲 Americas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0" y="4389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🇺🇸  🇲🇽  🇧🇷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🗺️ 护照进度  Passport Progress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80160"/>
            <a:ext cx="1463040" cy="1051560"/>
          </a:xfrm>
          <a:prstGeom prst="roundRect">
            <a:avLst>
              <a:gd name="adj" fmla="val 10435"/>
            </a:avLst>
          </a:prstGeom>
          <a:solidFill>
            <a:srgbClr val="2E7D32"/>
          </a:solidFill>
          <a:ln/>
          <a:effectLst>
            <a:outerShdw sx="100000" sy="100000" kx="0" ky="0" algn="bl" rotWithShape="0" blurRad="381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80160"/>
            <a:ext cx="1463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亚洲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87452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E20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103120" y="1280160"/>
            <a:ext cx="1463040" cy="1051560"/>
          </a:xfrm>
          <a:prstGeom prst="roundRect">
            <a:avLst>
              <a:gd name="adj" fmla="val 10435"/>
            </a:avLst>
          </a:prstGeom>
          <a:solidFill>
            <a:srgbClr val="2E7D32"/>
          </a:solidFill>
          <a:ln/>
          <a:effectLst>
            <a:outerShdw sx="100000" sy="100000" kx="0" ky="0" algn="bl" rotWithShape="0" blurRad="381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03120" y="1280160"/>
            <a:ext cx="1463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非洲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E20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49040" y="1280160"/>
            <a:ext cx="1463040" cy="1051560"/>
          </a:xfrm>
          <a:prstGeom prst="roundRect">
            <a:avLst>
              <a:gd name="adj" fmla="val 10435"/>
            </a:avLst>
          </a:prstGeom>
          <a:solidFill>
            <a:srgbClr val="2E7D32"/>
          </a:solidFill>
          <a:ln/>
          <a:effectLst>
            <a:outerShdw sx="100000" sy="100000" kx="0" ky="0" algn="bl" rotWithShape="0" blurRad="381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49040" y="1280160"/>
            <a:ext cx="1463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欧洲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6636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E20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394960" y="1280160"/>
            <a:ext cx="1463040" cy="1051560"/>
          </a:xfrm>
          <a:prstGeom prst="roundRect">
            <a:avLst>
              <a:gd name="adj" fmla="val 10435"/>
            </a:avLst>
          </a:prstGeom>
          <a:solidFill>
            <a:srgbClr val="FF6F00"/>
          </a:solidFill>
          <a:ln/>
          <a:effectLst>
            <a:outerShdw sx="100000" sy="100000" kx="0" ky="0" algn="bl" rotWithShape="0" blurRad="381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94960" y="1280160"/>
            <a:ext cx="1463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美洲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1228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E20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040880" y="1280160"/>
            <a:ext cx="1463040" cy="1051560"/>
          </a:xfrm>
          <a:prstGeom prst="roundRect">
            <a:avLst>
              <a:gd name="adj" fmla="val 10435"/>
            </a:avLst>
          </a:prstGeom>
          <a:solidFill>
            <a:srgbClr val="BDBDBD"/>
          </a:solidFill>
          <a:ln/>
          <a:effectLst>
            <a:outerShdw sx="100000" sy="100000" kx="0" ky="0" algn="bl" rotWithShape="0" blurRad="38100" dist="25400" dir="16200000">
              <a:srgbClr val="999999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040880" y="1280160"/>
            <a:ext cx="1463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文化展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2834640"/>
            <a:ext cx="73152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28346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🎒 3个签证章！最后一个！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「集齐签证，明天展示你的护照！」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💪 今天拿到最后一个签证章，明天就是文化展！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📋 今天目标  Today's Goals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234440"/>
            <a:ext cx="4023360" cy="2286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☀️ 上午 Morning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认识美洲大陆 (北美+南美)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深入了解美国、墨西哥、巴西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每国: 概览→文化→美食→检查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迷你角色扮演 + 竞赛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0584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6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754880" y="1234440"/>
            <a:ext cx="4023360" cy="22860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🌙 下午 Afternoon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55448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三国对比表 + 共同点/不同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生词/句型/Role Play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完成护照美洲页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准备明天展览 + 签证章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371600" y="320040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1B5E2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371600" y="32004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🌎 这是最后一站！完成后，明天就展示你的完整护照！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认识美洲  Meet the Americas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4023360" cy="411480"/>
          </a:xfrm>
          <a:prstGeom prst="roundRect">
            <a:avLst>
              <a:gd name="adj" fmla="val 22222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120140"/>
            <a:ext cx="4023360" cy="2057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9144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北美洲 North America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3657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23个国家和地区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美国、墨西哥、加拿大...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世界最大经济体在这里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14400"/>
            <a:ext cx="4023360" cy="411480"/>
          </a:xfrm>
          <a:prstGeom prst="roundRect">
            <a:avLst>
              <a:gd name="adj" fmla="val 22222"/>
            </a:avLst>
          </a:prstGeom>
          <a:solidFill>
            <a:srgbClr val="FF6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754880" y="1120140"/>
            <a:ext cx="4023360" cy="2057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9144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南美洲 South America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417320"/>
            <a:ext cx="3657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12个国家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巴西、阿根廷、秘鲁...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亚马逊雨林 + 安第斯山脉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834640"/>
            <a:ext cx="8412480" cy="1371600"/>
          </a:xfrm>
          <a:prstGeom prst="roundRect">
            <a:avLst>
              <a:gd name="adj" fmla="val 8000"/>
            </a:avLst>
          </a:prstGeom>
          <a:solidFill>
            <a:srgbClr val="F1F8E9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29260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美洲总共约35个国家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亚马逊雨林 = 世界最大热带雨林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⛰️ 安第斯山脉 = 世界最长山脉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🌽 番茄、土豆、玉米、巧克力、辣椒 — 全部来自美洲！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你知道哪些食物是从美洲传到中国的？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美国概览  USA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4206240" cy="3108960"/>
          </a:xfrm>
          <a:prstGeom prst="roundRect">
            <a:avLst>
              <a:gd name="adj" fmla="val 4412"/>
            </a:avLst>
          </a:prstGeom>
          <a:solidFill>
            <a:srgbClr val="3C3B6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4206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🗽 自由女神像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Statue of Liberty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663440" y="914400"/>
            <a:ext cx="41148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25400">
            <a:solidFill>
              <a:srgbClr val="3C3B6E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91440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3C3B6E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20140"/>
            <a:ext cx="4114800" cy="205740"/>
          </a:xfrm>
          <a:prstGeom prst="rect">
            <a:avLst/>
          </a:prstGeom>
          <a:solidFill>
            <a:srgbClr val="3C3B6E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基本信息 Key Facts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1417320"/>
            <a:ext cx="374904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🏳️ 国旗：星条旗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50颗星 = 50个州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13条纹 = 最初13个殖民地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人口：3.3亿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语言：英语（没有官方语言！）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首都：华盛顿DC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（不是纽约！）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50个州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美国居然没有官方语言！你知道吗？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美国文化与礼节  USA Culture &amp;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42062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3C3B6E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14400"/>
            <a:ext cx="4206240" cy="411480"/>
          </a:xfrm>
          <a:prstGeom prst="roundRect">
            <a:avLst>
              <a:gd name="adj" fmla="val 22222"/>
            </a:avLst>
          </a:prstGeom>
          <a:solidFill>
            <a:srgbClr val="3C3B6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20140"/>
            <a:ext cx="4206240" cy="205740"/>
          </a:xfrm>
          <a:prstGeom prst="rect">
            <a:avLst/>
          </a:prstGeom>
          <a:solidFill>
            <a:srgbClr val="3C3B6E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914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🌟 文化亮点 Culture Highlights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384048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🗽 自由女神是法国送的！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好莱坞 Hollywood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NASA太空探索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移民国家 = 多元文化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🏮 唐人街 Chinatown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3291840"/>
          </a:xfrm>
          <a:prstGeom prst="roundRect">
            <a:avLst>
              <a:gd name="adj" fmla="val 3333"/>
            </a:avLst>
          </a:prstGeom>
          <a:solidFill>
            <a:srgbClr val="FFF3E0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FF6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120140"/>
            <a:ext cx="4114800" cy="2057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礼节 Etiquette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74904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见面握手 + 微笑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保持个人空间（别站太近）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给小费！餐厅15-20%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直呼名字OK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（不像中国要叫「老师」「阿姨」）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👟 鞋子可以穿进屋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（和日本相反！）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在美国餐厅不给小费会怎样？服务员会很不高兴！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美国美食  USA Food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🍔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汉堡 hamburger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0" y="9144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0" y="960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🌭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37744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热狗 hot dog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9144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97680" y="960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🥧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38912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苹果派 apple pie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10312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432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🦃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65760" y="26060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烤火鸡 roast turkey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（感恩节）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0" y="210312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8600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🥩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377440" y="26060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BBQ烧烤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97680" y="2103120"/>
            <a:ext cx="4572000" cy="1005840"/>
          </a:xfrm>
          <a:prstGeom prst="roundRect">
            <a:avLst>
              <a:gd name="adj" fmla="val 10909"/>
            </a:avLst>
          </a:prstGeom>
          <a:solidFill>
            <a:srgbClr val="FFF3E0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480560" y="214884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🥤 美国发明了可口可乐！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「美国是移民国家，所以有全世界的食物！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中餐在美国也超受欢迎」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3291840"/>
            <a:ext cx="8503920" cy="868680"/>
          </a:xfrm>
          <a:prstGeom prst="roundRect">
            <a:avLst>
              <a:gd name="adj" fmla="val 12632"/>
            </a:avLst>
          </a:prstGeom>
          <a:solidFill>
            <a:srgbClr val="1B5E2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3337560"/>
            <a:ext cx="8138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「美国是一个移民大熔炉 melting pot — 你能在美国吃到全世界的食物！」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你在美国最喜欢吃什么？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美国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3C3B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美国首都是哪里？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华盛顿DC（不是纽约！）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3C3B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餐厅要给多少小费？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15-20%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3C3B6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自由女神是谁送的？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法国！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3C3B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美国有官方语言吗？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没有！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3C3B6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27" name="Text 25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自由女神是谁送的？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法国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46634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6634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全对的同学举手！All correct? Raise your hand!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美国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3C3B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美国有官方语言吗？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没有！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3C3B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在餐厅要给多少小费？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15-20%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3C3B6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美国有多少个州？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50个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3C3B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唐人街(Chinatown)说明了什么？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美国是移民国家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3C3B6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27" name="Text 25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在美国可以穿鞋进别人家吗？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一般可以（和日本相反！）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46634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6634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全对的同学举手！All correct? Raise your hand!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墨西哥概览  Mexico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4206240" cy="3108960"/>
          </a:xfrm>
          <a:prstGeom prst="roundRect">
            <a:avLst>
              <a:gd name="adj" fmla="val 4412"/>
            </a:avLst>
          </a:prstGeom>
          <a:solidFill>
            <a:srgbClr val="006847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4206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奇琴伊察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Chichen Itza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663440" y="914400"/>
            <a:ext cx="41148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25400">
            <a:solidFill>
              <a:srgbClr val="006847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91440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006847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20140"/>
            <a:ext cx="4114800" cy="205740"/>
          </a:xfrm>
          <a:prstGeom prst="rect">
            <a:avLst/>
          </a:prstGeom>
          <a:solidFill>
            <a:srgbClr val="006847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基本信息 Key Facts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1417320"/>
            <a:ext cx="374904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🏳️ 国旗：绿白红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中间有鹰蛇仙人掌图案！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人口：1.3亿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语言：西班牙语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首都：墨西哥城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玛雅 Maya 和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阿兹特克 Aztec 古文明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玛雅人发明了数字「0」！Maya invented zero!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墨西哥文化与礼节  Mexico Culture &amp;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42062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006847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14400"/>
            <a:ext cx="4206240" cy="411480"/>
          </a:xfrm>
          <a:prstGeom prst="roundRect">
            <a:avLst>
              <a:gd name="adj" fmla="val 22222"/>
            </a:avLst>
          </a:prstGeom>
          <a:solidFill>
            <a:srgbClr val="006847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20140"/>
            <a:ext cx="4206240" cy="205740"/>
          </a:xfrm>
          <a:prstGeom prst="rect">
            <a:avLst/>
          </a:prstGeom>
          <a:solidFill>
            <a:srgbClr val="006847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914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🌟 文化亮点 Culture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384048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亡灵节 Day of the Dead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纪念去世亲人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（不是恐怖节日！）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🎩 墨西哥帽 sombrero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🌈 彩色街道 colorful streets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3291840"/>
          </a:xfrm>
          <a:prstGeom prst="roundRect">
            <a:avLst>
              <a:gd name="adj" fmla="val 3333"/>
            </a:avLst>
          </a:prstGeom>
          <a:solidFill>
            <a:srgbClr val="FFF3E0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FF6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120140"/>
            <a:ext cx="4114800" cy="2057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礼节 Etiquette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74904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说 Hola!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🤗 见面拥抱 + 亲脸颊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时间观念比较随意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（约9点可能9:30到）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午餐是一天最重要的一餐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（2-4pm）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😊 陌生人之间也很热情友好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亡灵节不是万圣节！是温暖地纪念亲人的节日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墨西哥美食  Mexico Food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🌮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玉米饼 taco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0" y="9144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0" y="960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🥑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37744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牛油果酱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guacamole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9144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97680" y="960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🌯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38912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墨西哥卷饼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burrito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10312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432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🌶️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65760" y="26060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辣椒 sauce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0" y="210312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8600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🍫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377440" y="26060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巧克力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（阿兹特克人发明的！）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97680" y="2103120"/>
            <a:ext cx="4572000" cy="1005840"/>
          </a:xfrm>
          <a:prstGeom prst="roundRect">
            <a:avLst>
              <a:gd name="adj" fmla="val 10909"/>
            </a:avLst>
          </a:prstGeom>
          <a:solidFill>
            <a:srgbClr val="FFF3E0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480560" y="214884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🌽 59种颜色的玉米！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「没有墨西哥就没有巧克力！」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3291840"/>
            <a:ext cx="8503920" cy="868680"/>
          </a:xfrm>
          <a:prstGeom prst="roundRect">
            <a:avLst>
              <a:gd name="adj" fmla="val 12632"/>
            </a:avLst>
          </a:prstGeom>
          <a:solidFill>
            <a:srgbClr val="1B5E2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3337560"/>
            <a:ext cx="8138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「墨西哥有59种颜色的玉米 — 不只是黄色！还有蓝色、红色、黑色...」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你吃过墨西哥菜吗？最喜欢什么？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墨西哥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68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巧克力是谁发明的？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阿兹特克人！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00684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墨西哥有多少种颜色的玉米？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59种！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684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亡灵节是恐怖的吗？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不是！是纪念亲人的温暖节日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00684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墨西哥最有名的古迹是什么？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奇琴伊察金字塔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684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27" name="Text 25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巧克力是谁发明的？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阿兹特克人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46634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6634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墨西哥小达人！Mexico expert!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墨西哥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68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墨西哥有几种颜色的玉米？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59种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00684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亡灵节是恐怖的节日吗？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不是！是纪念亲人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684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墨西哥人午餐是几点？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下午2-4点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00684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墨西哥城建在什么上面？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古代湖泊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684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27" name="Text 25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在墨西哥约了9点，几点到？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可能9:30(时间观念随意)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46634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6634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墨西哥小达人！Mexico expert!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巴西概览  Brazil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4206240" cy="310896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63440" y="914400"/>
            <a:ext cx="41148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25400">
            <a:solidFill>
              <a:srgbClr val="009C3B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663440" y="91440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009C3B"/>
          </a:solidFill>
          <a:ln/>
        </p:spPr>
      </p:sp>
      <p:sp>
        <p:nvSpPr>
          <p:cNvPr id="8" name="Shape 5"/>
          <p:cNvSpPr/>
          <p:nvPr/>
        </p:nvSpPr>
        <p:spPr>
          <a:xfrm>
            <a:off x="4663440" y="1120140"/>
            <a:ext cx="4114800" cy="205740"/>
          </a:xfrm>
          <a:prstGeom prst="rect">
            <a:avLst/>
          </a:prstGeom>
          <a:solidFill>
            <a:srgbClr val="009C3B"/>
          </a:solidFill>
          <a:ln/>
        </p:spPr>
      </p:sp>
      <p:sp>
        <p:nvSpPr>
          <p:cNvPr id="9" name="Text 6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基本信息 Key Facts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46320" y="1417320"/>
            <a:ext cx="374904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🏳️ 国旗：绿底黄菱形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+ 蓝色地球仪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人口：2.1亿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语言：葡萄牙语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（不是西班牙语！）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首都：巴西利亚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（不是里约！）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亚马逊雨林 = 地球之肺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巴西说葡萄牙语！因为被葡萄牙殖民过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巴西文化与礼节  Brazil Culture &amp;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42062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009C3B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14400"/>
            <a:ext cx="4206240" cy="411480"/>
          </a:xfrm>
          <a:prstGeom prst="roundRect">
            <a:avLst>
              <a:gd name="adj" fmla="val 22222"/>
            </a:avLst>
          </a:prstGeom>
          <a:solidFill>
            <a:srgbClr val="009C3B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20140"/>
            <a:ext cx="4206240" cy="205740"/>
          </a:xfrm>
          <a:prstGeom prst="rect">
            <a:avLst/>
          </a:prstGeom>
          <a:solidFill>
            <a:srgbClr val="009C3B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914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🌟 文化亮点 Culture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384048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嘉年华 Carnival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世界最大派对！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⚽ 足球王国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贝利 Pelé / 内马尔 Neymar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亚马逊雨林产生20%氧气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💃 桑巴舞 samba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3291840"/>
          </a:xfrm>
          <a:prstGeom prst="roundRect">
            <a:avLst>
              <a:gd name="adj" fmla="val 3333"/>
            </a:avLst>
          </a:prstGeom>
          <a:solidFill>
            <a:srgbClr val="FFF3E0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FF6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120140"/>
            <a:ext cx="4114800" cy="2057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礼节 Etiquette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74904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😘 见面亲两次脸颊！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🤗 巴西人非常热情外向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说话时站得很近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👍 竖大拇指 = OK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（不像有些地方不礼貌）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巴西时间 = 迟到很正常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⚽ 足球是信仰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不要说足球不好！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⚽ 巴西赢了5次世界杯冠军！足球就是他们的信仰！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巴西美食  Brazil Food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🥩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1325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烤肉 churrasco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（服务员拿大串肉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走来走去！）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86000" y="9144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0" y="9601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🫘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377440" y="1325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黑豆饭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feijoada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97680" y="9144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97680" y="9601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🧀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389120" y="1325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奶酪面包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pão de queijo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10312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4320" y="21488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🫐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65760" y="25146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巴西莓碗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açaí bowl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0" y="210312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86000" y="21488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☕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377440" y="25146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咖啡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（世界第一咖啡产国）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97680" y="2103120"/>
            <a:ext cx="4572000" cy="1005840"/>
          </a:xfrm>
          <a:prstGeom prst="roundRect">
            <a:avLst>
              <a:gd name="adj" fmla="val 10909"/>
            </a:avLst>
          </a:prstGeom>
          <a:solidFill>
            <a:srgbClr val="FFF3E0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480560" y="214884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「巴西烤肉可以一直吃到你说停！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服务员会一直拿肉来，直到你翻红牌」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3291840"/>
            <a:ext cx="8503920" cy="868680"/>
          </a:xfrm>
          <a:prstGeom prst="roundRect">
            <a:avLst>
              <a:gd name="adj" fmla="val 12632"/>
            </a:avLst>
          </a:prstGeom>
          <a:solidFill>
            <a:srgbClr val="1B5E2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3337560"/>
            <a:ext cx="8138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「巴西是世界第一咖啡产国 — 全世界的咖啡有1/3来自巴西！」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你想试试巴西烤肉吗？可以一直吃到饱！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巴西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9C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巴西说什么语言？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葡萄牙语（不是西班牙语！）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009C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巴西首都是哪里？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巴西利亚（不是里约！）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9C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亚马逊雨林产多少氧气？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20%！地球之肺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009C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巴西最有名的节日是什么？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狂欢节 Carnival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9C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27" name="Text 25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巴西说什么语言？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葡萄牙语(不是西班牙语!)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46634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6634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巴西小达人！Brazil expert!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巴西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9C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巴西首都是哪里？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巴西利亚(不是里约!)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009C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亚马逊雨林产生多少氧气？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9C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巴西人见面亲几次脸颊？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两次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1F8E9"/>
          </a:solidFill>
          <a:ln w="12700">
            <a:solidFill>
              <a:srgbClr val="009C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在巴西竖大拇指是什么意思？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OK/好的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9C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27" name="Text 25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在巴西千万不能说什么不好？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足球！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46634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6634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巴西小达人！Brazil expert!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🌽 美洲改变世界的食物  Foods That Changed the World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9728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🍅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280160" y="1097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番茄 Tomato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披萨 / 番茄炒蛋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09728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🥔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669280" y="1097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土豆 Potato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薯条 French fries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228600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🌽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280160" y="22860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玉米 Corn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2651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全球主食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219456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92040" y="228600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🍫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669280" y="22860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巧克力 Chocolate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669280" y="2651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全世界都爱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338328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347472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🌶️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128016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辣椒 Chili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80160" y="3840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四川火锅！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54880" y="3383280"/>
            <a:ext cx="4023360" cy="960120"/>
          </a:xfrm>
          <a:prstGeom prst="roundRect">
            <a:avLst>
              <a:gd name="adj" fmla="val 11429"/>
            </a:avLst>
          </a:prstGeom>
          <a:solidFill>
            <a:srgbClr val="1B5E2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3383280"/>
            <a:ext cx="4023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「如果没有美洲，</a:t>
            </a:r>
            <a:endParaRPr lang="en-US" sz="16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世界食物会很不同！」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迷你角色扮演  Mini Role Play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5400">
            <a:solidFill>
              <a:srgbClr val="3C3B6E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685800" cy="685800"/>
          </a:xfrm>
          <a:prstGeom prst="ellipse">
            <a:avLst/>
          </a:prstGeom>
          <a:solidFill>
            <a:srgbClr val="3C3B6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9728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🇺🇸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1051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41732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+ Hi! Nice to meet you!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5400">
            <a:solidFill>
              <a:srgbClr val="006847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148840"/>
            <a:ext cx="685800" cy="685800"/>
          </a:xfrm>
          <a:prstGeom prst="ellipse">
            <a:avLst/>
          </a:prstGeom>
          <a:solidFill>
            <a:srgbClr val="006847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🇲🇽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墨西哥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4688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拥抱 + Hola! ¿Cómo estás?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10896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5400">
            <a:solidFill>
              <a:srgbClr val="009C3B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200400"/>
            <a:ext cx="685800" cy="685800"/>
          </a:xfrm>
          <a:prstGeom prst="ellipse">
            <a:avLst/>
          </a:prstGeom>
          <a:solidFill>
            <a:srgbClr val="009C3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20040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🇧🇷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371600" y="3154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巴西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352044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 + Oi! Tudo bem?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371600" y="4206240"/>
            <a:ext cx="6400800" cy="594360"/>
          </a:xfrm>
          <a:prstGeom prst="roundRect">
            <a:avLst>
              <a:gd name="adj" fmla="val 18462"/>
            </a:avLst>
          </a:prstGeom>
          <a:solidFill>
            <a:srgbClr val="1B5E2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371600" y="4206240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两人一组，选一个国家，练习打招呼！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🏆 竞赛 + 🧩 Project 提醒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02336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4023360" cy="411480"/>
          </a:xfrm>
          <a:prstGeom prst="roundRect">
            <a:avLst>
              <a:gd name="adj" fmla="val 22222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120140"/>
            <a:ext cx="4023360" cy="2057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9144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🏆 上午快问快答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3657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美国首都？华盛顿DC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巧克力来自？墨西哥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巴西说什么语言？葡萄牙语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自由女神是谁送的？法国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亚马逊产多少氧气？20%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墨西哥有几种颜色的玉米？59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4023360" cy="2560320"/>
          </a:xfrm>
          <a:prstGeom prst="roundRect">
            <a:avLst>
              <a:gd name="adj" fmla="val 4286"/>
            </a:avLst>
          </a:prstGeom>
          <a:solidFill>
            <a:srgbClr val="FFF3E0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14400"/>
            <a:ext cx="4023360" cy="411480"/>
          </a:xfrm>
          <a:prstGeom prst="roundRect">
            <a:avLst>
              <a:gd name="adj" fmla="val 22222"/>
            </a:avLst>
          </a:prstGeom>
          <a:solidFill>
            <a:srgbClr val="FF6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754880" y="1120140"/>
            <a:ext cx="4023360" cy="2057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9144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🧩 Project 提醒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417320"/>
            <a:ext cx="3657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下午完成护照美洲页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这是最后一页！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装饰你的护照封面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练习你的展示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明天文化展！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3749040"/>
            <a:ext cx="7315200" cy="594360"/>
          </a:xfrm>
          <a:prstGeom prst="roundRect">
            <a:avLst>
              <a:gd name="adj" fmla="val 18462"/>
            </a:avLst>
          </a:prstGeom>
          <a:solidFill>
            <a:srgbClr val="1B5E2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「集齐4个签证章，成为环球小旅行家！」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0" y="457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🌙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下午开始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Afternoon Session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743200" y="2743200"/>
            <a:ext cx="3657600" cy="36576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对比三国 + 生词句型 + 完成护照 + 准备展览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🇺🇸  🇲🇽  🇧🇷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🔄 快速复习  Quick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上午学了什么？What did we learn this morning?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37160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 美国首都是 ___？(华盛顿DC)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1F8E9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192024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 餐厅要给 ___% 小费？(15-20%)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246888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🇲🇽 巧克力是 ___ 人发明的？(阿兹特克)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1F8E9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01752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🇲🇽 墨西哥有 ___ 种颜色的玉米？(59)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56616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🇧🇷 巴西说 ___ 语？(葡萄牙语)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1F8E9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114800"/>
            <a:ext cx="7498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🇧🇷 亚马逊雨林产生 ___% 的氧气？(20%)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57200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57200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大声说出答案！Shout out the answers!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📊 美洲三国对比表  Three Countries Comparison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1645920" y="8686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3C3B6E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0" y="8686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美国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31920" y="8686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06847"/>
          </a:solidFill>
          <a:ln/>
        </p:spPr>
      </p:sp>
      <p:sp>
        <p:nvSpPr>
          <p:cNvPr id="8" name="Text 6"/>
          <p:cNvSpPr/>
          <p:nvPr/>
        </p:nvSpPr>
        <p:spPr>
          <a:xfrm>
            <a:off x="3931920" y="8686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墨西哥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8686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09C3B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8686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巴西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1325880"/>
            <a:ext cx="1371600" cy="594360"/>
          </a:xfrm>
          <a:prstGeom prst="roundRect">
            <a:avLst>
              <a:gd name="adj" fmla="val 9231"/>
            </a:avLst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13258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132588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91640" y="13258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+ 微笑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31920" y="132588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77640" y="13258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拥抱 + 亲脸颊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132588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3258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亲两次脸颊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2011680"/>
            <a:ext cx="1371600" cy="594360"/>
          </a:xfrm>
          <a:prstGeom prst="roundRect">
            <a:avLst>
              <a:gd name="adj" fmla="val 9231"/>
            </a:avLst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20116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时间观念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45920" y="2011680"/>
            <a:ext cx="2286000" cy="594360"/>
          </a:xfrm>
          <a:prstGeom prst="rect">
            <a:avLst/>
          </a:prstGeom>
          <a:solidFill>
            <a:srgbClr val="F1F8E9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91640" y="20116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准时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931920" y="2011680"/>
            <a:ext cx="2286000" cy="594360"/>
          </a:xfrm>
          <a:prstGeom prst="rect">
            <a:avLst/>
          </a:prstGeom>
          <a:solidFill>
            <a:srgbClr val="F1F8E9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77640" y="20116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随意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2011680"/>
            <a:ext cx="2286000" cy="594360"/>
          </a:xfrm>
          <a:prstGeom prst="rect">
            <a:avLst/>
          </a:prstGeom>
          <a:solidFill>
            <a:srgbClr val="F1F8E9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0116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迟到正常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2697480"/>
            <a:ext cx="1371600" cy="594360"/>
          </a:xfrm>
          <a:prstGeom prst="roundRect">
            <a:avLst>
              <a:gd name="adj" fmla="val 9231"/>
            </a:avLst>
          </a:prstGeom>
          <a:solidFill>
            <a:srgbClr val="2E7D32"/>
          </a:solidFill>
          <a:ln/>
        </p:spPr>
      </p:sp>
      <p:sp>
        <p:nvSpPr>
          <p:cNvPr id="28" name="Text 26"/>
          <p:cNvSpPr/>
          <p:nvPr/>
        </p:nvSpPr>
        <p:spPr>
          <a:xfrm>
            <a:off x="27432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代表食物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645920" y="269748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1640" y="26974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汉堡 / BBQ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931920" y="269748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77640" y="26974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taco / 巧克力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269748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63640" y="26974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烤肉 / 咖啡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3383280"/>
            <a:ext cx="1371600" cy="594360"/>
          </a:xfrm>
          <a:prstGeom prst="roundRect">
            <a:avLst>
              <a:gd name="adj" fmla="val 9231"/>
            </a:avLst>
          </a:prstGeom>
          <a:solidFill>
            <a:srgbClr val="2E7D32"/>
          </a:solidFill>
          <a:ln/>
        </p:spPr>
      </p:sp>
      <p:sp>
        <p:nvSpPr>
          <p:cNvPr id="36" name="Text 34"/>
          <p:cNvSpPr/>
          <p:nvPr/>
        </p:nvSpPr>
        <p:spPr>
          <a:xfrm>
            <a:off x="274320" y="33832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645920" y="3383280"/>
            <a:ext cx="2286000" cy="594360"/>
          </a:xfrm>
          <a:prstGeom prst="rect">
            <a:avLst/>
          </a:prstGeom>
          <a:solidFill>
            <a:srgbClr val="F1F8E9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1640" y="33832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给小费!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直呼名字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931920" y="3383280"/>
            <a:ext cx="2286000" cy="594360"/>
          </a:xfrm>
          <a:prstGeom prst="rect">
            <a:avLst/>
          </a:prstGeom>
          <a:solidFill>
            <a:srgbClr val="F1F8E9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77640" y="33832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午餐最重要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17920" y="3383280"/>
            <a:ext cx="2286000" cy="594360"/>
          </a:xfrm>
          <a:prstGeom prst="rect">
            <a:avLst/>
          </a:prstGeom>
          <a:solidFill>
            <a:srgbClr val="F1F8E9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63640" y="33832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别说足球不好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74320" y="4069080"/>
            <a:ext cx="1371600" cy="594360"/>
          </a:xfrm>
          <a:prstGeom prst="roundRect">
            <a:avLst>
              <a:gd name="adj" fmla="val 9231"/>
            </a:avLst>
          </a:prstGeom>
          <a:solidFill>
            <a:srgbClr val="2E7D32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40690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有趣文化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645920" y="406908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1640" y="40690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移民大熔炉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931920" y="406908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77640" y="40690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亡灵节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217920" y="4069080"/>
            <a:ext cx="2286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4CAF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63640" y="40690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嘉年华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31520" y="46634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52" name="Text 50"/>
          <p:cNvSpPr/>
          <p:nvPr/>
        </p:nvSpPr>
        <p:spPr>
          <a:xfrm>
            <a:off x="731520" y="46634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哪个国家的礼节和中国最像？Which is most like China?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🤝 共同点与不同  Similarities &amp; Differences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41148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1440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20140"/>
            <a:ext cx="4114800" cy="2057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9144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共同点 Similarities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374904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😊 都很热情友好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All are warm and friendly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🥩 都爱BBQ烤肉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All love BBQ / grilled meat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都有丰富的移民和混合文化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Rich immigrant / mixed cultures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914400"/>
            <a:ext cx="4206240" cy="3108960"/>
          </a:xfrm>
          <a:prstGeom prst="roundRect">
            <a:avLst>
              <a:gd name="adj" fmla="val 3529"/>
            </a:avLst>
          </a:prstGeom>
          <a:solidFill>
            <a:srgbClr val="FFF3E0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914400"/>
            <a:ext cx="4206240" cy="411480"/>
          </a:xfrm>
          <a:prstGeom prst="roundRect">
            <a:avLst>
              <a:gd name="adj" fmla="val 22222"/>
            </a:avLst>
          </a:prstGeom>
          <a:solidFill>
            <a:srgbClr val="FF6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1120140"/>
            <a:ext cx="4206240" cy="2057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914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❌ 不同点 Differences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54880" y="1417320"/>
            <a:ext cx="38404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语言不同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英语 / 西班牙语 / 葡萄牙语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打招呼方式不同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握手 / 拥抱 / 亲脸颊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时间观念不同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准时 / 随意 / 迟到正常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食物风格不同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你觉得哪个国家最有趣？Which country interests you most?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旅行小贴士  Travel Tips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3C3B6E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1440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3C3B6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71600"/>
            <a:ext cx="2743200" cy="182880"/>
          </a:xfrm>
          <a:prstGeom prst="rect">
            <a:avLst/>
          </a:prstGeom>
          <a:solidFill>
            <a:srgbClr val="3C3B6E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9144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美国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23774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给小费 15-20%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保持个人空间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直呼名字OK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91440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6847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91440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006847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0" y="1371600"/>
            <a:ext cx="2743200" cy="182880"/>
          </a:xfrm>
          <a:prstGeom prst="rect">
            <a:avLst/>
          </a:prstGeom>
          <a:solidFill>
            <a:srgbClr val="006847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9144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墨西哥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83280" y="1691640"/>
            <a:ext cx="23774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🐢 慢节奏，别急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🤗 热情拥抱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午餐最重要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9C3B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91440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009C3B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6480" y="1371600"/>
            <a:ext cx="2743200" cy="182880"/>
          </a:xfrm>
          <a:prstGeom prst="rect">
            <a:avLst/>
          </a:prstGeom>
          <a:solidFill>
            <a:srgbClr val="009C3B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9144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巴西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09360" y="1691640"/>
            <a:ext cx="23774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🤗 超级热情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⚽ 尊重足球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迟到正常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记住这些小贴士，做一个有礼貌的旅行者！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📝 生词卡  Vocabulary Cards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058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汉堡包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15087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hànbǎo bāo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hamburger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68880" y="9144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058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玉米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468880" y="15087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yùmǐ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1920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0058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巧克力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15087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qiǎokèlì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0" y="1920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chocolate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0" y="9144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10058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辣椒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0" y="15087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làjiāo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0" y="1920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chili pepper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4320" y="27432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74320" y="2834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烤肉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74320" y="3337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kǎoròu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" y="3749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BBQ / grilled meat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468880" y="27432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468880" y="2834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雨林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468880" y="3337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yǔlín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68880" y="3749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rainforest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663440" y="27432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663440" y="2834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小费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663440" y="3337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xiǎofèi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663440" y="3749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(gratuity)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858000" y="27432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858000" y="2834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移民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858000" y="3337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yímín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58000" y="3749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immigrant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句型练习  Sentence Patterns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84124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8412480" cy="411480"/>
          </a:xfrm>
          <a:prstGeom prst="roundRect">
            <a:avLst>
              <a:gd name="adj" fmla="val 22222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211580"/>
            <a:ext cx="8412480" cy="2057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0058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句型一  Pattern 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「___原来是从美洲来的！」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1920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番茄原来是从美洲来的！/ 巧克力原来是从美洲来的！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Tomatoes actually came from the Americas!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697480"/>
            <a:ext cx="84124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697480"/>
            <a:ext cx="8412480" cy="411480"/>
          </a:xfrm>
          <a:prstGeom prst="roundRect">
            <a:avLst>
              <a:gd name="adj" fmla="val 22222"/>
            </a:avLst>
          </a:prstGeom>
          <a:solidFill>
            <a:srgbClr val="FF6F00"/>
          </a:solidFill>
          <a:ln/>
        </p:spPr>
      </p:sp>
      <p:sp>
        <p:nvSpPr>
          <p:cNvPr id="13" name="Shape 11"/>
          <p:cNvSpPr/>
          <p:nvPr/>
        </p:nvSpPr>
        <p:spPr>
          <a:xfrm>
            <a:off x="365760" y="2903220"/>
            <a:ext cx="8412480" cy="2057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6974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句型二  Pattern 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32004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「如果没有___，就没有___」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如果没有番茄，就没有番茄炒蛋！/ 如果没有辣椒，就没有四川火锅！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Without tomatoes, no scrambled eggs! Without chili, no Sichuan hotpot!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用句型造一个句子！Make a sentence using the patterns!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角色扮演 — 华人到美洲  Role Play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02336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143000"/>
            <a:ext cx="4023360" cy="2286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914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场景 Scenes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46304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1️⃣ 来到美国，握手打招呼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Hi! Nice to meet you!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2️⃣ 在墨西哥，拥抱新朋友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Hola! 尝试taco!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3️⃣ 在巴西，亲脸颊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Oi! 看足球比赛!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4️⃣ 介绍中国食物给新朋友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4023360" cy="3200400"/>
          </a:xfrm>
          <a:prstGeom prst="roundRect">
            <a:avLst>
              <a:gd name="adj" fmla="val 3429"/>
            </a:avLst>
          </a:prstGeom>
          <a:solidFill>
            <a:srgbClr val="FFF3E0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14400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FF6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754880" y="1143000"/>
            <a:ext cx="4023360" cy="22860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914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练习要点 Key Points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46304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注意打招呼方式不同！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美国=握手 墨西哥=拥抱 巴西=亲脸颊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用中文介绍自己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「我从中国来」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「这是中国的饺子」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观察文化差异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小费/时间/热情程度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选一个场景，和同学一起演！Pick a scene and act it out!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Project Time!  护照美洲页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Page 4: Americas 美洲 — 最后一页！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841248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80160"/>
            <a:ext cx="2926080" cy="594360"/>
          </a:xfrm>
          <a:prstGeom prst="roundRect">
            <a:avLst>
              <a:gd name="adj" fmla="val 15385"/>
            </a:avLst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801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🌎 Where I Went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我去了哪里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0" y="128016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美国/墨西哥/巴西 + 国旗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965960"/>
            <a:ext cx="841248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965960"/>
            <a:ext cx="2926080" cy="594360"/>
          </a:xfrm>
          <a:prstGeom prst="roundRect">
            <a:avLst>
              <a:gd name="adj" fmla="val 15385"/>
            </a:avLst>
          </a:prstGeom>
          <a:solidFill>
            <a:srgbClr val="4CAF5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965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👀 What I Saw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我看到了什么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196596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自由女神/奇琴伊察/亚马逊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651760"/>
            <a:ext cx="841248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651760"/>
            <a:ext cx="2926080" cy="594360"/>
          </a:xfrm>
          <a:prstGeom prst="roundRect">
            <a:avLst>
              <a:gd name="adj" fmla="val 15385"/>
            </a:avLst>
          </a:prstGeom>
          <a:solidFill>
            <a:srgbClr val="FF6F00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6517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What I 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我吃了什么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265176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汉堡/taco/巴西烤肉/巧克力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3337560"/>
            <a:ext cx="841248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5400">
            <a:solidFill>
              <a:srgbClr val="1B5E2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337560"/>
            <a:ext cx="2926080" cy="594360"/>
          </a:xfrm>
          <a:prstGeom prst="roundRect">
            <a:avLst>
              <a:gd name="adj" fmla="val 15385"/>
            </a:avLst>
          </a:prstGeom>
          <a:solidFill>
            <a:srgbClr val="1B5E20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3375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Cultural Discovery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文化发现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333756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打招呼方式/小费/时间观念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4023360"/>
            <a:ext cx="841248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5400">
            <a:solidFill>
              <a:srgbClr val="BF360C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4023360"/>
            <a:ext cx="2926080" cy="594360"/>
          </a:xfrm>
          <a:prstGeom prst="roundRect">
            <a:avLst>
              <a:gd name="adj" fmla="val 15385"/>
            </a:avLst>
          </a:prstGeom>
          <a:solidFill>
            <a:srgbClr val="BF360C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4023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My Sentence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我的句子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402336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「___原来是从美洲来的！」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📊 Project 分层  Differentiation Levels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4CAF5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1645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Level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 + 词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96012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画出美洲的标志 + 写关键词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🗽 + 自由女神 / 🌮 + 玉米饼 / ⚽ + 足球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8412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19456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565C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194560"/>
            <a:ext cx="1645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Level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简单句子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2240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用简单句子描述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美国人握手打招呼。巴西烤肉很好吃。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474720"/>
            <a:ext cx="8412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4747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7B1FA2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474720"/>
            <a:ext cx="1645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🟣 Level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完整段落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94560" y="35204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写完整的句子和段落 + 使用句型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巧克力原来是从美洲来的！如果没有墨西哥，就没有巧克力！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🎪 准备明天展览  Prepare for Exhibition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51560"/>
            <a:ext cx="777240" cy="7772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515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554480" y="9601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检查护照 4 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13716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 + 非洲 + 欧洲 + 美洲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all 4 continent pages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148840"/>
            <a:ext cx="8412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286000"/>
            <a:ext cx="777240" cy="77724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2860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554480" y="2194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装饰护照封面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26060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画你最喜欢的标志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Decorate your passport cover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383280"/>
            <a:ext cx="8412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520440"/>
            <a:ext cx="777240" cy="7772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5204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554480" y="34290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练习展示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38404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练习介绍你最喜欢的国家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presenting your favorite country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Check: 你的护照有4页了吗？Do you have all 4 pages?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🤝 分享时间  Partner Share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3657600" cy="4572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和同伴分享你的护照！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 your passport with a partner!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828800"/>
            <a:ext cx="7315200" cy="411480"/>
          </a:xfrm>
          <a:prstGeom prst="roundRect">
            <a:avLst>
              <a:gd name="adj" fmla="val 17778"/>
            </a:avLst>
          </a:prstGeom>
          <a:solidFill>
            <a:srgbClr val="F1F8E9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82880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1️⃣ 展示你最喜欢的一页 Show your favorite page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2331720"/>
            <a:ext cx="7315200" cy="411480"/>
          </a:xfrm>
          <a:prstGeom prst="roundRect">
            <a:avLst>
              <a:gd name="adj" fmla="val 17778"/>
            </a:avLst>
          </a:prstGeom>
          <a:solidFill>
            <a:srgbClr val="FFF3E0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33172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2️⃣ 用今天的句型说一句话 Say a sentence using today's patterns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2834640"/>
            <a:ext cx="7315200" cy="411480"/>
          </a:xfrm>
          <a:prstGeom prst="roundRect">
            <a:avLst>
              <a:gd name="adj" fmla="val 17778"/>
            </a:avLst>
          </a:prstGeom>
          <a:solidFill>
            <a:srgbClr val="F1F8E9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834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3️⃣ 告诉同伴一个有趣的事实 Tell a fun fact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7315200" cy="411480"/>
          </a:xfrm>
          <a:prstGeom prst="roundRect">
            <a:avLst>
              <a:gd name="adj" fmla="val 17778"/>
            </a:avLst>
          </a:prstGeom>
          <a:solidFill>
            <a:srgbClr val="FFF3E0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33756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4️⃣ 听同伴的分享，问一个问题 Listen and ask a question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434840"/>
            <a:ext cx="7498080" cy="384048"/>
          </a:xfrm>
          <a:prstGeom prst="roundRect">
            <a:avLst>
              <a:gd name="adj" fmla="val 19048"/>
            </a:avLst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43484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Good listeners ask good questions! 好的听众会问好问题！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🪪 签证章时间！  Visa Stamp Time!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0" y="1097280"/>
            <a:ext cx="3474720" cy="2743200"/>
          </a:xfrm>
          <a:prstGeom prst="ellipse">
            <a:avLst/>
          </a:prstGeom>
          <a:solidFill>
            <a:srgbClr val="1B5E20"/>
          </a:solidFill>
          <a:ln w="50800">
            <a:solidFill>
              <a:srgbClr val="FF6F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80360" y="1234440"/>
            <a:ext cx="3200400" cy="2468880"/>
          </a:xfrm>
          <a:prstGeom prst="ellipse">
            <a:avLst/>
          </a:prstGeom>
          <a:noFill/>
          <a:ln w="25400">
            <a:solidFill>
              <a:srgbClr val="FF6F0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926080" y="14630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AMERICAS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926080" y="19659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美洲 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926080" y="23774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6080" y="2788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023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🎉 集齐4个签证章！明天展览！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 亚洲 ✓  🌍 非洲 ✓  🌍 欧洲 ✓  🌎 美洲 ✓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✈️ 明天预告  Coming Tomorrow!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0" y="914400"/>
            <a:ext cx="3657600" cy="36576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0" y="10972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🎉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1371600" y="1920240"/>
            <a:ext cx="6400800" cy="18288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71600" y="201168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国际文化展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371600" y="25603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International Culture Exhibition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带上你的护照！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准备好你的展示！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 这是我们旅程的终点站！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🌏🌍🌎  环游世界的旅程即将圆满完成！  🌎🌍🌏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45720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2025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Explorer Camp · Day 4: 美洲 Americas</dc:title>
  <dc:subject>PptxGenJS Presentation</dc:subject>
  <dc:creator>谷雨中文 GR EDU</dc:creator>
  <cp:lastModifiedBy>谷雨中文 GR EDU</cp:lastModifiedBy>
  <cp:revision>1</cp:revision>
  <dcterms:created xsi:type="dcterms:W3CDTF">2026-03-19T18:13:46Z</dcterms:created>
  <dcterms:modified xsi:type="dcterms:W3CDTF">2026-03-19T18:13:46Z</dcterms:modified>
</cp:coreProperties>
</file>