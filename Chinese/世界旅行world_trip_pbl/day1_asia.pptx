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3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0"/>
            <a:ext cx="822960" cy="822960"/>
          </a:xfrm>
          <a:prstGeom prst="ellipse">
            <a:avLst/>
          </a:prstGeom>
          <a:solidFill>
            <a:srgbClr val="C62828">
              <a:alpha val="4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772400" y="3474720"/>
            <a:ext cx="640080" cy="640080"/>
          </a:xfrm>
          <a:prstGeom prst="ellipse">
            <a:avLst/>
          </a:prstGeom>
          <a:solidFill>
            <a:srgbClr val="FF8F00">
              <a:alpha val="4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5720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Explorer Camp</a:t>
            </a:r>
            <a:endParaRPr lang="en-US" sz="36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环球探索沉浸式夏令营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286000" y="1691640"/>
            <a:ext cx="4572000" cy="36576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8" name="Shape 6"/>
          <p:cNvSpPr/>
          <p:nvPr/>
        </p:nvSpPr>
        <p:spPr>
          <a:xfrm>
            <a:off x="1828800" y="1920240"/>
            <a:ext cx="5486400" cy="2560320"/>
          </a:xfrm>
          <a:prstGeom prst="roundRect">
            <a:avLst>
              <a:gd name="adj" fmla="val 5357"/>
            </a:avLst>
          </a:prstGeom>
          <a:solidFill>
            <a:srgbClr val="FFF8E1"/>
          </a:solidFill>
          <a:ln/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103120" y="201168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BOARDING PASS  登机牌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103120" y="2514600"/>
            <a:ext cx="4937760" cy="18288"/>
          </a:xfrm>
          <a:prstGeom prst="rect">
            <a:avLst/>
          </a:prstGeom>
          <a:solidFill>
            <a:srgbClr val="FF8F0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2606040"/>
            <a:ext cx="45720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航班: GR-001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Destination 目的地:  亚洲 ASIA</a:t>
            </a:r>
            <a:endParaRPr lang="en-US" sz="16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日期: June 8, 2025  (6/8)</a:t>
            </a:r>
            <a:endParaRPr lang="en-US" sz="16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登机口: Room 101</a:t>
            </a:r>
            <a:endParaRPr lang="en-US" sz="16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 旅客: ________________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D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 seatbelts!  系好安全带！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A237E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📅 本周行程  Weekly Itinerary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1554480" cy="3200400"/>
          </a:xfrm>
          <a:prstGeom prst="roundRect">
            <a:avLst>
              <a:gd name="adj" fmla="val 8824"/>
            </a:avLst>
          </a:prstGeom>
          <a:solidFill>
            <a:srgbClr val="D32F2F"/>
          </a:solidFill>
          <a:ln/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" y="11887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02920" y="1627632"/>
            <a:ext cx="1280160" cy="27432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182880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亚洲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Asia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65760" y="347472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TODAY!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057400" y="1097280"/>
            <a:ext cx="1554480" cy="320040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5240">
            <a:solidFill>
              <a:srgbClr val="FF8F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057400" y="11887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194560" y="1627632"/>
            <a:ext cx="1280160" cy="27432"/>
          </a:xfrm>
          <a:prstGeom prst="rect">
            <a:avLst/>
          </a:prstGeom>
          <a:solidFill>
            <a:srgbClr val="FF8F00"/>
          </a:solidFill>
          <a:ln/>
        </p:spPr>
      </p:sp>
      <p:sp>
        <p:nvSpPr>
          <p:cNvPr id="14" name="Text 12"/>
          <p:cNvSpPr/>
          <p:nvPr/>
        </p:nvSpPr>
        <p:spPr>
          <a:xfrm>
            <a:off x="2057400" y="182880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非洲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Africa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3749040" y="1097280"/>
            <a:ext cx="1554480" cy="320040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749040" y="11887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886200" y="1627632"/>
            <a:ext cx="1280160" cy="2743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3749040" y="182880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欧洲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Europe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40680" y="1097280"/>
            <a:ext cx="1554480" cy="320040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524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40680" y="11887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577840" y="1627632"/>
            <a:ext cx="1280160" cy="2743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2" name="Text 20"/>
          <p:cNvSpPr/>
          <p:nvPr/>
        </p:nvSpPr>
        <p:spPr>
          <a:xfrm>
            <a:off x="5440680" y="182880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美洲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Americas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7132320" y="1097280"/>
            <a:ext cx="1554480" cy="320040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5240">
            <a:solidFill>
              <a:srgbClr val="00897B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132320" y="11887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269480" y="1627632"/>
            <a:ext cx="1280160" cy="27432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0" y="182880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展览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Exhibition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6/8 - 6/12  五天环游世界！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今天目标  Today's Goals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深入了解亚洲3个国家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2560320" cy="1463040"/>
          </a:xfrm>
          <a:prstGeom prst="roundRect">
            <a:avLst>
              <a:gd name="adj" fmla="val 9375"/>
            </a:avLst>
          </a:prstGeom>
          <a:solidFill>
            <a:srgbClr val="FFCDD2"/>
          </a:solidFill>
          <a:ln w="15240">
            <a:solidFill>
              <a:srgbClr val="E53935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" y="15544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🇨🇳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1945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5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中国 China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291840" y="1508760"/>
            <a:ext cx="2560320" cy="1463040"/>
          </a:xfrm>
          <a:prstGeom prst="roundRect">
            <a:avLst>
              <a:gd name="adj" fmla="val 9375"/>
            </a:avLst>
          </a:prstGeom>
          <a:solidFill>
            <a:srgbClr val="FCE4EC"/>
          </a:solidFill>
          <a:ln w="15240">
            <a:solidFill>
              <a:srgbClr val="D32F2F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91840" y="15544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🇯🇵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291840" y="21945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32F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日本 Japan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126480" y="1508760"/>
            <a:ext cx="2560320" cy="1463040"/>
          </a:xfrm>
          <a:prstGeom prst="roundRect">
            <a:avLst>
              <a:gd name="adj" fmla="val 9375"/>
            </a:avLst>
          </a:prstGeom>
          <a:solidFill>
            <a:srgbClr val="FFF3E0"/>
          </a:solidFill>
          <a:ln w="15240">
            <a:solidFill>
              <a:srgbClr val="FF98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126480" y="15544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🇮🇳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6126480" y="21945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印度 India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57200" y="320040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5240">
            <a:solidFill>
              <a:srgbClr val="1A237E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32461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学习目标 Learning Targets: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每个国家的基本信息（国旗、首都、人口、语言）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文化特色与旅行礼节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代表美食与饮食习惯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比较三个国家的异同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A237E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🌍 认识七大洲  Seven Continents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1920240" cy="1645920"/>
          </a:xfrm>
          <a:prstGeom prst="roundRect">
            <a:avLst>
              <a:gd name="adj" fmla="val 8333"/>
            </a:avLst>
          </a:prstGeom>
          <a:solidFill>
            <a:srgbClr val="D32F2F"/>
          </a:solidFill>
          <a:ln w="15240">
            <a:solidFill>
              <a:srgbClr val="D32F2F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105156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亚洲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Asia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" y="19202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最大!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468880" y="914400"/>
            <a:ext cx="192024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240">
            <a:solidFill>
              <a:srgbClr val="FF8F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105156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非洲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Africa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468880" y="19202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161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914400"/>
            <a:ext cx="192024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63440" y="105156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欧洲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Europe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663440" y="19202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161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#6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0" y="914400"/>
            <a:ext cx="192024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24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0" y="105156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北美洲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N. America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58000" y="19202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161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74320" y="2834640"/>
            <a:ext cx="192024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240">
            <a:solidFill>
              <a:srgbClr val="7CB34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74320" y="297180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B3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南美洲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7CB3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S. America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74320" y="384048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161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#4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468880" y="2834640"/>
            <a:ext cx="192024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240">
            <a:solidFill>
              <a:srgbClr val="00897B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468880" y="297180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大洋洲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Oceania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468880" y="384048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161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#7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663440" y="2834640"/>
            <a:ext cx="192024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240">
            <a:solidFill>
              <a:srgbClr val="90A4AE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663440" y="297180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0A4A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南极洲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90A4A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Antarctica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663440" y="384048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161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#5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F0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A237E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🗺️ 世界地图  World Map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2011680" cy="1645920"/>
          </a:xfrm>
          <a:prstGeom prst="roundRect">
            <a:avLst>
              <a:gd name="adj" fmla="val 16667"/>
            </a:avLst>
          </a:prstGeom>
          <a:solidFill>
            <a:srgbClr val="2E7D32">
              <a:alpha val="4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20116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北美洲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188720" y="2834640"/>
            <a:ext cx="1280160" cy="1645920"/>
          </a:xfrm>
          <a:prstGeom prst="roundRect">
            <a:avLst>
              <a:gd name="adj" fmla="val 21429"/>
            </a:avLst>
          </a:prstGeom>
          <a:solidFill>
            <a:srgbClr val="7CB342">
              <a:alpha val="45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1188720" y="2834640"/>
            <a:ext cx="12801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南美洲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74720" y="1005840"/>
            <a:ext cx="1371600" cy="1097280"/>
          </a:xfrm>
          <a:prstGeom prst="roundRect">
            <a:avLst>
              <a:gd name="adj" fmla="val 25000"/>
            </a:avLst>
          </a:prstGeom>
          <a:solidFill>
            <a:srgbClr val="1565C0">
              <a:alpha val="4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1005840"/>
            <a:ext cx="1371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欧洲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474720" y="2194560"/>
            <a:ext cx="1645920" cy="2011680"/>
          </a:xfrm>
          <a:prstGeom prst="roundRect">
            <a:avLst>
              <a:gd name="adj" fmla="val 16667"/>
            </a:avLst>
          </a:prstGeom>
          <a:solidFill>
            <a:srgbClr val="FF8F00">
              <a:alpha val="45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0" y="2194560"/>
            <a:ext cx="16459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非洲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303520" y="914400"/>
            <a:ext cx="2926080" cy="2377440"/>
          </a:xfrm>
          <a:prstGeom prst="roundRect">
            <a:avLst>
              <a:gd name="adj" fmla="val 11538"/>
            </a:avLst>
          </a:prstGeom>
          <a:solidFill>
            <a:srgbClr val="D32F2F">
              <a:alpha val="90000"/>
            </a:srgbClr>
          </a:solidFill>
          <a:ln w="31750">
            <a:solidFill>
              <a:srgbClr val="C628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03520" y="914400"/>
            <a:ext cx="29260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亚洲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583680" y="3474720"/>
            <a:ext cx="1645920" cy="1097280"/>
          </a:xfrm>
          <a:prstGeom prst="roundRect">
            <a:avLst>
              <a:gd name="adj" fmla="val 25000"/>
            </a:avLst>
          </a:prstGeom>
          <a:solidFill>
            <a:srgbClr val="00897B">
              <a:alpha val="4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347472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大洋洲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0" y="4389120"/>
            <a:ext cx="3657600" cy="548640"/>
          </a:xfrm>
          <a:prstGeom prst="roundRect">
            <a:avLst>
              <a:gd name="adj" fmla="val 50000"/>
            </a:avLst>
          </a:prstGeom>
          <a:solidFill>
            <a:srgbClr val="90A4AE">
              <a:alpha val="4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2743200" y="43891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南极洲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0" y="33832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here!  我们在这里！ →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🌏 认识亚洲  About Asia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240">
            <a:solidFill>
              <a:srgbClr val="D32F2F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100584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🏔️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274320" y="15544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32F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世界最大的洲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74320" y="20116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Continent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54680" y="91440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240">
            <a:solidFill>
              <a:srgbClr val="D32F2F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154680" y="100584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154680" y="15544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32F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48个国家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154680" y="20116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Countries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35040" y="91440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240">
            <a:solidFill>
              <a:srgbClr val="D32F2F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035040" y="100584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035040" y="15544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32F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46亿人口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035040" y="20116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 Billion People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283464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240">
            <a:solidFill>
              <a:srgbClr val="D32F2F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74320" y="29260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⛰️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274320" y="34747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32F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珠穆朗玛峰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74320" y="393192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Mt. Everest (8,849m)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154680" y="283464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240">
            <a:solidFill>
              <a:srgbClr val="D32F2F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154680" y="29260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📏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3154680" y="34747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32F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面积4,458万km²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154680" y="393192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30% of Earth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035040" y="283464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240">
            <a:solidFill>
              <a:srgbClr val="D32F2F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035040" y="29260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6035040" y="34747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32F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2,300+种语言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035040" y="393192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Diverse!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亚洲是世界上人口最多、面积最大的洲！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E53935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🇨🇳 中国概览  China Overview</a:t>
            </a:r>
            <a:endParaRPr lang="en-US" sz="2800" dirty="0"/>
          </a:p>
        </p:txBody>
      </p:sp>
      <p:pic>
        <p:nvPicPr>
          <p:cNvPr id="4" name="Image 0" descr="https://upload.wikimedia.org/wikipedia/commons/thumb/1/10/20090529_Great_Wall_8185.jpg/1280px-20090529_Great_Wall_818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E53935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🏴 国旗：红色，五颗黄星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349240" y="14630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人口：约14亿（世界第一！）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349240" y="19202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语言：中文（普通话）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349240" y="23774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首都：北京 Beijing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349240" y="28346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📏 面积：世界第三大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349240" y="32918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🐼 国宝：大熊猫 Giant Panda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349240" y="37490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🏗️ 四大文明古国之一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中国有五千年的历史！China has 5,000 years of history!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E53935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🇨🇳 中国文化与礼节  Culture &amp; Etiquette</a:t>
            </a:r>
            <a:endParaRPr lang="en-US" sz="2800" dirty="0"/>
          </a:p>
        </p:txBody>
      </p:sp>
      <p:pic>
        <p:nvPicPr>
          <p:cNvPr id="4" name="Image 0" descr="https://upload.wikimedia.org/wikipedia/commons/thumb/c/c9/Beijing-Forbidden_City1.jpg/1280px-Beijing-Forbidden_City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3657600" cy="21031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206240" y="868680"/>
            <a:ext cx="4572000" cy="210312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240">
            <a:solidFill>
              <a:srgbClr val="E53935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4389120" y="914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文化特色 Cultural Highlights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389120" y="1280160"/>
            <a:ext cx="42062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四大发明：造纸、印刷、火药、指南针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筷子文化（3000年历史）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茶文化（中国是茶的故乡）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春节：世界最大节日庆典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74320" y="3200400"/>
            <a:ext cx="8503920" cy="1554480"/>
          </a:xfrm>
          <a:prstGeom prst="roundRect">
            <a:avLst>
              <a:gd name="adj" fmla="val 8824"/>
            </a:avLst>
          </a:prstGeom>
          <a:solidFill>
            <a:srgbClr val="FFCDD2"/>
          </a:solidFill>
          <a:ln w="15240">
            <a:solidFill>
              <a:srgbClr val="E53935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02920" y="3246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⚠️ 旅行礼节 Travel Etiquette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02920" y="3566160"/>
            <a:ext cx="7955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用双手递东西表示尊重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吃饭时不要把筷子插在饭里（不吉利）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收到礼物不当面打开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见面握手，不拥抱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E53935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🇨🇳 中国美食  Chinese Food</a:t>
            </a:r>
            <a:endParaRPr lang="en-US" sz="2800" dirty="0"/>
          </a:p>
        </p:txBody>
      </p:sp>
      <p:pic>
        <p:nvPicPr>
          <p:cNvPr id="4" name="Image 0" descr="https://upload.wikimedia.org/wikipedia/commons/thumb/4/4c/Buuz.jpg/1280px-Buuz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E53935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960120"/>
            <a:ext cx="32004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🥟 饺子 dumplings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过年必吃！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🍜 面条 noodles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北方人最爱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🍚 炒饭 fried rice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南方人主食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🦆 北京烤鸭 Peking duck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600年历史！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349240" y="3520440"/>
            <a:ext cx="3200400" cy="18288"/>
          </a:xfrm>
          <a:prstGeom prst="rect">
            <a:avLst/>
          </a:prstGeom>
          <a:solidFill>
            <a:srgbClr val="E53935"/>
          </a:solidFill>
          <a:ln/>
        </p:spPr>
      </p:sp>
      <p:sp>
        <p:nvSpPr>
          <p:cNvPr id="8" name="Text 5"/>
          <p:cNvSpPr/>
          <p:nvPr/>
        </p:nvSpPr>
        <p:spPr>
          <a:xfrm>
            <a:off x="5349240" y="361188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味道: 甜(广东) 辣(四川) 咸(北方)</a:t>
            </a:r>
            <a:endParaRPr lang="en-US" sz="1100" dirty="0"/>
          </a:p>
          <a:p>
            <a:pPr indent="0" marL="0">
              <a:buNone/>
            </a:pPr>
            <a:r>
              <a:rPr lang="en-US" sz="1300" b="1" dirty="0">
                <a:solidFill>
                  <a:srgbClr val="E5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「你家过年吃什么？」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中国菜是世界上种类最多的菜系之一！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中国 Check Understanding (1/2)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中国的首都是哪里？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北京 Beijing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中国人用什么吃饭？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筷子 Chopsticks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中国有几大发明？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四大发明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吃饭时筷子不能怎么放？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不能插在饭里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中国有多少人口？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约14亿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中国 Check Understanding (2/2)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中国的四大发明是什么？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造纸、印刷、火药、指南针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中国人过年吃什么？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饺子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北京烤鸭有多少年历史？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约600年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南方人和北方人饮食有什么不同？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南方爱米饭，北方爱面食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收到礼物时，中国人一般怎么做？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不当面打开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🇯🇵 日本概览  Japan Overview</a:t>
            </a:r>
            <a:endParaRPr lang="en-US" sz="2800" dirty="0"/>
          </a:p>
        </p:txBody>
      </p:sp>
      <p:pic>
        <p:nvPicPr>
          <p:cNvPr id="4" name="Image 0" descr="https://upload.wikimedia.org/wikipedia/commons/thumb/1/1b/080103_hakridge_fuji.jpg/1280px-080103_hakridge_fuji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D32F2F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🏴 国旗：白底红圆（太阳）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349240" y="14630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人口：约1.25亿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349240" y="19202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语言：日语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349240" y="23774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首都：东京 Tokyo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349240" y="28346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🏝️ 由6,852个岛屿组成！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349240" y="32918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🗻 富士山：日本最高峰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349240" y="37490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🚄 新干线：时速320km!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日本是世界上最安全、最干净的国家之一！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🇯🇵 日本文化与礼节  Culture &amp; Etiquette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4389120" cy="210312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240">
            <a:solidFill>
              <a:srgbClr val="D32F2F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🌸 自然与传统 Nature &amp; Tradition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4023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🌸 樱花(sakura)是日本的象征——每年春天盛开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🗻 富士山(Mt. Fuji)高3,776米，日本最高峰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🌊 日本每年有1,500+次地震！建筑都是防震设计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👘 和服(kimono)是传统服装，节日时穿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⚔️ 武士(samurai)精神——勇气与荣誉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937760" y="868680"/>
            <a:ext cx="3840480" cy="2103120"/>
          </a:xfrm>
          <a:prstGeom prst="roundRect">
            <a:avLst>
              <a:gd name="adj" fmla="val 6522"/>
            </a:avLst>
          </a:prstGeom>
          <a:solidFill>
            <a:srgbClr val="FCE4EC"/>
          </a:solidFill>
          <a:ln w="15240">
            <a:solidFill>
              <a:srgbClr val="D32F2F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120640" y="9144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32F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🎮 动漫与流行文化 Anime &amp; Pop Culture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20640" y="1280160"/>
            <a:ext cx="34747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Pokemon宝可梦——全世界孩子都爱！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🐉 Dragon Ball龙珠、Naruto火影忍者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🎵 Nintendo任天堂——Mario马里奥的家！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Studio Ghibli宫崎骏——龙猫、千与千寻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🚄 新干线时速320km！电车准时到秒！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3200400"/>
            <a:ext cx="8503920" cy="1554480"/>
          </a:xfrm>
          <a:prstGeom prst="roundRect">
            <a:avLst>
              <a:gd name="adj" fmla="val 8824"/>
            </a:avLst>
          </a:prstGeom>
          <a:solidFill>
            <a:srgbClr val="FFCDD2"/>
          </a:solidFill>
          <a:ln w="15240">
            <a:solidFill>
              <a:srgbClr val="D32F2F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3246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⚠️ 旅行礼节 Travel Etiquette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" y="3566160"/>
            <a:ext cx="7955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见面鞠躬（不握手！）弯腰越深越尊重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进屋必须脱鞋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吃饭前说「いただきます」(我开动了)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不要在公共交通上大声说话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不要给小费（被认为不礼貌）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🇯🇵 日本美食  Japanese Food</a:t>
            </a:r>
            <a:endParaRPr lang="en-US" sz="2800" dirty="0"/>
          </a:p>
        </p:txBody>
      </p:sp>
      <p:pic>
        <p:nvPicPr>
          <p:cNvPr id="4" name="Image 0" descr="https://upload.wikimedia.org/wikipedia/commons/thumb/6/60/Sushi_platter.jpg/1280px-Sushi_platt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D32F2F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960120"/>
            <a:ext cx="32004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🍣 寿司 sushi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全球最受欢迎的日本料理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🍜 拉面 ramen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日本有5万多家拉面店！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🍤 天妇罗 tempura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炸虾炸蔬菜，酥脆美味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🍵 抹茶 matcha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日本茶道文化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🍱 便当 bento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午餐像艺术品！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349240" y="3840480"/>
            <a:ext cx="3200400" cy="18288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8" name="Text 5"/>
          <p:cNvSpPr/>
          <p:nvPr/>
        </p:nvSpPr>
        <p:spPr>
          <a:xfrm>
            <a:off x="5349240" y="39319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特别：吃面条时发出声音是礼貌的！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日本料理2013年入选联合国非物质文化遗产！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日本 Check Understanding (1/2)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日本由多少个岛屿组成？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6,852个！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在日本见面应该怎么做？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鞠躬 Bow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进别人家要做什么？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脱鞋 Take off shoes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在日本吃拉面可以发出声音吗？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可以！这是礼貌的 Yes!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富士山有多高？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3,776米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日本 Check Understanding (2/2)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日本每年有多少次地震？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1,500次以上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Pokemon(宝可梦)来自哪个国家？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日本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在日本可以给服务员小费吗？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不可以，被认为不礼貌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日本的樱花在什么季节开放？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春天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在日本吃拉面时发出声音是礼貌还是不礼貌？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礼貌！表示好吃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🇮🇳 印度概览  India Overview</a:t>
            </a:r>
            <a:endParaRPr lang="en-US" sz="2800" dirty="0"/>
          </a:p>
        </p:txBody>
      </p:sp>
      <p:pic>
        <p:nvPicPr>
          <p:cNvPr id="4" name="Image 0" descr="https://upload.wikimedia.org/wikipedia/commons/thumb/b/bd/Taj_Mahal%2C_Agra%2C_India_edit3.jpg/1280px-Taj_Mahal%2C_Agra%2C_India_edit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FF98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🏴 国旗：橙白绿三色+蓝色法轮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349240" y="146304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人口：约14亿（世界第二！）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349240" y="192024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语言：印地语+英语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349240" y="219456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（22种官方语言！）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349240" y="256032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首都：新德里 New Delhi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349240" y="301752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发明了数字「0」！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349240" y="347472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🐘 国家动物：孟加拉虎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349240" y="384048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宝莱坞：世界最大电影业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印度是世界上人口最多的民主国家！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🇮🇳 印度文化与礼节  Culture &amp; Etiquette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4389120" cy="210312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240">
            <a:solidFill>
              <a:srgbClr val="FF98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🎆 节日与文化 Festivals &amp; Culture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4023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🪔 排灯节(Diwali)——灯光节，像中国的春节！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家家户户点灯，放烟花，吃甜点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🎨 洒红节(Holi)——颜色节！互相泼彩色粉末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庆祝春天到来，是全世界最多彩的节日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🏞️ 恒河(Ganges)——印度最神圣的河流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印度人在恒河里沐浴祈祷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937760" y="868680"/>
            <a:ext cx="3840480" cy="2103120"/>
          </a:xfrm>
          <a:prstGeom prst="roundRect">
            <a:avLst>
              <a:gd name="adj" fmla="val 6522"/>
            </a:avLst>
          </a:prstGeom>
          <a:solidFill>
            <a:srgbClr val="FFF3E0"/>
          </a:solidFill>
          <a:ln w="15240">
            <a:solidFill>
              <a:srgbClr val="FF98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120640" y="9144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9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🍽️ 饮食禁忌与文化 Food Taboos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20640" y="1280160"/>
            <a:ext cx="34747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🐄 印度教徒不吃牛肉——牛是神圣的！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🐷 穆斯林不吃猪肉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🥬 很多印度人吃素(vegetarian)!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🤚 用右手吃饭（左手被认为不干净）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🌶️ 印度有世界上最多种类的香料！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3200400"/>
            <a:ext cx="8503920" cy="1554480"/>
          </a:xfrm>
          <a:prstGeom prst="roundRect">
            <a:avLst>
              <a:gd name="adj" fmla="val 8824"/>
            </a:avLst>
          </a:prstGeom>
          <a:solidFill>
            <a:srgbClr val="FFE0B2"/>
          </a:solidFill>
          <a:ln w="15240">
            <a:solidFill>
              <a:srgbClr val="FF98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3246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⚠️ 旅行礼节 Travel Etiquette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" y="3566160"/>
            <a:ext cx="7955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双手合十说「Namaste」(你好)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用右手吃饭和递东西（左手被认为不干净）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不要摸别人的头（头是神圣的）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进寺庙要脱鞋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很多人不吃牛肉（宗教原因）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🇮🇳 印度美食  Indian Food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5303520" cy="3931920"/>
          </a:xfrm>
          <a:prstGeom prst="roundRect">
            <a:avLst>
              <a:gd name="adj" fmla="val 3488"/>
            </a:avLst>
          </a:prstGeom>
          <a:solidFill>
            <a:srgbClr val="FFF3E0"/>
          </a:solidFill>
          <a:ln w="15240">
            <a:solidFill>
              <a:srgbClr val="FF98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005840"/>
            <a:ext cx="48463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🍛 咖喱 curry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印度最有名的食物，种类超多！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🫓 飞饼 naan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用来蘸咖喱吃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 奶茶 chai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印度的国民饮料！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🌶️ 香料 spices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咖喱粉、姜黄、小茴香...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374904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🥗 很多印度人吃素(vegetarian)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🤚 用手吃饭是传统（和非洲一样！明天会学到）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806440" y="868680"/>
            <a:ext cx="3017520" cy="39319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240">
            <a:solidFill>
              <a:srgbClr val="FF98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89320" y="9601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🌶️ 印度饮食特色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989320" y="141732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印度是世界上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素食人口最多的国家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63640" y="2103120"/>
            <a:ext cx="2103120" cy="9144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5989320" y="219456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印度有超过30种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不同的咖喱！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63640" y="2880360"/>
            <a:ext cx="2103120" cy="9144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5989320" y="297180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印度的香料出口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占全球70%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657600"/>
            <a:ext cx="2103120" cy="9144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5989320" y="374904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印度奶茶(chai)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每天消费超过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10亿杯！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印度 Check Understanding (1/2)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印度有多少种官方语言？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22种！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印度人见面怎么打招呼？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双手合十说Namaste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为什么很多印度人不吃牛肉？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牛是神圣的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印度人发明了什么数字？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数字 0 ！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印度最神圣的河流叫什么？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恒河 Ganges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印度 Check Understanding (2/2)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洒红节(Holi)是什么节日？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颜色节，互相泼彩色粉末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为什么很多印度人吃素？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宗教信仰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印度发明了什么棋类游戏？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象棋 Chess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排灯节(Diwali)像中国的什么节日？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春节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在印度能用左手递东西给别人吗？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不能，左手被认为不干净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7B1FA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🎭 Mini Role Play  打招呼练习 (3-5 min)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B1F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站起来和旁边的同学练习！Stand up and practice!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74320" y="1417320"/>
            <a:ext cx="2651760" cy="2743200"/>
          </a:xfrm>
          <a:prstGeom prst="roundRect">
            <a:avLst>
              <a:gd name="adj" fmla="val 5172"/>
            </a:avLst>
          </a:prstGeom>
          <a:solidFill>
            <a:srgbClr val="FFCDD2"/>
          </a:solidFill>
          <a:ln w="15240">
            <a:solidFill>
              <a:srgbClr val="E53935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15087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🇨🇳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274320" y="21488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5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中国 China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651760"/>
            <a:ext cx="2103120" cy="18288"/>
          </a:xfrm>
          <a:prstGeom prst="rect">
            <a:avLst/>
          </a:prstGeom>
          <a:solidFill>
            <a:srgbClr val="E53935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278892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握手 + 「你好！」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154680" y="1417320"/>
            <a:ext cx="2651760" cy="2743200"/>
          </a:xfrm>
          <a:prstGeom prst="roundRect">
            <a:avLst>
              <a:gd name="adj" fmla="val 5172"/>
            </a:avLst>
          </a:prstGeom>
          <a:solidFill>
            <a:srgbClr val="FCE4EC"/>
          </a:solidFill>
          <a:ln w="15240">
            <a:solidFill>
              <a:srgbClr val="D32F2F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154680" y="15087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🇯🇵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154680" y="21488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32F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日本 Japan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429000" y="2651760"/>
            <a:ext cx="2103120" cy="18288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14" name="Text 12"/>
          <p:cNvSpPr/>
          <p:nvPr/>
        </p:nvSpPr>
        <p:spPr>
          <a:xfrm>
            <a:off x="3154680" y="278892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鞠躬 + 「こんにちは」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035040" y="1417320"/>
            <a:ext cx="2651760" cy="2743200"/>
          </a:xfrm>
          <a:prstGeom prst="roundRect">
            <a:avLst>
              <a:gd name="adj" fmla="val 5172"/>
            </a:avLst>
          </a:prstGeom>
          <a:solidFill>
            <a:srgbClr val="FFF3E0"/>
          </a:solidFill>
          <a:ln w="15240">
            <a:solidFill>
              <a:srgbClr val="FF98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035040" y="15087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🇮🇳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6035040" y="21488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印度 India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309360" y="2651760"/>
            <a:ext cx="2103120" cy="18288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6035040" y="278892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合十 + 「Namaste」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1F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尊重每个文化的问候方式！Respect every culture's greeting!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23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🧩 Project 提醒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371600" y="1371600"/>
            <a:ext cx="6400800" cy="2926080"/>
          </a:xfrm>
          <a:prstGeom prst="roundRect">
            <a:avLst>
              <a:gd name="adj" fmla="val 4688"/>
            </a:avLst>
          </a:prstGeom>
          <a:solidFill>
            <a:srgbClr val="FFF8E1"/>
          </a:solidFill>
          <a:ln/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645920" y="1554480"/>
            <a:ext cx="58521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📒 发护照 Hand out passports!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下午完成亚洲页！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your Asia page this afternoon!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需要：彩色笔 ✏️  护照本 📒  想象力 💡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8F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457200"/>
            <a:ext cx="1371600" cy="1371600"/>
          </a:xfrm>
          <a:prstGeom prst="ellipse">
            <a:avLst/>
          </a:prstGeom>
          <a:solidFill>
            <a:srgbClr val="FFD54F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☀️ 下午开始</a:t>
            </a:r>
            <a:endParaRPr lang="en-US" sz="34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8E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Afternoon Session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2743200" y="2560320"/>
            <a:ext cx="3657600" cy="36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复习 → 对比总结 → 语言学习 → Project Time!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A237E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快速复习  Quick Review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说出3个国家 + 每个国家一个特别的礼节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4320" y="1463040"/>
            <a:ext cx="2651760" cy="2926080"/>
          </a:xfrm>
          <a:prstGeom prst="roundRect">
            <a:avLst>
              <a:gd name="adj" fmla="val 5172"/>
            </a:avLst>
          </a:prstGeom>
          <a:solidFill>
            <a:srgbClr val="FFCDD2"/>
          </a:solidFill>
          <a:ln w="15240">
            <a:solidFill>
              <a:srgbClr val="E53935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4320" y="15544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🇨🇳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74320" y="22860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5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中国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2834640"/>
            <a:ext cx="2103120" cy="18288"/>
          </a:xfrm>
          <a:prstGeom prst="rect">
            <a:avLst/>
          </a:prstGeom>
          <a:solidFill>
            <a:srgbClr val="E53935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29718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特别的礼节：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4320" y="33832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5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___?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3154680" y="1463040"/>
            <a:ext cx="2651760" cy="2926080"/>
          </a:xfrm>
          <a:prstGeom prst="roundRect">
            <a:avLst>
              <a:gd name="adj" fmla="val 5172"/>
            </a:avLst>
          </a:prstGeom>
          <a:solidFill>
            <a:srgbClr val="FCE4EC"/>
          </a:solidFill>
          <a:ln w="15240">
            <a:solidFill>
              <a:srgbClr val="D32F2F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154680" y="15544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🇯🇵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3154680" y="22860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32F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日本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429000" y="2834640"/>
            <a:ext cx="2103120" cy="18288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17" name="Text 15"/>
          <p:cNvSpPr/>
          <p:nvPr/>
        </p:nvSpPr>
        <p:spPr>
          <a:xfrm>
            <a:off x="3154680" y="29718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特别的礼节：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154680" y="33832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32F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___?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035040" y="1463040"/>
            <a:ext cx="2651760" cy="2926080"/>
          </a:xfrm>
          <a:prstGeom prst="roundRect">
            <a:avLst>
              <a:gd name="adj" fmla="val 5172"/>
            </a:avLst>
          </a:prstGeom>
          <a:solidFill>
            <a:srgbClr val="FFF3E0"/>
          </a:solidFill>
          <a:ln w="15240">
            <a:solidFill>
              <a:srgbClr val="FF98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035040" y="15544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🇮🇳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6035040" y="22860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9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印度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6309360" y="2834640"/>
            <a:ext cx="2103120" cy="18288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3" name="Text 21"/>
          <p:cNvSpPr/>
          <p:nvPr/>
        </p:nvSpPr>
        <p:spPr>
          <a:xfrm>
            <a:off x="6035040" y="29718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特别的礼节：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035040" y="33832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9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___?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「谁能第一个说出来？」Who can answer first?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A237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🌏 亚洲三国文化对比  Comparison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1645920" cy="576072"/>
          </a:xfrm>
          <a:prstGeom prst="rect">
            <a:avLst/>
          </a:prstGeom>
          <a:solidFill>
            <a:srgbClr val="1A237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68680"/>
            <a:ext cx="164592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011680" y="868680"/>
            <a:ext cx="2194560" cy="576072"/>
          </a:xfrm>
          <a:prstGeom prst="rect">
            <a:avLst/>
          </a:prstGeom>
          <a:solidFill>
            <a:srgbClr val="E539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11680" y="868680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🇨🇳 中国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06240" y="868680"/>
            <a:ext cx="2194560" cy="576072"/>
          </a:xfrm>
          <a:prstGeom prst="rect">
            <a:avLst/>
          </a:prstGeom>
          <a:solidFill>
            <a:srgbClr val="D32F2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06240" y="868680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🇯🇵 日本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0" y="868680"/>
            <a:ext cx="2194560" cy="576072"/>
          </a:xfrm>
          <a:prstGeom prst="rect">
            <a:avLst/>
          </a:prstGeom>
          <a:solidFill>
            <a:srgbClr val="FF98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868680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🇮🇳 印度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444752"/>
            <a:ext cx="1645920" cy="576072"/>
          </a:xfrm>
          <a:prstGeom prst="rect">
            <a:avLst/>
          </a:prstGeom>
          <a:solidFill>
            <a:srgbClr val="1A237E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1444752"/>
            <a:ext cx="164592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打招呼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011680" y="1444752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11680" y="1444752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握手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06240" y="1444752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06240" y="1444752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鞠躬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0" y="1444752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1444752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合十 Namaste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2020824"/>
            <a:ext cx="1645920" cy="576072"/>
          </a:xfrm>
          <a:prstGeom prst="rect">
            <a:avLst/>
          </a:prstGeom>
          <a:solidFill>
            <a:srgbClr val="1A237E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2020824"/>
            <a:ext cx="164592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吃饭工具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011680" y="2020824"/>
            <a:ext cx="2194560" cy="576072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011680" y="2020824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筷子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206240" y="2020824"/>
            <a:ext cx="2194560" cy="576072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06240" y="2020824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筷子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0" y="2020824"/>
            <a:ext cx="2194560" cy="576072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0" y="2020824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手/右手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5760" y="2596896"/>
            <a:ext cx="1645920" cy="576072"/>
          </a:xfrm>
          <a:prstGeom prst="rect">
            <a:avLst/>
          </a:prstGeom>
          <a:solidFill>
            <a:srgbClr val="1A237E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596896"/>
            <a:ext cx="164592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重要节日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011680" y="2596896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011680" y="2596896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春节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206240" y="2596896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206240" y="2596896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女儿节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400800" y="2596896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0" y="2596896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排灯节 Diwali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65760" y="3172968"/>
            <a:ext cx="1645920" cy="576072"/>
          </a:xfrm>
          <a:prstGeom prst="rect">
            <a:avLst/>
          </a:prstGeom>
          <a:solidFill>
            <a:srgbClr val="1A237E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3172968"/>
            <a:ext cx="164592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代表食物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011680" y="3172968"/>
            <a:ext cx="2194560" cy="576072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011680" y="3172968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饺子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206240" y="3172968"/>
            <a:ext cx="2194560" cy="576072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206240" y="3172968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寿司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400800" y="3172968"/>
            <a:ext cx="2194560" cy="576072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0" y="3172968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咖喱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3749040"/>
            <a:ext cx="1645920" cy="576072"/>
          </a:xfrm>
          <a:prstGeom prst="rect">
            <a:avLst/>
          </a:prstGeom>
          <a:solidFill>
            <a:srgbClr val="1A237E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3749040"/>
            <a:ext cx="164592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不能做的事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011680" y="3749040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011680" y="3749040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筷子插饭里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206240" y="3749040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206240" y="3749040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大声说话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400800" y="3749040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00800" y="3749040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左手递东西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325112"/>
            <a:ext cx="1645920" cy="576072"/>
          </a:xfrm>
          <a:prstGeom prst="rect">
            <a:avLst/>
          </a:prstGeom>
          <a:solidFill>
            <a:srgbClr val="1A237E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325112"/>
            <a:ext cx="164592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特别的动物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011680" y="4325112"/>
            <a:ext cx="2194560" cy="576072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011680" y="4325112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熊猫 🐼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206240" y="4325112"/>
            <a:ext cx="2194560" cy="576072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206240" y="4325112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鹤 🦢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400800" y="4325112"/>
            <a:ext cx="2194560" cy="576072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400800" y="4325112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牛 🐄 (神圣)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三个国家各有特色，你最想去哪个？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A237E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🤔 共同点与不同  Similarities &amp; Differences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4114800" cy="3657600"/>
          </a:xfrm>
          <a:prstGeom prst="roundRect">
            <a:avLst>
              <a:gd name="adj" fmla="val 3750"/>
            </a:avLst>
          </a:prstGeom>
          <a:solidFill>
            <a:srgbClr val="E8F5E9"/>
          </a:solidFill>
          <a:ln w="15240">
            <a:solidFill>
              <a:srgbClr val="388E3C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0058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8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共同点 Similarities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1417320"/>
            <a:ext cx="3200400" cy="18288"/>
          </a:xfrm>
          <a:prstGeom prst="rect">
            <a:avLst/>
          </a:prstGeom>
          <a:solidFill>
            <a:srgbClr val="388E3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55448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都有悠久的历史和文化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都用米饭做主食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都重视礼节和尊重长辈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都有丰富的节日文化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4114800" cy="3657600"/>
          </a:xfrm>
          <a:prstGeom prst="roundRect">
            <a:avLst>
              <a:gd name="adj" fmla="val 3750"/>
            </a:avLst>
          </a:prstGeom>
          <a:solidFill>
            <a:srgbClr val="FFF3E0"/>
          </a:solidFill>
          <a:ln w="15240">
            <a:solidFill>
              <a:srgbClr val="FF8F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46320" y="10058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❌ 不同点 Differences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120640" y="1417320"/>
            <a:ext cx="3200400" cy="18288"/>
          </a:xfrm>
          <a:prstGeom prst="rect">
            <a:avLst/>
          </a:prstGeom>
          <a:solidFill>
            <a:srgbClr val="FF8F00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55448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打招呼方式不同（握手/鞠躬/合十）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吃饭工具不同（筷子 vs 手）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宗教信仰不同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食物口味不同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中国多样 / 日本清淡 / 印度香料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A237E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🧳 旅行小贴士  Travel Tips Summary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「如果你去亚洲旅行，要记住：」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4320" y="1417320"/>
            <a:ext cx="2651760" cy="2560320"/>
          </a:xfrm>
          <a:prstGeom prst="roundRect">
            <a:avLst>
              <a:gd name="adj" fmla="val 5357"/>
            </a:avLst>
          </a:prstGeom>
          <a:solidFill>
            <a:srgbClr val="FFCDD2"/>
          </a:solidFill>
          <a:ln w="15240">
            <a:solidFill>
              <a:srgbClr val="E53935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4320" y="15087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5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🇨🇳 在中国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11680"/>
            <a:ext cx="2103120" cy="18288"/>
          </a:xfrm>
          <a:prstGeom prst="rect">
            <a:avLst/>
          </a:prstGeom>
          <a:solidFill>
            <a:srgbClr val="E53935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" y="2148840"/>
            <a:ext cx="23774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学会用筷子！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不要把筷子插饭里！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154680" y="1417320"/>
            <a:ext cx="2651760" cy="2560320"/>
          </a:xfrm>
          <a:prstGeom prst="roundRect">
            <a:avLst>
              <a:gd name="adj" fmla="val 5357"/>
            </a:avLst>
          </a:prstGeom>
          <a:solidFill>
            <a:srgbClr val="FCE4EC"/>
          </a:solidFill>
          <a:ln w="15240">
            <a:solidFill>
              <a:srgbClr val="D32F2F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154680" y="15087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32F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🇯🇵 在日本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429000" y="2011680"/>
            <a:ext cx="2103120" cy="18288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14" name="Text 12"/>
          <p:cNvSpPr/>
          <p:nvPr/>
        </p:nvSpPr>
        <p:spPr>
          <a:xfrm>
            <a:off x="3291840" y="2148840"/>
            <a:ext cx="23774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记得鞠躬！进屋脱鞋！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吃面可以出声！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35040" y="1417320"/>
            <a:ext cx="2651760" cy="2560320"/>
          </a:xfrm>
          <a:prstGeom prst="roundRect">
            <a:avLst>
              <a:gd name="adj" fmla="val 5357"/>
            </a:avLst>
          </a:prstGeom>
          <a:solidFill>
            <a:srgbClr val="FFF3E0"/>
          </a:solidFill>
          <a:ln w="15240">
            <a:solidFill>
              <a:srgbClr val="FF98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035040" y="15087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🇮🇳 在印度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309360" y="2011680"/>
            <a:ext cx="2103120" cy="18288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72200" y="2148840"/>
            <a:ext cx="23774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用右手！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双手合十说Namaste！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不要摸头！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371600" y="4114800"/>
            <a:ext cx="6400800" cy="640080"/>
          </a:xfrm>
          <a:prstGeom prst="roundRect">
            <a:avLst>
              <a:gd name="adj" fmla="val 21429"/>
            </a:avLst>
          </a:prstGeom>
          <a:solidFill>
            <a:srgbClr val="1A237E"/>
          </a:solidFill>
          <a:ln/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371600" y="411480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尊重每个国家的文化是最重要的！Respect every culture!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A237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📝 生词卡  Vocabulary Cards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1280160" cy="384048"/>
          </a:xfrm>
          <a:prstGeom prst="rect">
            <a:avLst/>
          </a:prstGeom>
          <a:solidFill>
            <a:srgbClr val="1A237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86868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汉字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554480" y="868680"/>
            <a:ext cx="1828800" cy="384048"/>
          </a:xfrm>
          <a:prstGeom prst="rect">
            <a:avLst/>
          </a:prstGeom>
          <a:solidFill>
            <a:srgbClr val="1A237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86868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拼音 Pinyin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83280" y="868680"/>
            <a:ext cx="1280160" cy="384048"/>
          </a:xfrm>
          <a:prstGeom prst="rect">
            <a:avLst/>
          </a:prstGeom>
          <a:solidFill>
            <a:srgbClr val="1A237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86868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English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868680"/>
            <a:ext cx="1828800" cy="384048"/>
          </a:xfrm>
          <a:prstGeom prst="rect">
            <a:avLst/>
          </a:prstGeom>
          <a:solidFill>
            <a:srgbClr val="1A237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86868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汉字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92240" y="868680"/>
            <a:ext cx="1280160" cy="384048"/>
          </a:xfrm>
          <a:prstGeom prst="rect">
            <a:avLst/>
          </a:prstGeom>
          <a:solidFill>
            <a:srgbClr val="1A237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86868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拼音 Pinyin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0" y="868680"/>
            <a:ext cx="1280160" cy="384048"/>
          </a:xfrm>
          <a:prstGeom prst="rect">
            <a:avLst/>
          </a:prstGeom>
          <a:solidFill>
            <a:srgbClr val="1A237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0" y="86868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English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1252728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1252728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饺子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554480" y="1252728"/>
            <a:ext cx="18288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554480" y="125272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jiǎo zi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383280" y="1252728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83280" y="1252728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dumplings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1252728"/>
            <a:ext cx="18288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125272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筷子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92240" y="1252728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92240" y="1252728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kuài zi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772400" y="1252728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0" y="1252728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chopsticks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74320" y="1636776"/>
            <a:ext cx="1280160" cy="384048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1636776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面条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1554480" y="1636776"/>
            <a:ext cx="1828800" cy="384048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554480" y="1636776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miàn tiáo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383280" y="1636776"/>
            <a:ext cx="1280160" cy="384048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83280" y="1636776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noodles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663440" y="1636776"/>
            <a:ext cx="1828800" cy="384048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663440" y="1636776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鞠躬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492240" y="1636776"/>
            <a:ext cx="1280160" cy="384048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92240" y="1636776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jū gōng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772400" y="1636776"/>
            <a:ext cx="1280160" cy="384048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0" y="1636776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bow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74320" y="2020824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74320" y="2020824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寿司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1554480" y="2020824"/>
            <a:ext cx="18288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554480" y="2020824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shòu sī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383280" y="2020824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383280" y="2020824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sushi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663440" y="2020824"/>
            <a:ext cx="18288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663440" y="2020824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合十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492240" y="2020824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92240" y="2020824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hé shí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772400" y="2020824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772400" y="2020824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palms together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274320" y="2404872"/>
            <a:ext cx="1280160" cy="384048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74320" y="2404872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拉面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1554480" y="2404872"/>
            <a:ext cx="1828800" cy="384048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554480" y="24048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lā miàn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3383280" y="2404872"/>
            <a:ext cx="1280160" cy="384048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383280" y="2404872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ramen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4663440" y="2404872"/>
            <a:ext cx="1828800" cy="384048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663440" y="24048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国旗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6492240" y="2404872"/>
            <a:ext cx="1280160" cy="384048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492240" y="2404872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guó qí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7772400" y="2404872"/>
            <a:ext cx="1280160" cy="384048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772400" y="2404872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flag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274320" y="2788920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74320" y="278892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咖喱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1554480" y="2788920"/>
            <a:ext cx="18288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554480" y="278892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gā lí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3383280" y="2788920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383280" y="278892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curry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4663440" y="2788920"/>
            <a:ext cx="18288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663440" y="278892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礼节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492240" y="2788920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492240" y="278892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lǐ jié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7772400" y="2788920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772400" y="278892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etiquette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跟老师一起读！Read with the teacher!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A237E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💬 句型练习  Sentence Patterns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850392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E53935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9601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5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「我喜欢吃___」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0" y="960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like to eat ___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8138160" cy="9144"/>
          </a:xfrm>
          <a:prstGeom prst="rect">
            <a:avLst/>
          </a:prstGeom>
          <a:solidFill>
            <a:srgbClr val="E53935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46304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例: 我喜欢吃饺子/寿司/咖喱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2240280"/>
            <a:ext cx="850392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32F2F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" y="228600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32F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「在___，人们用___打招呼」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86400" y="228600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___, people greet by ___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743200"/>
            <a:ext cx="8138160" cy="9144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78892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例: 在日本，人们用鞠躬打招呼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" y="3566160"/>
            <a:ext cx="850392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FF98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7200" y="361188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9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「去___旅行要注意___」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0" y="361188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traveling to ___, be careful about ___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069080"/>
            <a:ext cx="8138160" cy="9144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411480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例: 去印度旅行要注意用右手吃饭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和同伴一起练习！Practice with a partner!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7B1FA2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🎭 Role Play  角色扮演 (10-15 min)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B1F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「你到了亚洲三个国家旅行！」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74320" y="137160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FFCDD2"/>
          </a:solidFill>
          <a:ln w="15240">
            <a:solidFill>
              <a:srgbClr val="E53935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4320" y="14173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5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Round 1: 到中国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182880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用筷子吃饺子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和人握手说「你好」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54680" y="137160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FCE4EC"/>
          </a:solidFill>
          <a:ln w="15240">
            <a:solidFill>
              <a:srgbClr val="D32F2F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154680" y="14173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32F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Round 2: 到日本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246120" y="182880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鞠躬，脱鞋进屋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吃寿司说「いただきます」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37160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FFF3E0"/>
          </a:solidFill>
          <a:ln w="15240">
            <a:solidFill>
              <a:srgbClr val="FF98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35040" y="14173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Round 3: 到印度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26480" y="182880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合十说「Namaste」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用右手吃咖喱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3246120"/>
            <a:ext cx="8503920" cy="146304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5240">
            <a:solidFill>
              <a:srgbClr val="7B1FA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7200" y="32918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1F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分层 Differentiation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36576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8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🟢 零基础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39776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模仿动作 + 说国家名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00400" y="36576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🔵 Level 2-3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200400" y="39776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「你好！我想吃___」+ 做动作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0" y="36576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1F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🟣 Level 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943600" y="39776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完整对话 + 介绍文化礼节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🎨 Project Time!  护照亚洲页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⭐ Passport 亚洲页 Template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8229600" cy="566928"/>
          </a:xfrm>
          <a:prstGeom prst="roundRect">
            <a:avLst>
              <a:gd name="adj" fmla="val 24194"/>
            </a:avLst>
          </a:prstGeom>
          <a:solidFill>
            <a:srgbClr val="FFFFFF"/>
          </a:solidFill>
          <a:ln w="15240">
            <a:solidFill>
              <a:srgbClr val="00897B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🌎 Where am I?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160020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亚洲 (中国/日本/印度)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66928"/>
          </a:xfrm>
          <a:prstGeom prst="roundRect">
            <a:avLst>
              <a:gd name="adj" fmla="val 24194"/>
            </a:avLst>
          </a:prstGeom>
          <a:solidFill>
            <a:srgbClr val="FFFFFF"/>
          </a:solidFill>
          <a:ln w="15240">
            <a:solidFill>
              <a:srgbClr val="00897B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" y="202996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👀 What did I see?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28600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长城 / 富士山 / 泰姬陵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8229600" cy="566928"/>
          </a:xfrm>
          <a:prstGeom prst="roundRect">
            <a:avLst>
              <a:gd name="adj" fmla="val 24194"/>
            </a:avLst>
          </a:prstGeom>
          <a:solidFill>
            <a:srgbClr val="FFFFFF"/>
          </a:solidFill>
          <a:ln w="15240">
            <a:solidFill>
              <a:srgbClr val="00897B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0080" y="271576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🍜 What did I eat?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297180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饺子 / 寿司 / 咖喱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383280"/>
            <a:ext cx="8229600" cy="566928"/>
          </a:xfrm>
          <a:prstGeom prst="roundRect">
            <a:avLst>
              <a:gd name="adj" fmla="val 24194"/>
            </a:avLst>
          </a:prstGeom>
          <a:solidFill>
            <a:srgbClr val="FFFFFF"/>
          </a:solidFill>
          <a:ln w="15240">
            <a:solidFill>
              <a:srgbClr val="00897B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080" y="340156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🎭 Cultural Discovery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365760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鞠躬 / 合十 / 筷子文化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069080"/>
            <a:ext cx="8229600" cy="566928"/>
          </a:xfrm>
          <a:prstGeom prst="roundRect">
            <a:avLst>
              <a:gd name="adj" fmla="val 24194"/>
            </a:avLst>
          </a:prstGeom>
          <a:solidFill>
            <a:srgbClr val="FFFFFF"/>
          </a:solidFill>
          <a:ln w="15240">
            <a:solidFill>
              <a:srgbClr val="00897B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0080" y="408736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💬 My Sentence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434340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我喜欢吃___。在___，人们...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用彩色笔画出你最喜欢的！Draw your favorite!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📊 Project 分层  Differentiated Tasks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8503920" cy="1097280"/>
          </a:xfrm>
          <a:prstGeom prst="roundRect">
            <a:avLst>
              <a:gd name="adj" fmla="val 12500"/>
            </a:avLst>
          </a:prstGeom>
          <a:solidFill>
            <a:srgbClr val="E8F5E9"/>
          </a:solidFill>
          <a:ln w="15240">
            <a:solidFill>
              <a:srgbClr val="388E3C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9601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🟢 零基础 Beginners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32588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画图 + 写词  (饺子 / 寿司 / 咖喱)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" y="2194560"/>
            <a:ext cx="8503920" cy="1097280"/>
          </a:xfrm>
          <a:prstGeom prst="roundRect">
            <a:avLst>
              <a:gd name="adj" fmla="val 12500"/>
            </a:avLst>
          </a:prstGeom>
          <a:solidFill>
            <a:srgbClr val="E8EAF6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2240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🔵 Level 2-3 Intermediate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260604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「I see ___. I eat ___. In Japan, people bow.」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" y="3474720"/>
            <a:ext cx="8503920" cy="1280160"/>
          </a:xfrm>
          <a:prstGeom prst="roundRect">
            <a:avLst>
              <a:gd name="adj" fmla="val 10714"/>
            </a:avLst>
          </a:prstGeom>
          <a:solidFill>
            <a:srgbClr val="F3E5F5"/>
          </a:solidFill>
          <a:ln w="15240">
            <a:solidFill>
              <a:srgbClr val="7B1FA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" y="3520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1F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🟣 Level 4 Advanced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388620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「In China, I saw the Great Wall. I ate dumplings with chopsticks.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traveling there, don't stick chopsticks in rice because...」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📄 Project 示范  Example Page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914400" y="914400"/>
            <a:ext cx="7315200" cy="384048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5240">
            <a:solidFill>
              <a:srgbClr val="00897B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97280" y="100584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🌏 My Asia Page  我的亚洲页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828800" y="1463040"/>
            <a:ext cx="5486400" cy="18288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9" name="Text 7"/>
          <p:cNvSpPr/>
          <p:nvPr/>
        </p:nvSpPr>
        <p:spPr>
          <a:xfrm>
            <a:off x="1280160" y="1600200"/>
            <a:ext cx="6583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🌎 I visited: 亚洲 Asia — 中国, 日本, 印度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80160" y="2075688"/>
            <a:ext cx="6583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👀 I saw: 长城 Great Wall, 富士山 Mt. Fuji, 泰姬陵 Taj Mahal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80160" y="2551176"/>
            <a:ext cx="6583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🍜 I ate: 饺子 dumplings with 筷子 chopsticks!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80160" y="3026664"/>
            <a:ext cx="6583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🎭 I learned: 在日本要鞠躬，在印度说Namaste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80160" y="3502152"/>
            <a:ext cx="6583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My sentence: 我最喜欢吃寿司。在中国，人们用筷子吃饭。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80160" y="3977640"/>
            <a:ext cx="6583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🎨 [Draw your favorite food or landmark here!]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A237E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🗣️ 分享时间  Sharing Time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和同伴分享你的亚洲页！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Share your Asia page with a partner!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8229600" cy="256032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240">
            <a:solidFill>
              <a:srgbClr val="1A237E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202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句型提示 Sentence Starters: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3774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「我去了___，看到了___。」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8346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「我最喜欢吃___，因为___。」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2918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「在___旅行，要注意___。」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7490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「我觉得最有趣的是___。」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A23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🪪 亚洲签证章  Asia Visa Stamp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0" y="1097280"/>
            <a:ext cx="3657600" cy="3200400"/>
          </a:xfrm>
          <a:prstGeom prst="ellipse">
            <a:avLst/>
          </a:prstGeom>
          <a:solidFill>
            <a:srgbClr val="1A237E"/>
          </a:solidFill>
          <a:ln w="50800">
            <a:solidFill>
              <a:srgbClr val="D32F2F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2743200" y="1280160"/>
            <a:ext cx="365760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32F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ASIA</a:t>
            </a:r>
            <a:endParaRPr lang="en-US" sz="3400" dirty="0"/>
          </a:p>
          <a:p>
            <a:pPr algn="ctr" indent="0" marL="0">
              <a:buNone/>
            </a:pPr>
            <a:r>
              <a:rPr lang="en-US" sz="2400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亚洲</a:t>
            </a:r>
            <a:endParaRPr lang="en-US" sz="34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 VISITED</a:t>
            </a:r>
            <a:endParaRPr lang="en-US" sz="3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6/8/2025</a:t>
            </a:r>
            <a:endParaRPr lang="en-US" sz="3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 · 日本 · 印度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恭喜你完成亚洲之旅！Congratulations!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A23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✈️ 明天航班</a:t>
            </a:r>
            <a:endParaRPr lang="en-US" sz="3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Tomorrow's Flight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2743200" y="1554480"/>
            <a:ext cx="3657600" cy="36576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6" name="Shape 4"/>
          <p:cNvSpPr/>
          <p:nvPr/>
        </p:nvSpPr>
        <p:spPr>
          <a:xfrm>
            <a:off x="1371600" y="1828800"/>
            <a:ext cx="6400800" cy="2377440"/>
          </a:xfrm>
          <a:prstGeom prst="roundRect">
            <a:avLst>
              <a:gd name="adj" fmla="val 5769"/>
            </a:avLst>
          </a:prstGeom>
          <a:solidFill>
            <a:srgbClr val="FFF8E1"/>
          </a:solidFill>
          <a:ln/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645920" y="1920240"/>
            <a:ext cx="58521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Flight 航班: GR-002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Destination 目的地: 非洲 AFRICA</a:t>
            </a:r>
            <a:endParaRPr lang="en-US" sz="1800" dirty="0"/>
          </a:p>
          <a:p>
            <a:pPr algn="ctr" indent="0" marL="0">
              <a:buNone/>
            </a:pPr>
            <a:endParaRPr lang="en-US" sz="18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明天我们去非洲！</a:t>
            </a:r>
            <a:endParaRPr lang="en-US" sz="18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那里的人怎么打招呼？</a:t>
            </a:r>
            <a:endParaRPr lang="en-US" sz="1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Tomorrow we fly to Africa! How do people greet there?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you tomorrow, explorers!  明天见，小探险家们！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Explorer Camp · Day 1: 亚洲 Asia</dc:title>
  <dc:subject>PptxGenJS Presentation</dc:subject>
  <dc:creator>谷雨中文 GR EDU</dc:creator>
  <cp:lastModifiedBy>谷雨中文 GR EDU</cp:lastModifiedBy>
  <cp:revision>1</cp:revision>
  <dcterms:created xsi:type="dcterms:W3CDTF">2026-03-19T18:13:13Z</dcterms:created>
  <dcterms:modified xsi:type="dcterms:W3CDTF">2026-03-19T18:13:13Z</dcterms:modified>
</cp:coreProperties>
</file>