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E0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1828800" y="1645920"/>
            <a:ext cx="5303520" cy="2103120"/>
          </a:xfrm>
          <a:prstGeom prst="roundRect">
            <a:avLst>
              <a:gd name="adj" fmla="val 7826"/>
            </a:avLst>
          </a:prstGeom>
          <a:solidFill>
            <a:srgbClr val="4E342E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0" y="1645920"/>
            <a:ext cx="5303520" cy="347472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64592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· 登机牌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2103120"/>
            <a:ext cx="3291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航班 GR-002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FFE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亚洲 ASIA</a:t>
            </a:r>
            <a:endParaRPr lang="en-US" sz="22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非洲 AFRICA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669280" y="2057400"/>
            <a:ext cx="36576" cy="1371600"/>
          </a:xfrm>
          <a:prstGeom prst="rect">
            <a:avLst/>
          </a:prstGeom>
          <a:solidFill>
            <a:srgbClr val="FFD54F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2103120"/>
            <a:ext cx="1097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6/9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E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周二 Tuesday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2286000" y="3931920"/>
            <a:ext cx="4389120" cy="457200"/>
          </a:xfrm>
          <a:prstGeom prst="roundRect">
            <a:avLst>
              <a:gd name="adj" fmla="val 30000"/>
            </a:avLst>
          </a:prstGeom>
          <a:solidFill>
            <a:srgbClr val="FF8F00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3931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请出示你的护照！Show your passport!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护照签证章进度 Passport Stamps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731520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5" name="Shape 3"/>
          <p:cNvSpPr/>
          <p:nvPr/>
        </p:nvSpPr>
        <p:spPr>
          <a:xfrm>
            <a:off x="1152144" y="2144268"/>
            <a:ext cx="438912" cy="438912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14426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03220" y="2066544"/>
            <a:ext cx="594360" cy="594360"/>
          </a:xfrm>
          <a:prstGeom prst="ellipse">
            <a:avLst/>
          </a:prstGeom>
          <a:solidFill>
            <a:srgbClr val="FF6F00"/>
          </a:solidFill>
          <a:ln/>
        </p:spPr>
      </p:sp>
      <p:sp>
        <p:nvSpPr>
          <p:cNvPr id="9" name="Text 7"/>
          <p:cNvSpPr/>
          <p:nvPr/>
        </p:nvSpPr>
        <p:spPr>
          <a:xfrm>
            <a:off x="2971800" y="206654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9744" y="2144268"/>
            <a:ext cx="438912" cy="438912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64224" y="2144268"/>
            <a:ext cx="438912" cy="438912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44384" y="2144268"/>
            <a:ext cx="438912" cy="438912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文化展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3520440"/>
            <a:ext cx="6766560" cy="640080"/>
          </a:xfrm>
          <a:prstGeom prst="roundRect">
            <a:avLst>
              <a:gd name="adj" fmla="val 21429"/>
            </a:avLst>
          </a:prstGeom>
          <a:solidFill>
            <a:srgbClr val="FFF8E1"/>
          </a:solidFill>
          <a:ln w="25400">
            <a:solidFill>
              <a:srgbClr val="FF8F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52044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 ✔ &gt; 非洲（今天!）&gt; 欧洲 &gt; 美洲 &gt; 文化展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429768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集满5个签证章，成为环球探索家！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今天的目标 Today’s Goals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1005840"/>
            <a:ext cx="621792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31750">
            <a:solidFill>
              <a:srgbClr val="FF8F00"/>
            </a:solidFill>
            <a:prstDash val="solid"/>
          </a:ln>
          <a:effectLst>
            <a:outerShdw sx="100000" sy="100000" kx="0" ky="0" algn="bl" rotWithShape="0" blurRad="63500" dist="25400" dir="16200000">
              <a:srgbClr val="BDBDBD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645920" y="1188720"/>
            <a:ext cx="56692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深入了解非洲3个国家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 Egypt</a:t>
            </a:r>
            <a:endParaRPr lang="en-US" sz="26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 Kenya</a:t>
            </a:r>
            <a:endParaRPr lang="en-US" sz="26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 South Africa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每个国家: 概览 &gt; 文化与礼节 &gt; 美食 &gt; 小测验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828800" y="4343400"/>
            <a:ext cx="5303520" cy="411480"/>
          </a:xfrm>
          <a:prstGeom prst="roundRect">
            <a:avLst>
              <a:gd name="adj" fmla="val 26667"/>
            </a:avLst>
          </a:prstGeom>
          <a:solidFill>
            <a:srgbClr val="FF8F00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43434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目标：获得非洲签证章！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认识非洲 Meet Africa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E082"/>
          </a:solidFill>
          <a:ln/>
          <a:effectLst>
            <a:outerShdw sx="100000" sy="100000" kx="0" ky="0" algn="bl" rotWithShape="0" blurRad="381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个国家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417320" cy="18288"/>
          </a:xfrm>
          <a:prstGeom prst="rect">
            <a:avLst/>
          </a:prstGeom>
          <a:solidFill>
            <a:srgbClr val="FF8F00">
              <a:alpha val="6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6974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第二大洲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91440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CDD2"/>
          </a:solidFill>
          <a:ln/>
          <a:effectLst>
            <a:outerShdw sx="100000" sy="100000" kx="0" ky="0" algn="bl" rotWithShape="0" blurRad="381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051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撒哈拉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06040" y="173736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沙漠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Sahara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88920" y="2560320"/>
            <a:ext cx="1417320" cy="18288"/>
          </a:xfrm>
          <a:prstGeom prst="rect">
            <a:avLst/>
          </a:prstGeom>
          <a:solidFill>
            <a:srgbClr val="FF8F00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606040" y="26974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世界最大沙漠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BBDEFB"/>
          </a:solidFill>
          <a:ln/>
          <a:effectLst>
            <a:outerShdw sx="100000" sy="100000" kx="0" ky="0" algn="bl" rotWithShape="0" blurRad="381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051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尼罗河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754880" y="173736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2560320"/>
            <a:ext cx="1417320" cy="18288"/>
          </a:xfrm>
          <a:prstGeom prst="rect">
            <a:avLst/>
          </a:prstGeom>
          <a:solidFill>
            <a:srgbClr val="FF8F00">
              <a:alpha val="6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6974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世界最长河流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12280" y="91440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E1BEE7"/>
          </a:solidFill>
          <a:ln/>
          <a:effectLst>
            <a:outerShdw sx="100000" sy="100000" kx="0" ky="0" algn="bl" rotWithShape="0" blurRad="381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105156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2000+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03720" y="1737360"/>
            <a:ext cx="1783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种语言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086600" y="2560320"/>
            <a:ext cx="1417320" cy="18288"/>
          </a:xfrm>
          <a:prstGeom prst="rect">
            <a:avLst/>
          </a:prstGeom>
          <a:solidFill>
            <a:srgbClr val="FF8F00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26974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多样性惊人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4023360"/>
            <a:ext cx="7132320" cy="502920"/>
          </a:xfrm>
          <a:prstGeom prst="roundRect">
            <a:avLst>
              <a:gd name="adj" fmla="val 21818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0233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非洲不是一个国家，是54个国家！每个都不一样！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埃及概览 Egypt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754880" cy="3200400"/>
          </a:xfrm>
          <a:prstGeom prst="rect">
            <a:avLst/>
          </a:prstGeom>
          <a:solidFill>
            <a:srgbClr val="FFE082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993392"/>
            <a:ext cx="4754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Pyramids of Giza — 金字塔</a:t>
            </a:r>
            <a:endParaRPr lang="en-US" sz="1300" dirty="0"/>
          </a:p>
        </p:txBody>
      </p:sp>
      <p:pic>
        <p:nvPicPr>
          <p:cNvPr id="6" name="Image 0" descr="https://upload.wikimedia.org/wikipedia/commons/thumb/e/e3/Kheops-Pyramid.jpg/1280px-Kheops-Pyram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75488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0" y="822960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82296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红白黑三色 + 金鹰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12080" y="1481328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5349240" y="148132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1.04亿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12080" y="2139696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2" name="Text 9"/>
          <p:cNvSpPr/>
          <p:nvPr/>
        </p:nvSpPr>
        <p:spPr>
          <a:xfrm>
            <a:off x="5349240" y="213969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阿拉伯语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212080" y="2798064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5349240" y="279806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开罗 Cairo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12080" y="3456432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6" name="Text 13"/>
          <p:cNvSpPr/>
          <p:nvPr/>
        </p:nvSpPr>
        <p:spPr>
          <a:xfrm>
            <a:off x="5349240" y="345643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地理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尼罗河畔的文明古国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212080" y="4160520"/>
            <a:ext cx="1097280" cy="201168"/>
          </a:xfrm>
          <a:prstGeom prst="rect">
            <a:avLst/>
          </a:prstGeom>
          <a:solidFill>
            <a:srgbClr val="CE1126"/>
          </a:solidFill>
          <a:ln/>
        </p:spPr>
      </p:sp>
      <p:sp>
        <p:nvSpPr>
          <p:cNvPr id="18" name="Shape 15"/>
          <p:cNvSpPr/>
          <p:nvPr/>
        </p:nvSpPr>
        <p:spPr>
          <a:xfrm>
            <a:off x="6309360" y="4160520"/>
            <a:ext cx="118872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0" y="4160520"/>
            <a:ext cx="1188720" cy="2011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埃及文化与礼节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 Culture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金字塔有4500年历史！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象形文字 — 古埃及人的文字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纸莎草纸 — 最早的「纸」来自埃及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CDD2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用右手吃饭、递东西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进清真寺要脱鞋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不要用左手！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880360"/>
            <a:ext cx="85039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92608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更多礼节 More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见面握手 + 亲脸颊（男性之间也是）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斋月期间白天不在公共场合吃东西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对长辈说话要特别礼貌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埃及美食 Egyptian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E08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鹰嘴豆泥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Hummus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用鹰嘴豆做的糊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CDD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库莎丽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4612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Koshari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米+面+豆+番茄酱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BBDEFB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2648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Kebab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串烤羊肉或鸡肉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C8E6C9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法拉费尔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3337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Falafel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749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炸鹰嘴豆丸子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54680" y="274320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E1BEE7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4612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甜茶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246120" y="3337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Tea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46120" y="3749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加很多糖的红茶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154680" y="274320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FFF8E1"/>
          </a:solidFill>
          <a:ln w="25400">
            <a:solidFill>
              <a:srgbClr val="FF8F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78892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吃饭方式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用大饼（pita）蘸着吃！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一定要用右手！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和中国用筷子一样，是文化习惯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埃及小测验 Egypt Check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金字塔有多少年历史？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4500年！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在埃及用什么手吃饭？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右手！不能用左手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古埃及人写什么文字？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象形文字 Hieroglyphs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埃及最著名的古迹是什么？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金字塔和狮身人面像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尼罗河有多长？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6,650公里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埃及小测验 Egypt Check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古埃及人用什么文字？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象形文字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在埃及斋月期间白天能在公共场合吃东西吗？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埃及人见面除了握手还做什么？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亲脸颊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纸莎草纸是谁发明的？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古埃及人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鹰嘴豆泥用什么蘸着吃？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大饼pita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肯尼亚概览 Kenya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754880" cy="3200400"/>
          </a:xfrm>
          <a:prstGeom prst="rect">
            <a:avLst/>
          </a:prstGeom>
          <a:solidFill>
            <a:srgbClr val="FFE082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993392"/>
            <a:ext cx="4754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Lion — 非洲狮子</a:t>
            </a:r>
            <a:endParaRPr lang="en-US" sz="1300" dirty="0"/>
          </a:p>
        </p:txBody>
      </p:sp>
      <p:pic>
        <p:nvPicPr>
          <p:cNvPr id="6" name="Image 0" descr="https://upload.wikimedia.org/wikipedia/commons/thumb/7/73/Lion_waiting_in_Namibia.jpg/1280px-Lion_waiting_in_Namibi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75488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0" y="822960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82296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黑红绿 + 盾和矛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12080" y="1481328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5349240" y="148132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5500万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12080" y="2139696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2" name="Text 9"/>
          <p:cNvSpPr/>
          <p:nvPr/>
        </p:nvSpPr>
        <p:spPr>
          <a:xfrm>
            <a:off x="5349240" y="213969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斯瓦希里语 + 英语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212080" y="2798064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5349240" y="279806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内罗毕 Nairobi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12080" y="3456432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6" name="Text 13"/>
          <p:cNvSpPr/>
          <p:nvPr/>
        </p:nvSpPr>
        <p:spPr>
          <a:xfrm>
            <a:off x="5349240" y="345643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地理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赤道穿过的国家！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212080" y="4160520"/>
            <a:ext cx="1097280" cy="2011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309360" y="4160520"/>
            <a:ext cx="1188720" cy="201168"/>
          </a:xfrm>
          <a:prstGeom prst="rect">
            <a:avLst/>
          </a:prstGeom>
          <a:solidFill>
            <a:srgbClr val="BB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0" y="4160520"/>
            <a:ext cx="1188720" cy="201168"/>
          </a:xfrm>
          <a:prstGeom prst="rect">
            <a:avLst/>
          </a:prstGeom>
          <a:solidFill>
            <a:srgbClr val="006600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肯尼亚文化与礼节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 Culture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动物大迁徙 — 百万动物穿越草原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马赛族 Maasai — 著名的跳跃舞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非洲五大动物: 狮子/象/犀牛/豹/水牛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CDD2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打招呼说 Jambo!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握手很重要，时间长=尊重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指人用整只手，不用手指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880360"/>
            <a:ext cx="85039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92608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更多礼节 More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对长辈特别尊敬 — 要用双手接东西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拍动物照片要小心距离 — Safari安全第一！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马赛族的红色是勇气的象征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肯尼亚美食 Kenyan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FE08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686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乌伽黎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Ugali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玉米糊，主食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82296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FFCDD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8686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13716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Nyama Choma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14600" y="1783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炭烤肉，最爱！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82296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BBDEFB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8686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恰帕提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13716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Chapati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1783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印度传来的煎饼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822960"/>
            <a:ext cx="1965960" cy="1828800"/>
          </a:xfrm>
          <a:prstGeom prst="roundRect">
            <a:avLst>
              <a:gd name="adj" fmla="val 6000"/>
            </a:avLst>
          </a:prstGeom>
          <a:solidFill>
            <a:srgbClr val="C8E6C9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12280" y="8686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肯尼亚茶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12280" y="13716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Kenyan Tea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178308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加奶的红茶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FF8E1"/>
          </a:solidFill>
          <a:ln w="25400">
            <a:solidFill>
              <a:srgbClr val="FF8F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71800"/>
            <a:ext cx="78638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怎么吃 Ugali？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用右手揪一小团 ugali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用手指捏成小碗形状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舀起菜或肉一起吃！</a:t>
            </a:r>
            <a:endParaRPr lang="en-US" sz="18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和中国人用馒头夹菜有点像！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肯尼亚小测验 Kenya Check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肯尼亚说什么语言？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斯瓦希里语 + 英语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非洲五大动物是哪五大？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狮子、大象、犀牛、豹子、水牛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Jambo 是什么意思？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你好！Hello!（斯瓦希里语）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动物大迁徙发生在哪里？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肯尼亚和坦桑尼亚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Jambo是什么语言？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斯瓦希里语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肯尼亚小测验 Kenya Check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肯尼亚的赤道穿过吗？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是的！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马赛族以什么舞蹈出名？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跳跃舞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用手指指人在肯尼亚礼貌吗？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不礼貌，要用整只手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乌伽黎(ugali)是用什么做的？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玉米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动物大迁徙有多少只动物？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约200万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南非概览 South Africa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754880" cy="3200400"/>
          </a:xfrm>
          <a:prstGeom prst="rect">
            <a:avLst/>
          </a:prstGeom>
          <a:solidFill>
            <a:srgbClr val="C8E6C9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993392"/>
            <a:ext cx="47548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Mountain — 桌山</a:t>
            </a:r>
            <a:endParaRPr lang="en-US" sz="1300" dirty="0"/>
          </a:p>
        </p:txBody>
      </p:sp>
      <p:pic>
        <p:nvPicPr>
          <p:cNvPr id="6" name="Image 0" descr="https://upload.wikimedia.org/wikipedia/commons/thumb/4/4b/Table_Mountain_DanieVDM.jpg/1280px-Table_Mountain_DanieVD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75488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0" y="822960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82296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六色彩虹旗！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12080" y="1481328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5349240" y="148132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6000万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12080" y="2139696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2" name="Text 9"/>
          <p:cNvSpPr/>
          <p:nvPr/>
        </p:nvSpPr>
        <p:spPr>
          <a:xfrm>
            <a:off x="5349240" y="213969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  </a:t>
            </a:r>
            <a:pPr indent="0" marL="0">
              <a:buNone/>
            </a:pPr>
            <a:r>
              <a:rPr lang="en-US" sz="13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11种官方语言!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212080" y="2798064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5349240" y="279806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  </a:t>
            </a:r>
            <a:pPr indent="0" marL="0">
              <a:buNone/>
            </a:pPr>
            <a:r>
              <a:rPr lang="en-US" sz="13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3个首都！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12080" y="3456432"/>
            <a:ext cx="3474720" cy="566928"/>
          </a:xfrm>
          <a:prstGeom prst="roundRect">
            <a:avLst>
              <a:gd name="adj" fmla="val 12903"/>
            </a:avLst>
          </a:prstGeom>
          <a:solidFill>
            <a:srgbClr val="FFF8E1"/>
          </a:solidFill>
          <a:ln/>
        </p:spPr>
      </p:sp>
      <p:sp>
        <p:nvSpPr>
          <p:cNvPr id="16" name="Text 13"/>
          <p:cNvSpPr/>
          <p:nvPr/>
        </p:nvSpPr>
        <p:spPr>
          <a:xfrm>
            <a:off x="5349240" y="345643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别称  </a:t>
            </a:r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彩虹之国 Rainbow Nation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212080" y="4160520"/>
            <a:ext cx="576072" cy="201168"/>
          </a:xfrm>
          <a:prstGeom prst="rect">
            <a:avLst/>
          </a:prstGeom>
          <a:solidFill>
            <a:srgbClr val="DE3831"/>
          </a:solidFill>
          <a:ln/>
        </p:spPr>
      </p:sp>
      <p:sp>
        <p:nvSpPr>
          <p:cNvPr id="18" name="Shape 15"/>
          <p:cNvSpPr/>
          <p:nvPr/>
        </p:nvSpPr>
        <p:spPr>
          <a:xfrm>
            <a:off x="5788152" y="4160520"/>
            <a:ext cx="576072" cy="201168"/>
          </a:xfrm>
          <a:prstGeom prst="rect">
            <a:avLst/>
          </a:prstGeom>
          <a:solidFill>
            <a:srgbClr val="002395"/>
          </a:solidFill>
          <a:ln/>
        </p:spPr>
      </p:sp>
      <p:sp>
        <p:nvSpPr>
          <p:cNvPr id="19" name="Shape 16"/>
          <p:cNvSpPr/>
          <p:nvPr/>
        </p:nvSpPr>
        <p:spPr>
          <a:xfrm>
            <a:off x="6364224" y="4160520"/>
            <a:ext cx="576072" cy="201168"/>
          </a:xfrm>
          <a:prstGeom prst="rect">
            <a:avLst/>
          </a:prstGeom>
          <a:solidFill>
            <a:srgbClr val="007A4D"/>
          </a:solidFill>
          <a:ln/>
        </p:spPr>
      </p:sp>
      <p:sp>
        <p:nvSpPr>
          <p:cNvPr id="20" name="Shape 17"/>
          <p:cNvSpPr/>
          <p:nvPr/>
        </p:nvSpPr>
        <p:spPr>
          <a:xfrm>
            <a:off x="6940296" y="4160520"/>
            <a:ext cx="576072" cy="20116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1" name="Shape 18"/>
          <p:cNvSpPr/>
          <p:nvPr/>
        </p:nvSpPr>
        <p:spPr>
          <a:xfrm>
            <a:off x="7516368" y="4160520"/>
            <a:ext cx="576072" cy="2011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19"/>
          <p:cNvSpPr/>
          <p:nvPr/>
        </p:nvSpPr>
        <p:spPr>
          <a:xfrm>
            <a:off x="8092440" y="4160520"/>
            <a:ext cx="576072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南非文化与礼节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 Culture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曼德拉 Mandela — 种族和解英雄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11种语言 = 多元文化共存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3个首都: 行政/立法/司法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FFCDD2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礼节 Etiquette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祖鲁语说 Sawubona（我看见你了）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特别的三步握手！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尊重不同文化背景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" y="2880360"/>
            <a:ext cx="85039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92608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更多礼节 More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Braai（烤肉）是最重要的社交活动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南非人非常友善好客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Ubuntu精神: 我的存在因为有你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南非美食 South African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E08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南非国民烧烤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CDD2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干肉条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4612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Biltong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风干腌制肉条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BBDEFB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960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玉米粥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26480" y="1417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类似ugali的主食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C8E6C9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波波提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3337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Bobotie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749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咖喱肉派，国菜！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54680" y="274320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E1BEE7"/>
          </a:solidFill>
          <a:ln/>
          <a:effectLst>
            <a:outerShdw sx="100000" sy="100000" kx="0" ky="0" algn="bl" rotWithShape="0" blurRad="38100" dist="25400" dir="16200000">
              <a:srgbClr val="BDBDBD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4612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路易波士茶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246120" y="33375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Rooibos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46120" y="3749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南非特有红灌木茶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154680" y="274320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FFF8E1"/>
          </a:solidFill>
          <a:ln w="25400">
            <a:solidFill>
              <a:srgbClr val="FF8F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788920"/>
            <a:ext cx="5212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Braai 文化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Braai 就像中国的聚餐BBQ！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朋友家人围在一起烤肉聊天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南非甚至有「National Braai Day」！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南非小测验 South Africa Check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南非有几种官方语言？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11种！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南非有几个首都？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3个！（行政/立法/司法）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Sawubona 是什么意思？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「我看见你了」I see you!（祖鲁语）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南非最有名的山叫什么？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桌山 Table Mountain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南非的国旗有几种颜色？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南非小测验 South Africa Check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Mandela为什么出名？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反对种族歧视/争取平等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Sawubona是什么意思？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我看见你了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南非braai和什么活动很像？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BBQ烧烤聚会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南非为什么叫彩虹之国？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因为有很多不同文化的人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路易波士茶(rooibos)来自哪里？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南非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— 三种打招呼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FFE082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68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 Egypt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96596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亲脸颊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1945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先握手，然后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轻碰双颊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5468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C8E6C9"/>
          </a:solidFill>
          <a:ln w="2540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868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 Kenya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520440" y="1371600"/>
            <a:ext cx="196596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4630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Jambo! + 长握手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1840" y="21945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Jambo!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握手时间长=尊重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BBDEFB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8686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 South Africa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371600"/>
            <a:ext cx="196596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4630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Sawubona + 三步握手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72200" y="21945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Sawubona!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普通握 &gt; 拇指扣 &gt; 普通握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4114800"/>
            <a:ext cx="7132320" cy="457200"/>
          </a:xfrm>
          <a:prstGeom prst="roundRect">
            <a:avLst>
              <a:gd name="adj" fmla="val 24000"/>
            </a:avLst>
          </a:prstGeom>
          <a:solidFill>
            <a:srgbClr val="FF8F0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14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两人一组，练习3种打招呼方式！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上午竞赛 Morning Quiz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金字塔有多少年历史？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答：4500年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在埃及和肯尼亚吃饭用什么手？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答：右手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352044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56616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肯尼亚语说「你好」怎么说？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答：Jambo!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86868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91440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南非有几种官方语言？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答：11种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219456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24028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Q5: Sawubona 是什么意思？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答：我看见你了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3520440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356616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Q6: 哪个国家有3个首都？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答：南非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🧩 Project 提醒 Reminder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7132320" cy="3200400"/>
          </a:xfrm>
          <a:prstGeom prst="roundRect">
            <a:avLst>
              <a:gd name="adj" fmla="val 5143"/>
            </a:avLst>
          </a:prstGeom>
          <a:solidFill>
            <a:srgbClr val="FFF8E1"/>
          </a:solidFill>
          <a:ln w="31750">
            <a:solidFill>
              <a:srgbClr val="FF8F00"/>
            </a:solidFill>
            <a:prstDash val="solid"/>
          </a:ln>
          <a:effectLst>
            <a:outerShdw sx="100000" sy="100000" kx="0" ky="0" algn="bl" rotWithShape="0" blurRad="76200" dist="38100" dir="16200000">
              <a:srgbClr val="BDBDBD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097280"/>
            <a:ext cx="6583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下午任务预告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三国文化对比 — 深入比较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生词和句型练习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角色扮演: Safari + 非洲餐厅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Project Time: 完成护照非洲页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分享 + 获得签证章！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下午开始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E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Session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292608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深入比较 + 句型 + 角色扮演 + Project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快速复习 Quick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868680"/>
            <a:ext cx="7132320" cy="621792"/>
          </a:xfrm>
          <a:prstGeom prst="roundRect">
            <a:avLst>
              <a:gd name="adj" fmla="val 14706"/>
            </a:avLst>
          </a:prstGeom>
          <a:solidFill>
            <a:srgbClr val="FFE082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868680"/>
            <a:ext cx="6766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埃及人用什么手吃饭？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1618488"/>
            <a:ext cx="71323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618488"/>
            <a:ext cx="6766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肯尼亚用斯瓦希里语怎么说「你好」？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14400" y="2368296"/>
            <a:ext cx="7132320" cy="621792"/>
          </a:xfrm>
          <a:prstGeom prst="roundRect">
            <a:avLst>
              <a:gd name="adj" fmla="val 14706"/>
            </a:avLst>
          </a:prstGeom>
          <a:solidFill>
            <a:srgbClr val="FFE082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68296"/>
            <a:ext cx="6766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南非有几种官方语言？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14400" y="3118104"/>
            <a:ext cx="713232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118104"/>
            <a:ext cx="6766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Sawubona 是什么意思？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14400" y="3867912"/>
            <a:ext cx="7132320" cy="621792"/>
          </a:xfrm>
          <a:prstGeom prst="roundRect">
            <a:avLst>
              <a:gd name="adj" fmla="val 14706"/>
            </a:avLst>
          </a:prstGeom>
          <a:solidFill>
            <a:srgbClr val="FFE082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867912"/>
            <a:ext cx="6766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哪个国家有金字塔？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45720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举手回答，答对加分！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非洲三国文化对比表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463040" cy="658368"/>
          </a:xfrm>
          <a:prstGeom prst="rect">
            <a:avLst/>
          </a:prstGeom>
          <a:solidFill>
            <a:srgbClr val="4E342E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777240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20240" y="777240"/>
            <a:ext cx="2194560" cy="658368"/>
          </a:xfrm>
          <a:prstGeom prst="rect">
            <a:avLst/>
          </a:prstGeom>
          <a:solidFill>
            <a:srgbClr val="4E342E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93392" y="77724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埃及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777240"/>
            <a:ext cx="2194560" cy="658368"/>
          </a:xfrm>
          <a:prstGeom prst="rect">
            <a:avLst/>
          </a:prstGeom>
          <a:solidFill>
            <a:srgbClr val="4E342E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87952" y="77724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肯尼亚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777240"/>
            <a:ext cx="2194560" cy="658368"/>
          </a:xfrm>
          <a:prstGeom prst="rect">
            <a:avLst/>
          </a:prstGeom>
          <a:solidFill>
            <a:srgbClr val="4E342E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77724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南非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1435608"/>
            <a:ext cx="1463040" cy="658368"/>
          </a:xfrm>
          <a:prstGeom prst="rect">
            <a:avLst/>
          </a:prstGeom>
          <a:solidFill>
            <a:srgbClr val="FFE082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1435608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20240" y="1435608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93392" y="1435608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握手+亲脸颊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1435608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87952" y="1435608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Jambo!+长握手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435608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1435608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Sawubona+三步握手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093976"/>
            <a:ext cx="1463040" cy="658368"/>
          </a:xfrm>
          <a:prstGeom prst="rect">
            <a:avLst/>
          </a:prstGeom>
          <a:solidFill>
            <a:srgbClr val="FFE082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093976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吃饭方式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20240" y="2093976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93392" y="2093976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用饼蘸+右手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0" y="2093976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87952" y="2093976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用手吃ugali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09360" y="2093976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093976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braai烤肉聚餐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2752344"/>
            <a:ext cx="1463040" cy="658368"/>
          </a:xfrm>
          <a:prstGeom prst="rect">
            <a:avLst/>
          </a:prstGeom>
          <a:solidFill>
            <a:srgbClr val="FFE082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752344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重要文化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920240" y="2752344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93392" y="2752344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金字塔/尼罗河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114800" y="2752344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87952" y="2752344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动物大迁徙/马赛族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2752344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752344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彩虹之国/曼德拉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410712"/>
            <a:ext cx="1463040" cy="658368"/>
          </a:xfrm>
          <a:prstGeom prst="rect">
            <a:avLst/>
          </a:prstGeom>
          <a:solidFill>
            <a:srgbClr val="FFE082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3410712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920240" y="3410712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93392" y="3410712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鹰嘴豆泥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114800" y="3410712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87952" y="3410712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乌伽黎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3410712"/>
            <a:ext cx="2194560" cy="658368"/>
          </a:xfrm>
          <a:prstGeom prst="rect">
            <a:avLst/>
          </a:prstGeom>
          <a:solidFill>
            <a:srgbClr val="FFF8E1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410712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烤肉braai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4069080"/>
            <a:ext cx="1463040" cy="658368"/>
          </a:xfrm>
          <a:prstGeom prst="rect">
            <a:avLst/>
          </a:prstGeom>
          <a:solidFill>
            <a:srgbClr val="FFE082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" y="4069080"/>
            <a:ext cx="13167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920240" y="4069080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406908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用右手！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114800" y="4069080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87952" y="406908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别用手指指人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309360" y="4069080"/>
            <a:ext cx="21945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FF8F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069080"/>
            <a:ext cx="20482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尊重多元文化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共同点与不同 Similarities &amp; Differences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14800" cy="2560320"/>
          </a:xfrm>
          <a:prstGeom prst="roundRect">
            <a:avLst>
              <a:gd name="adj" fmla="val 4286"/>
            </a:avLst>
          </a:prstGeom>
          <a:solidFill>
            <a:srgbClr val="C8E6C9"/>
          </a:solidFill>
          <a:ln w="25400">
            <a:solidFill>
              <a:srgbClr val="388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共同点 Similarities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都很重视社交和分享食物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都对客人很热情好客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握手是重要礼节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都有丰富的历史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0" y="777240"/>
            <a:ext cx="4114800" cy="2560320"/>
          </a:xfrm>
          <a:prstGeom prst="roundRect">
            <a:avLst>
              <a:gd name="adj" fmla="val 4286"/>
            </a:avLst>
          </a:prstGeom>
          <a:solidFill>
            <a:srgbClr val="FFCDD2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8229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不同点 Differences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语言完全不同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食物风格不同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地理环境差异大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（沙漠 vs 草原 vs 海边）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3520440"/>
            <a:ext cx="7498080" cy="868680"/>
          </a:xfrm>
          <a:prstGeom prst="roundRect">
            <a:avLst>
              <a:gd name="adj" fmla="val 15789"/>
            </a:avLst>
          </a:prstGeom>
          <a:solidFill>
            <a:srgbClr val="FFF8E1"/>
          </a:solidFill>
          <a:ln w="3175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56616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非洲不是一个国家，是54个国家！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每个都不一样！Each one is unique!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Travel Tips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FFE082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68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去埃及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196596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尊重伊斯兰文化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进清真寺脱鞋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5468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C8E6C9"/>
          </a:solidFill>
          <a:ln w="2540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868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去肯尼亚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1417320"/>
            <a:ext cx="196596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55448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Safari保持距离！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说Jambo打招呼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长握手表尊重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77724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BBDEFB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868680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去南非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0" y="1417320"/>
            <a:ext cx="196596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554480"/>
            <a:ext cx="2331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尊重多元文化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说Sawubona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享受braai烤肉！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尊重当地文化是最重要的旅行礼节！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生词卡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FFE08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804672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金字塔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804672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jinzita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804672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609344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C8E6C9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09344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37360" y="1609344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1609344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414016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FFCDD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414016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草原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2414016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caoyuan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08960" y="2414016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Grassland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18688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BBDEF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21868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狮子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37360" y="3218688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shizi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08960" y="321868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4023360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E1BEE7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02336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737360" y="4023360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daxiang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08960" y="402336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Elephant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54880" y="804672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FFE082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804672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126480" y="804672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kaoru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98080" y="804672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BBQ / Braai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1609344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C8E6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1609344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握手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126480" y="1609344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woshou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0" y="1609344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54880" y="2414016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FFCDD2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2414016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126480" y="2414016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lijie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2414016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3218688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BBDEFB"/>
          </a:solidFill>
          <a:ln/>
        </p:spPr>
      </p:sp>
      <p:sp>
        <p:nvSpPr>
          <p:cNvPr id="37" name="Text 35"/>
          <p:cNvSpPr/>
          <p:nvPr/>
        </p:nvSpPr>
        <p:spPr>
          <a:xfrm>
            <a:off x="4892040" y="321868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打招呼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126480" y="3218688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zhaohu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98080" y="321868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54880" y="4023360"/>
            <a:ext cx="4114800" cy="713232"/>
          </a:xfrm>
          <a:prstGeom prst="roundRect">
            <a:avLst>
              <a:gd name="adj" fmla="val 12821"/>
            </a:avLst>
          </a:prstGeom>
          <a:solidFill>
            <a:srgbClr val="E1BEE7"/>
          </a:solidFill>
          <a:ln/>
        </p:spPr>
      </p:sp>
      <p:sp>
        <p:nvSpPr>
          <p:cNvPr id="41" name="Text 39"/>
          <p:cNvSpPr/>
          <p:nvPr/>
        </p:nvSpPr>
        <p:spPr>
          <a:xfrm>
            <a:off x="4892040" y="402336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126480" y="4023360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zunzhong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498080" y="4023360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句型练习 Sentence Patterns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FFE08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8686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句型1：「在___，人们用___打招呼」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例：「在肯尼亚，人们用Jambo打招呼」</a:t>
            </a:r>
            <a:endParaRPr lang="en-US" sz="18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In Kenya, people greet each other with Jambo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8229600" cy="1188720"/>
          </a:xfrm>
          <a:prstGeom prst="roundRect">
            <a:avLst>
              <a:gd name="adj" fmla="val 9231"/>
            </a:avLst>
          </a:prstGeom>
          <a:solidFill>
            <a:srgbClr val="C8E6C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402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句型2：「去___旅行要注意___」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例：「去埃及旅行要注意用右手吃饭」</a:t>
            </a:r>
            <a:endParaRPr lang="en-US" sz="18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When traveling to Egypt, remember to eat with your right hand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56616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FFF8E1"/>
          </a:solidFill>
          <a:ln w="19050">
            <a:solidFill>
              <a:srgbClr val="FF8F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6118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你来试试！Your turn!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「在___，人们用___打招呼」    「去___旅行要注意___」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— Safari + 非洲餐厅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14800" cy="3017520"/>
          </a:xfrm>
          <a:prstGeom prst="roundRect">
            <a:avLst>
              <a:gd name="adj" fmla="val 3636"/>
            </a:avLst>
          </a:prstGeom>
          <a:solidFill>
            <a:srgbClr val="FFE082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Safari 场景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游客 Tourist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导游 Guide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A：「Jambo! 这是什么动物？」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B：「这是狮子，它住在大草原」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A：「狮子危险吗？」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B：「要保持距离！」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777240"/>
            <a:ext cx="4114800" cy="3017520"/>
          </a:xfrm>
          <a:prstGeom prst="roundRect">
            <a:avLst>
              <a:gd name="adj" fmla="val 3636"/>
            </a:avLst>
          </a:prstGeom>
          <a:solidFill>
            <a:srgbClr val="C8E6C9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822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非洲餐厅 Restaurant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客人 Guest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服务员 Waiter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A：「我想吃___」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B：「好的，要用手吃哦」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A：「用右手对吗？」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B：「对！右手！」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977640"/>
            <a:ext cx="7132320" cy="502920"/>
          </a:xfrm>
          <a:prstGeom prst="roundRect">
            <a:avLst>
              <a:gd name="adj" fmla="val 18182"/>
            </a:avLst>
          </a:prstGeom>
          <a:solidFill>
            <a:srgbClr val="FFF8E1"/>
          </a:solidFill>
          <a:ln w="12700">
            <a:solidFill>
              <a:srgbClr val="FF8F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9776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两人一组，选一个场景练习！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Time! 护照非洲页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8229600" cy="3749040"/>
          </a:xfrm>
          <a:prstGeom prst="roundRect">
            <a:avLst>
              <a:gd name="adj" fmla="val 3659"/>
            </a:avLst>
          </a:prstGeom>
          <a:solidFill>
            <a:srgbClr val="FFF8E1"/>
          </a:solidFill>
          <a:ln w="31750">
            <a:solidFill>
              <a:srgbClr val="FF8F00"/>
            </a:solidFill>
            <a:prstDash val="solid"/>
          </a:ln>
          <a:effectLst>
            <a:outerShdw sx="100000" sy="100000" kx="0" ky="0" algn="bl" rotWithShape="0" blurRad="76200" dist="38100" dir="16200000">
              <a:srgbClr val="BDBDBD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777240"/>
            <a:ext cx="8229600" cy="4754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 非洲 — My Passport Page 我的护照页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8F0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22960" y="13716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我去了哪里 Where I went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965960"/>
            <a:ext cx="7680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8F0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22960" y="19659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我看到了什么 What I saw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8F0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22960" y="25603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我吃了什么 What I ate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154680"/>
            <a:ext cx="7680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8F0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2296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 How I greeted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FF8F0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我的句子 My sentence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分层 Differentiation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C8E6C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686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Beginner 零基础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画画 + 写词语（狮子、金字塔、烤肉）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pictures + write words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BBDE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48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Intermediate Level 2-3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写句子：「在___，人们用___打招呼」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sentences using today's patterns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E1BEE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Level 4+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写段落：比较三个国家的文化和美食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paragraph comparing 3 countries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分享时间 Sharing Time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914400"/>
            <a:ext cx="7132320" cy="3017520"/>
          </a:xfrm>
          <a:prstGeom prst="roundRect">
            <a:avLst>
              <a:gd name="adj" fmla="val 4545"/>
            </a:avLst>
          </a:prstGeom>
          <a:solidFill>
            <a:srgbClr val="FFF8E1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63500" dist="38100" dir="16200000">
              <a:srgbClr val="BDBDBD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005840"/>
            <a:ext cx="6583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Share 和同伴分享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找一个同伴 Find a partner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给同伴看你的护照非洲页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读你写的句子给同伴听</a:t>
            </a:r>
            <a:endParaRPr lang="en-US" sz="2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用三种打招呼方式互相问好！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每个人有2分钟分享时间！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3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4E342E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45720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非洲签证章 Africa Visa Stamp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0" y="914400"/>
            <a:ext cx="3474720" cy="27432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F8F00"/>
            </a:solidFill>
            <a:prstDash val="solid"/>
          </a:ln>
          <a:effectLst>
            <a:outerShdw sx="100000" sy="100000" kx="0" ky="0" algn="bl" rotWithShape="0" blurRad="76200" dist="38100" dir="16200000">
              <a:srgbClr val="BDBDBD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26080" y="118872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E3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2800" dirty="0"/>
          </a:p>
          <a:p>
            <a:pPr algn="ctr" indent="0" marL="0">
              <a:buNone/>
            </a:pPr>
            <a:endParaRPr lang="en-US" sz="28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</a:t>
            </a:r>
            <a:endParaRPr lang="en-US" sz="2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6/9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371600" y="3840480"/>
            <a:ext cx="6217920" cy="640080"/>
          </a:xfrm>
          <a:prstGeom prst="roundRect">
            <a:avLst>
              <a:gd name="adj" fmla="val 17143"/>
            </a:avLst>
          </a:prstGeom>
          <a:solidFill>
            <a:srgbClr val="FFE082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3840480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已有2个签证章！ 亚洲 ✔  非洲 ✔  还有3个！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 |  Day 2 非洲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明天预告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E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Tomorrow’s Preview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011680" y="2377440"/>
            <a:ext cx="4937760" cy="1645920"/>
          </a:xfrm>
          <a:prstGeom prst="roundRect">
            <a:avLst>
              <a:gd name="adj" fmla="val 8333"/>
            </a:avLst>
          </a:prstGeom>
          <a:solidFill>
            <a:srgbClr val="4E342E"/>
          </a:solidFill>
          <a:ln/>
          <a:effectLst>
            <a:outerShdw sx="100000" sy="100000" kx="0" ky="0" algn="bl" rotWithShape="0" blurRad="76200" dist="38100" dir="162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377440"/>
            <a:ext cx="4937760" cy="32004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377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FLIGHT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航班 GR-003 · 欧洲 EUROPE</a:t>
            </a:r>
            <a:endParaRPr lang="en-US" sz="2200" dirty="0"/>
          </a:p>
          <a:p>
            <a:pPr algn="ctr" indent="0" marL="0">
              <a:buNone/>
            </a:pP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E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准备好你的护照，明天飞往欧洲！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/ 意大利 / 西班牙 等你来探索！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Explorer Camp  ·  谷雨中文 GR EDU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E27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7315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Complete!</a:t>
            </a:r>
            <a:endParaRPr lang="en-US" sz="3400" dirty="0"/>
          </a:p>
          <a:p>
            <a:pPr algn="ctr" indent="0" marL="0">
              <a:buNone/>
            </a:pPr>
            <a:endParaRPr lang="en-US" sz="3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E0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非洲探险结束</a:t>
            </a:r>
            <a:endParaRPr lang="en-US" sz="3400" dirty="0"/>
          </a:p>
          <a:p>
            <a:pPr algn="ctr" indent="0" marL="0">
              <a:buNone/>
            </a:pP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 · 肯尼亚 · 南非</a:t>
            </a:r>
            <a:endParaRPr lang="en-US" sz="3400" dirty="0"/>
          </a:p>
          <a:p>
            <a:pPr algn="ctr" indent="0" marL="0">
              <a:buNone/>
            </a:pPr>
            <a:endParaRPr lang="en-US" sz="3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 for Europe!</a:t>
            </a:r>
            <a:endParaRPr lang="en-US" sz="3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明天欧洲见！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Explorer Camp  ·  谷雨中文 GR EDU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2: 非洲 Africa</dc:title>
  <dc:subject>PptxGenJS Presentation</dc:subject>
  <dc:creator>谷雨中文 GR EDU</dc:creator>
  <cp:lastModifiedBy>谷雨中文 GR EDU</cp:lastModifiedBy>
  <cp:revision>1</cp:revision>
  <dcterms:created xsi:type="dcterms:W3CDTF">2026-03-19T18:13:24Z</dcterms:created>
  <dcterms:modified xsi:type="dcterms:W3CDTF">2026-03-19T18:13:24Z</dcterms:modified>
</cp:coreProperties>
</file>