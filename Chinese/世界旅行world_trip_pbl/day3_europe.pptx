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2560320" y="1554480"/>
            <a:ext cx="3840480" cy="36576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1828800"/>
            <a:ext cx="5120640" cy="1920240"/>
          </a:xfrm>
          <a:prstGeom prst="roundRect">
            <a:avLst>
              <a:gd name="adj" fmla="val 7143"/>
            </a:avLst>
          </a:prstGeom>
          <a:solidFill>
            <a:srgbClr val="FFF8E1"/>
          </a:solidFill>
          <a:ln w="31750">
            <a:solidFill>
              <a:srgbClr val="FFC10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94960" y="1920240"/>
            <a:ext cx="0" cy="1737360"/>
          </a:xfrm>
          <a:prstGeom prst="line">
            <a:avLst/>
          </a:prstGeom>
          <a:noFill/>
          <a:ln w="19050">
            <a:solidFill>
              <a:srgbClr val="FFC10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011680" y="187452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224028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航班 GR-003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Africa 非洲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EUROPE 欧洲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6/10 Wednesday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577840" y="219456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286000" y="3931920"/>
            <a:ext cx="4389120" cy="457200"/>
          </a:xfrm>
          <a:prstGeom prst="roundRect">
            <a:avLst>
              <a:gd name="adj" fmla="val 30000"/>
            </a:avLst>
          </a:prstGeom>
          <a:solidFill>
            <a:srgbClr val="FFC107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3931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请出示你的护照！Show your passport!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护照签证章进度 Passport Stamps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73152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Shape 3"/>
          <p:cNvSpPr/>
          <p:nvPr/>
        </p:nvSpPr>
        <p:spPr>
          <a:xfrm>
            <a:off x="1152144" y="2144268"/>
            <a:ext cx="438912" cy="438912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80944" y="2144268"/>
            <a:ext cx="438912" cy="438912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1554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5603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32020" y="2066544"/>
            <a:ext cx="594360" cy="594360"/>
          </a:xfrm>
          <a:prstGeom prst="ellipse">
            <a:avLst/>
          </a:prstGeom>
          <a:solidFill>
            <a:srgbClr val="FFC107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554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8912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64224" y="2144268"/>
            <a:ext cx="438912" cy="438912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44384" y="2144268"/>
            <a:ext cx="438912" cy="438912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2697480"/>
            <a:ext cx="1280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文化展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3520440"/>
            <a:ext cx="6766560" cy="685800"/>
          </a:xfrm>
          <a:prstGeom prst="roundRect">
            <a:avLst>
              <a:gd name="adj" fmla="val 20000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5204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 V  非洲 V  欧洲（今天!）&gt;  美洲  &gt;  文化展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434340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已有2个签证章！今天拿第3个！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今天的目标 Today’s Goals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Morning 上午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认识欧洲3个国家（法/意/英）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了解每国文化礼节和美食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学习打招呼方式和趣味知识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完成上午竞赛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下午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54880" y="146304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三国对比 + 共同点与不同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旅行小贴士 + 丝绸之路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角色扮演：欧洲小厨师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完成护照欧洲页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6217920" cy="594360"/>
          </a:xfrm>
          <a:prstGeom prst="roundRect">
            <a:avLst>
              <a:gd name="adj" fmla="val 18462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474720"/>
            <a:ext cx="6217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今天的目标：获得欧洲签证章！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认识欧洲 Meet Europe!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554480" cy="21031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005840"/>
            <a:ext cx="731520" cy="731520"/>
          </a:xfrm>
          <a:prstGeom prst="ellipse">
            <a:avLst/>
          </a:prstGeom>
          <a:solidFill>
            <a:srgbClr val="1565C0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44个国家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countries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93392" y="914400"/>
            <a:ext cx="1554480" cy="21031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04872" y="1005840"/>
            <a:ext cx="731520" cy="731520"/>
          </a:xfrm>
          <a:prstGeom prst="ellipse">
            <a:avLst/>
          </a:prstGeom>
          <a:solidFill>
            <a:srgbClr val="0D47A1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2404872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93392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第二小的洲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93392" y="2194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smallest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12464" y="914400"/>
            <a:ext cx="1554480" cy="21031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23944" y="1005840"/>
            <a:ext cx="731520" cy="731520"/>
          </a:xfrm>
          <a:prstGeom prst="ellipse">
            <a:avLst/>
          </a:prstGeom>
          <a:solidFill>
            <a:srgbClr val="008C45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123944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2700yr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12464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古罗马文明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12464" y="2194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Ancient Rome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31536" y="914400"/>
            <a:ext cx="1554480" cy="21031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43016" y="1005840"/>
            <a:ext cx="731520" cy="731520"/>
          </a:xfrm>
          <a:prstGeom prst="ellipse">
            <a:avLst/>
          </a:prstGeom>
          <a:solidFill>
            <a:srgbClr val="0055A4">
              <a:alpha val="8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843016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31536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文艺复兴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31536" y="2194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Renaissance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50608" y="914400"/>
            <a:ext cx="1554480" cy="21031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62088" y="1005840"/>
            <a:ext cx="731520" cy="731520"/>
          </a:xfrm>
          <a:prstGeom prst="ellipse">
            <a:avLst/>
          </a:prstGeom>
          <a:solidFill>
            <a:srgbClr val="FFC107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562088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50608" y="1828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很多发明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50608" y="2194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inventions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8046720" cy="1005840"/>
          </a:xfrm>
          <a:prstGeom prst="roundRect">
            <a:avLst>
              <a:gd name="adj" fmla="val 13636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3375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从古罗马到文艺复兴，欧洲创造了无数改变世界的发明！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印刷术/蒸汽机/汽车/电话...很多都源自欧洲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今天去3个国家：法国 / 意大利 / 英国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 — 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BBDEF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0574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Eiffel Tower</a:t>
            </a:r>
            <a:endParaRPr lang="en-US" sz="1300" dirty="0"/>
          </a:p>
        </p:txBody>
      </p:sp>
      <p:pic>
        <p:nvPicPr>
          <p:cNvPr id="6" name="Image 0" descr="https://upload.wikimedia.org/wikipedia/commons/thumb/a/a8/Tour_Eiffel_Wikimedia_Commons.jpg/800px-Tour_Eiffel_Wikimedia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20624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7772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46320" y="86868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国旗：蓝白红三色 Blue-White-Red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人口：6700万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语言：法语 French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首都：巴黎 Paris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Bonjour = 你好！</a:t>
            </a:r>
            <a:endParaRPr lang="en-US" sz="2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「浪漫之都」「时尚之都」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首都巴黎 Paris — 世界时尚与美食之都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 — 文化与礼节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05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文化亮点 Culture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埃菲尔铁塔 Eiffel Tower — 324米高！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卢浮宫 Louvre — 蒙娜丽莎在这里！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时尚之都 — 世界时装中心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见面亲脸颊（la bise）不握手！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Bonjour 很重要!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吃饭是艺术，午餐1-2小时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不要催服务员!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面包放桌上，不放盘子里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给小费不是必须的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4206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55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你知道吗？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法国人见面时，根据地区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要亲2-4次脸颊！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 — 美食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05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可颂 croissant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又香又酥的法式早餐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5468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D47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法棍 baguette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每天卖3000万根!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7220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奶酪 cheese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有400多种!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233172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蜗牛 escargot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法国人的美味！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54680" y="233172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055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马卡龙 macaron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彩色的甜蜜小饼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「法国人觉得吃饭是生活中最重要的事之一」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法国 France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法国人见面怎么打招呼？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亲脸颊 (la bise)!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法国有多少种奶酪？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400多种!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面包放哪里？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放桌上，不放盘子里!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法国最著名的建筑是什么？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埃菲尔铁塔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法国有多少种奶酪？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400多种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France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法国 France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法国人午餐一般吃多久？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1-2小时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蒙娜丽莎在哪个博物馆？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卢浮宫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在法国需要给小费吗？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不是必须的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法国每天卖多少根法棍面包？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3000万根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55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55A4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面包应该放在哪里？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桌上，不放盘子里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France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 — 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BBDEF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0574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Colosseum</a:t>
            </a:r>
            <a:endParaRPr lang="en-US" sz="1300" dirty="0"/>
          </a:p>
        </p:txBody>
      </p:sp>
      <p:pic>
        <p:nvPicPr>
          <p:cNvPr id="6" name="Image 0" descr="https://upload.wikimedia.org/wikipedia/commons/thumb/d/de/Colosseo_2020.jpg/1280px-Colosseo_2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20624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7772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46320" y="86868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国旗：绿白红 Green-White-Red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人口：5900万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语言：意大利语 Italian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首都：罗马 Rome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形状像靴子 Boot-shaped!</a:t>
            </a:r>
            <a:endParaRPr lang="en-US" sz="2600" dirty="0"/>
          </a:p>
          <a:p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Ciao = 你好！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首都罗马 Rome — 形状像靴子!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 — 文化与礼节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08C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文化亮点 Culture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斗兽场 Colosseum — 能坐5万人!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比萨斜塔 — 歪了快4度!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文艺复兴起源地 — 达芬奇/米开朗基罗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Ciao! 打招呼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意大利人说话爱用手势!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吃饭时间很固定（午餐1-3pm）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不要在咖啡里加奶（早上除外!）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不要在披萨上加菠萝（会生气!）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进教堂要穿长袖长裤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4206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8C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你知道吗？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意大利人用手势表达感情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超过250种常用手势！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 — 美食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BBDEF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947672"/>
            <a:ext cx="38404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 Margherita</a:t>
            </a:r>
            <a:endParaRPr lang="en-US" sz="1300" dirty="0"/>
          </a:p>
        </p:txBody>
      </p:sp>
      <p:pic>
        <p:nvPicPr>
          <p:cNvPr id="6" name="Image 0" descr="https://upload.wikimedia.org/wikipedia/commons/thumb/a/a3/Eq_it-na_pizza-margherita_sep2005_sml.jpg/1024px-Eq_it-na_pizza-margherita_sep2005_sm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3840480" cy="2926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297680" y="777240"/>
            <a:ext cx="448056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480560" y="86868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意大利美食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披萨 Pizza Margherita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发源地是那不勒斯 Naples!</a:t>
            </a: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意面 Pasta</a:t>
            </a:r>
            <a:endParaRPr lang="en-US" sz="2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有350多种形状!</a:t>
            </a: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冰淇淋 Gelato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比普通冰淇淋更浓更滑</a:t>
            </a: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浓缩咖啡 Espresso</a:t>
            </a:r>
            <a:endParaRPr lang="en-US" sz="22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提拉米苏 Tiramisu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「披萨发源地是那不勒斯 Naples」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意大利 Italy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意大利形状像什么？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靴子 Boot!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意面有多少种形状？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350多种!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什么时候不要在咖啡里加奶？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早上以后!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意大利最有名的食物是什么？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披萨和意面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意面有多少种形状？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350多种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 Italy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意大利 Italy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什么时候不能在咖啡里加牛奶？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早上以后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罗马斗兽场能容纳多少人？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5万人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比萨斜塔倾斜了多少度？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约4度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文艺复兴从哪个国家开始？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意大利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8C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8C45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能在披萨上加菠萝吗？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8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意大利人会生气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 Italy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United Kingdom — 概览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BBDEF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0574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Ben</a:t>
            </a:r>
            <a:endParaRPr lang="en-US" sz="1300" dirty="0"/>
          </a:p>
        </p:txBody>
      </p:sp>
      <p:pic>
        <p:nvPicPr>
          <p:cNvPr id="6" name="Image 0" descr="https://upload.wikimedia.org/wikipedia/commons/thumb/9/93/Clock_Tower_-_Palace_of_Westminster%2C_London_-_May_2007.jpg/800px-Clock_Tower_-_Palace_of_Westminster%2C_London_-_May_20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4206240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7772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46320" y="86868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United Kingdom</a:t>
            </a:r>
            <a:endParaRPr lang="en-US" sz="2400" dirty="0"/>
          </a:p>
          <a:p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国旗：米字旗 Union Jack</a:t>
            </a:r>
            <a:endParaRPr lang="en-US" sz="2400" dirty="0"/>
          </a:p>
          <a:p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人口：6700万</a:t>
            </a:r>
            <a:endParaRPr lang="en-US" sz="2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语言：英语 English</a:t>
            </a:r>
            <a:endParaRPr lang="en-US" sz="24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首都：伦敦 London</a:t>
            </a:r>
            <a:endParaRPr lang="en-US" sz="2400" dirty="0"/>
          </a:p>
          <a:p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有国王！Has a King!</a:t>
            </a:r>
            <a:endParaRPr lang="en-US" sz="2400" dirty="0"/>
          </a:p>
          <a:p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Hello = 你好！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首都伦敦 London — 有国王的国家!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 — 文化与礼节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206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034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文化亮点 Culture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大本钟 Big Ben — 伦敦地标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白金汉宫 Buckingham Palace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哈利波特 Harry Potter!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下午茶文化 vs 中国茶文化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63440" y="777240"/>
            <a:ext cx="4114800" cy="3291840"/>
          </a:xfrm>
          <a:prstGeom prst="roundRect">
            <a:avLst>
              <a:gd name="adj" fmla="val 3333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82296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 Etiquette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排队！英国人最爱排队!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Please 和 Thank you 非常重要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不要问别人赚多少钱!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聊天气是最安全的话题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靠左行走和开车!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4206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34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英式下午茶 vs 中国茶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英国: scones + 三明治 + 红茶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中国: 茶叶 + 茶点 + 功夫茶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 — 美食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034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炸鱼薯条 Fish &amp; Chips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英国最经典的食物!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5468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D47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英式早餐 Full English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鸡蛋+培根+香肠+豆子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77724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72200" y="868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牧羊人派 Shepherd’s Pie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3716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土豆泥+肉馅，冬天最爱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33172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烤牛肉 Roast Beef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周日家庭传统大餐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54680" y="2331720"/>
            <a:ext cx="26974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9050">
            <a:solidFill>
              <a:srgbClr val="0034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下午茶 Scones+三明治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9184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英国人每天喝1.65亿杯茶!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「英国人每天喝1.65亿杯茶！」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英国 UK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英国人最爱做什么？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排队!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英国人每天喝多少杯茶？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1.65亿杯!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在英国开车靠哪边？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左边!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英国最有名的钟叫什么？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大本钟 Big Ben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英国人每天喝多少杯茶？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1.65亿杯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 UK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Understanding — 英国 UK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哈利波特的作者是哪国人？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英国人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在英国开车靠哪边？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左边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在英国最安全的聊天话题是什么？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天气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BBDEFB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英国有国王还是总统？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国王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003478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在英国什么行为最重要？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排队！说Please和Thank you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 UK  ✓  完成！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 Role Play — 三国打招呼 (5 min)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005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2148840" cy="27432"/>
          </a:xfrm>
          <a:prstGeom prst="rect">
            <a:avLst/>
          </a:prstGeom>
          <a:solidFill>
            <a:srgbClr val="0055A4">
              <a:alpha val="6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+ Bonjour!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9659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假装跟同学亲脸颊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（不是真亲哦！）说 Bonjour!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77724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008C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868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74720" y="1280160"/>
            <a:ext cx="2148840" cy="27432"/>
          </a:xfrm>
          <a:prstGeom prst="rect">
            <a:avLst/>
          </a:prstGeom>
          <a:solidFill>
            <a:srgbClr val="008C45">
              <a:alpha val="6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Ciao! + 手势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19659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大声说 Ciao!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用手势表达「好吃」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697480" cy="274320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254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868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1280160"/>
            <a:ext cx="2148840" cy="27432"/>
          </a:xfrm>
          <a:prstGeom prst="rect">
            <a:avLst/>
          </a:prstGeom>
          <a:solidFill>
            <a:srgbClr val="003478">
              <a:alpha val="6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排队 + Please/Thank you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96596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排好队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 Please 和 Thank you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046720" cy="640080"/>
          </a:xfrm>
          <a:prstGeom prst="roundRect">
            <a:avLst>
              <a:gd name="adj" fmla="val 17143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749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跟着老师一起做！全班分成3组，每组代表一个国家！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上午竞赛 Morning Quiz Challenge!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7548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005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2296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法国人见面亲几次脸颊？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03520" y="8229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0055A4">
              <a:alpha val="85000"/>
            </a:srgbClr>
          </a:solidFill>
          <a:ln w="19050">
            <a:solidFill>
              <a:srgbClr val="0055A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822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2-4次!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47548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008C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意大利的形状像什么？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303520" y="17373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008C45">
              <a:alpha val="85000"/>
            </a:srgbClr>
          </a:solidFill>
          <a:ln w="19050">
            <a:solidFill>
              <a:srgbClr val="008C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0" y="17373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靴子!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651760"/>
            <a:ext cx="47548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0034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65176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英国人开车靠哪边？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03520" y="26517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003478">
              <a:alpha val="85000"/>
            </a:srgbClr>
          </a:solidFill>
          <a:ln w="1905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26517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左边!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47548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008C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不要在意大利披萨上加什么？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303520" y="3566160"/>
            <a:ext cx="3291840" cy="731520"/>
          </a:xfrm>
          <a:prstGeom prst="roundRect">
            <a:avLst>
              <a:gd name="adj" fmla="val 15000"/>
            </a:avLst>
          </a:prstGeom>
          <a:solidFill>
            <a:srgbClr val="008C45">
              <a:alpha val="85000"/>
            </a:srgbClr>
          </a:solidFill>
          <a:ln w="19050">
            <a:solidFill>
              <a:srgbClr val="008C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35661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菠萝!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答对最多的小组获得加分！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提醒 — 下午完成欧洲页!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04672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914400"/>
            <a:ext cx="7498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下午你需要完成：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画出你最喜欢的欧洲地标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写下你想吃的欧洲美食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记录三国不同的打招呼方式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写一个你学到的文化礼节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用句型写一句话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4114800"/>
            <a:ext cx="6217920" cy="548640"/>
          </a:xfrm>
          <a:prstGeom prst="roundRect">
            <a:avLst>
              <a:gd name="adj" fmla="val 20000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4114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记住今天看到的地标和文化！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下午开始 Afternoon Session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B: 深入探索与Project时间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&amp; Passport Project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快速复习 Quick Review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上午我们去了哪3个国家？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55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埃菲尔铁塔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可颂/奶酪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Bonjour!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32588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8C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C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74720" y="196596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斗兽场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披萨/意面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Ciao!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3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4173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3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09360" y="196596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大本钟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炸鱼薯条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Hello!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046720" cy="594360"/>
          </a:xfrm>
          <a:prstGeom prst="roundRect">
            <a:avLst>
              <a:gd name="adj" fmla="val 18462"/>
            </a:avLst>
          </a:prstGeom>
          <a:solidFill>
            <a:srgbClr val="FFF8E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84048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Review: 告诉你的同桌，你记住了哪些？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欧洲三国对比表 Comparison Table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16459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7772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777240"/>
            <a:ext cx="2377440" cy="502920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777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777240"/>
            <a:ext cx="2377440" cy="502920"/>
          </a:xfrm>
          <a:prstGeom prst="rect">
            <a:avLst/>
          </a:prstGeom>
          <a:solidFill>
            <a:srgbClr val="008C4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777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777240"/>
            <a:ext cx="2377440" cy="502920"/>
          </a:xfrm>
          <a:prstGeom prst="rect">
            <a:avLst/>
          </a:prstGeom>
          <a:solidFill>
            <a:srgbClr val="003478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777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280160"/>
            <a:ext cx="1645920" cy="502920"/>
          </a:xfrm>
          <a:prstGeom prst="rect">
            <a:avLst/>
          </a:prstGeom>
          <a:solidFill>
            <a:srgbClr val="1565C0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2801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0240" y="128016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12801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亲脸颊+Bonjour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128016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12801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Ciao!+手势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0" y="128016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12801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握手+Hello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1783080"/>
            <a:ext cx="1645920" cy="502920"/>
          </a:xfrm>
          <a:prstGeom prst="rect">
            <a:avLst/>
          </a:prstGeom>
          <a:solidFill>
            <a:srgbClr val="1565C0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17830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吃饭特点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20240" y="178308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024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午餐1-2小时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178308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不加菠萝在披萨!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75120" y="178308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17830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下午茶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2286000"/>
            <a:ext cx="1645920" cy="502920"/>
          </a:xfrm>
          <a:prstGeom prst="rect">
            <a:avLst/>
          </a:prstGeom>
          <a:solidFill>
            <a:srgbClr val="1565C0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2860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920240" y="228600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0240" y="2286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可颂/奶酪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97680" y="228600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97680" y="2286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披萨/意面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228600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0" y="2286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炸鱼薯条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2788920"/>
            <a:ext cx="1645920" cy="502920"/>
          </a:xfrm>
          <a:prstGeom prst="rect">
            <a:avLst/>
          </a:prstGeom>
          <a:solidFill>
            <a:srgbClr val="1565C0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27889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920240" y="278892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0240" y="2788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不催服务员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0" y="278892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0" y="2788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不加奶在咖啡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675120" y="2788920"/>
            <a:ext cx="23774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75120" y="2788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要排队!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74320" y="3291840"/>
            <a:ext cx="1645920" cy="502920"/>
          </a:xfrm>
          <a:prstGeom prst="rect">
            <a:avLst/>
          </a:prstGeom>
          <a:solidFill>
            <a:srgbClr val="1565C0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32918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特别文化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920240" y="329184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0240" y="3291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时尚/卢浮宫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297680" y="329184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0" y="3291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文艺复兴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675120" y="329184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BDBDB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75120" y="3291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哈利波特/王室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三个国家，三种风格，都很精彩！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共同点与不同 Similarities &amp; Differences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148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共同点 Similarities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都重视用餐礼仪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都有悠久历史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都有世界级地标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都有独特的美食文化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0" y="777240"/>
            <a:ext cx="4206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86868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不同 Differences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打招呼方式不同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法:亲脸颊 / 意:手势 / 英:握手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饮食风格不同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法:精致 / 意:热情 / 英:传统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性格特点不同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法:浪漫 / 意:热情 / 英:绅士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8046720" cy="640080"/>
          </a:xfrm>
          <a:prstGeom prst="roundRect">
            <a:avLst>
              <a:gd name="adj" fmla="val 17143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不同文化，不同方式，都很精彩！Different cultures, all wonderful!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旅行小贴士 + 丝绸之路 Silk Road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148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68680"/>
            <a:ext cx="37490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旅行小贴士 Travel Tips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在法国说 Bonjour 再开口说话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在意大利不要催服务员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在英国一定要排队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欧洲用欧元(法/意)和英镑(英)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尊重当地文化，入乡随俗！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0" y="77724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868680"/>
            <a:ext cx="38404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丝绸之路 Silk Road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连接中国和欧洲的古代贸易之路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 -&gt; 丝绸、茶叶、瓷器 -&gt; 欧洲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-&gt; 玻璃、宝石、香料 -&gt; 中国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马可波罗沿丝绸之路来到中国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在中国住了17年！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茶叶从中国传到英国!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丝绸之路连接了中国和欧洲两千多年！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生词卡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9144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披萨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sa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23160" y="9144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面包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2316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mian bao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7830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77724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9144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奶酪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 lao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17830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20840" y="77724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0840" y="9144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冰淇淋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0840" y="1417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qi lin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0840" y="178308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cream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铁塔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4320" y="33375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ta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23160" y="269748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423160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城堡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423160" y="33375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bao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2316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0" y="269748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72000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排队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0" y="33375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dui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720840" y="269748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20840" y="2834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20840" y="333756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jie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370332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句型练习 Sentence Patterns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04672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22960"/>
            <a:ext cx="804672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22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 1:「我想去___看___」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280160"/>
            <a:ext cx="7132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我想去法国看埃菲尔铁塔。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我想去意大利看斗兽场。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我想去英国看大本钟。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804672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8046720" cy="3657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 2:「___最有名的是___」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200400"/>
            <a:ext cx="7132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法国最有名的是埃菲尔铁塔。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意大利最有名的是披萨。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英国最有名的是下午茶。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Play:「欧洲小厨师」(10-15 min)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11480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777240"/>
            <a:ext cx="411480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77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= 厨师 Chef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介绍你的菜：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「这是法国的可颂面包，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很好吃！又香又甜！」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「这是意大利的披萨，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上面有奶酪和番茄！」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777240"/>
            <a:ext cx="420624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777240"/>
            <a:ext cx="4206240" cy="3657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777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美食评论家 Critic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23444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评价这道菜：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「我觉得可颂很好吃！」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「我想吃更多披萨！」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「___最有名的是___」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「我想去___看___」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046720" cy="1188720"/>
          </a:xfrm>
          <a:prstGeom prst="roundRect">
            <a:avLst>
              <a:gd name="adj" fmla="val 9231"/>
            </a:avLst>
          </a:prstGeom>
          <a:solidFill>
            <a:srgbClr val="FFF8E1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461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文化体验 Cultural Experience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模拟用刀叉吃饭  vs  用筷子吃饭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哪个更方便？你更喜欢哪个？和同学讨论！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Time! 护照欧洲页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48740" y="914400"/>
            <a:ext cx="548640" cy="548640"/>
          </a:xfrm>
          <a:prstGeom prst="ellipse">
            <a:avLst/>
          </a:prstGeom>
          <a:solidFill>
            <a:srgbClr val="1565C0">
              <a:alpha val="7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4630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 went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我去了___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(法国/意大利/英国)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D47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29100" y="914400"/>
            <a:ext cx="548640" cy="548640"/>
          </a:xfrm>
          <a:prstGeom prst="ellipse">
            <a:avLst/>
          </a:prstGeom>
          <a:solidFill>
            <a:srgbClr val="0D47A1">
              <a:alpha val="7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4630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saw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46120" y="178308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我看到了___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(铁塔/斗兽场/大本钟)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822960"/>
            <a:ext cx="26974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09460" y="914400"/>
            <a:ext cx="548640" cy="548640"/>
          </a:xfrm>
          <a:prstGeom prst="ellipse">
            <a:avLst/>
          </a:prstGeom>
          <a:solidFill>
            <a:srgbClr val="FFC107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4630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78308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我吃了___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(披萨/可颂/炸鱼薯条)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371600" y="269748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055A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0" y="2788920"/>
            <a:ext cx="548640" cy="548640"/>
          </a:xfrm>
          <a:prstGeom prst="ellipse">
            <a:avLst/>
          </a:prstGeom>
          <a:solidFill>
            <a:srgbClr val="0055A4">
              <a:alpha val="7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3337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5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Etiquette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36576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礼节：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(排队/亲脸颊/手势)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69748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0" y="2788920"/>
            <a:ext cx="548640" cy="548640"/>
          </a:xfrm>
          <a:prstGeom prst="ellipse">
            <a:avLst/>
          </a:prstGeom>
          <a:solidFill>
            <a:srgbClr val="2E7D32">
              <a:alpha val="7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3337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Sentence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6576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用句型写一句话：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「我想去___看___」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minutes  /  用中文写和画！Write &amp; draw in Chinese!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分层 Differentiated Levels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046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8686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1（K-1年级）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画3个国家的地标 + 写国家名字 + 写一种食物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8046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2（2-3年级）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+ 用句型写2句话 + 写一个文化发现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3246120"/>
            <a:ext cx="80467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3375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3（4-5年级）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+ 对比三国文化差异 + 写丝绸之路小短文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分享时间 Share Time!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04672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914400"/>
            <a:ext cx="7498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向全班展示你的护照欧洲页！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用中文说: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「我去了___，看到了___」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「___最有名的是___」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「我学到了一个礼节：___」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每人30秒-1分钟！大声说！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恭喜！获得欧洲签证章！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926080" y="1051560"/>
            <a:ext cx="3108960" cy="3108960"/>
          </a:xfrm>
          <a:prstGeom prst="ellipse">
            <a:avLst/>
          </a:prstGeom>
          <a:solidFill>
            <a:srgbClr val="1565C0">
              <a:alpha val="70000"/>
            </a:srgbClr>
          </a:solidFill>
          <a:ln w="50800">
            <a:solidFill>
              <a:srgbClr val="FFC10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0" y="1234440"/>
            <a:ext cx="2743200" cy="2743200"/>
          </a:xfrm>
          <a:prstGeom prst="ellipse">
            <a:avLst/>
          </a:prstGeom>
          <a:noFill/>
          <a:ln w="25400">
            <a:solidFill>
              <a:srgbClr val="FFC107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926080" y="141732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28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2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6/10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 3 of 5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371600" y="4297680"/>
            <a:ext cx="6217920" cy="502920"/>
          </a:xfrm>
          <a:prstGeom prst="roundRect">
            <a:avLst>
              <a:gd name="adj" fmla="val 27273"/>
            </a:avLst>
          </a:prstGeom>
          <a:solidFill>
            <a:srgbClr val="FFC107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4297680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3个签证章！还有2个！ Asia / Africa / Europe &gt; Americas &gt; Showcase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明天预告 Coming Tomorrow...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645920" y="1097280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1565C0">
              <a:alpha val="70000"/>
            </a:srgbClr>
          </a:solidFill>
          <a:ln w="25400">
            <a:solidFill>
              <a:srgbClr val="FFC10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280160"/>
            <a:ext cx="5303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GR-004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目的地：美洲 AMERICAS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从北美到南美，新大陆等你探索！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汉堡包 / 墨西哥卷饼 / 玉米...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86000" y="3657600"/>
            <a:ext cx="4389120" cy="502920"/>
          </a:xfrm>
          <a:prstGeom prst="roundRect">
            <a:avLst>
              <a:gd name="adj" fmla="val 27273"/>
            </a:avLst>
          </a:prstGeom>
          <a:solidFill>
            <a:srgbClr val="FFC10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3657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准备好你的护照，我们继续出发！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 EDU  |  Global Explorer Camp 2025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Complete!</a:t>
            </a:r>
            <a:endParaRPr lang="en-US" sz="3200" dirty="0"/>
          </a:p>
          <a:p>
            <a:pPr algn="ctr" indent="0" marL="0">
              <a:buNone/>
            </a:pPr>
            <a:endParaRPr lang="en-US" sz="32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第三天完成！</a:t>
            </a:r>
            <a:endParaRPr lang="en-US" sz="3200" dirty="0"/>
          </a:p>
          <a:p>
            <a:pPr algn="ctr" indent="0" marL="0">
              <a:buNone/>
            </a:pPr>
            <a:endParaRPr lang="en-US" sz="32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+ 意大利 + 英国</a:t>
            </a:r>
            <a:endParaRPr lang="en-US" sz="3200" dirty="0"/>
          </a:p>
          <a:p>
            <a:pPr algn="ctr" indent="0" marL="0">
              <a:buNone/>
            </a:pPr>
            <a:endParaRPr lang="en-US" sz="32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 签证章已收集！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|  Global Explorer Camp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3: 欧洲 Europe</dc:title>
  <dc:subject>PptxGenJS Presentation</dc:subject>
  <dc:creator>谷雨中文 GR EDU</dc:creator>
  <cp:lastModifiedBy>谷雨中文 GR EDU</cp:lastModifiedBy>
  <cp:revision>1</cp:revision>
  <dcterms:created xsi:type="dcterms:W3CDTF">2026-03-19T18:13:42Z</dcterms:created>
  <dcterms:modified xsi:type="dcterms:W3CDTF">2026-03-19T18:13:42Z</dcterms:modified>
</cp:coreProperties>
</file>