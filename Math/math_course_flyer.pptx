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685800"/>
          </a:xfrm>
          <a:prstGeom prst="rect">
            <a:avLst/>
          </a:prstGeom>
          <a:solidFill>
            <a:srgbClr val="9DC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777240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KaiTi"/>
              </a:defRPr>
            </a:pPr>
            <a:r>
              <a:t>暑假数学课程  Summer Math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E0"/>
                </a:solidFill>
                <a:latin typeface="KaiTi"/>
              </a:defRPr>
            </a:pPr>
            <a:r>
              <a:t>谷雨中文 · 2025 Summer Program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749808"/>
            <a:ext cx="22402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786384"/>
            <a:ext cx="20939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2C2C2C"/>
                </a:solidFill>
                <a:latin typeface="KaiTi"/>
              </a:defRPr>
            </a:pPr>
            <a:r>
              <a:t>🧮 系统化课程设计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978408"/>
            <a:ext cx="2093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KaiTi"/>
              </a:defRPr>
            </a:pPr>
            <a:r>
              <a:t>5个级别，由浅入深，涵盖计算、图形、应用题与逻辑推理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2928" y="749808"/>
            <a:ext cx="22402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786384"/>
            <a:ext cx="20939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2C2C2C"/>
                </a:solidFill>
                <a:latin typeface="KaiTi"/>
              </a:defRPr>
            </a:pPr>
            <a:r>
              <a:t>🧩 思维训练为核心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978408"/>
            <a:ext cx="2093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KaiTi"/>
              </a:defRPr>
            </a:pPr>
            <a:r>
              <a:t>注重数学思维与解题策略培养，锻炼逻辑分析能力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02936" y="749808"/>
            <a:ext cx="22402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786384"/>
            <a:ext cx="20939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2C2C2C"/>
                </a:solidFill>
                <a:latin typeface="KaiTi"/>
              </a:defRPr>
            </a:pPr>
            <a:r>
              <a:t>🚀 暑期衔接与提升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978408"/>
            <a:ext cx="2093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KaiTi"/>
              </a:defRPr>
            </a:pPr>
            <a:r>
              <a:t>巩固已学知识，预习新学期内容，查漏补缺、拓展提高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389888"/>
            <a:ext cx="7132320" cy="2011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399032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KaiTi"/>
              </a:defRPr>
            </a:pPr>
            <a:r>
              <a:t>Level 1 Summer Math Curriculum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162763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162763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" y="163677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" y="181051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  Add &amp; Subtract Three-digit Numbers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L2  Commutative &amp; Associative Property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L3  Addition Strategies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L4  Word Problems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" y="261518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" y="263347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三位数运算：加减三位数、运算律、加法策略与应用题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21408" y="162763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21408" y="162763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39696" y="163677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6272" y="181051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L5  Subtraction Strategies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L6  Addition &amp; Subtraction Strategies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L7  Find the Missing Numbers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L8  Word Problems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57984" y="261518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263347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运算策略深化：减法策略、加减混合策略、找缺失数、应用题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22776" y="162763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2776" y="162763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163677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40" y="181051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L9  Lining-up Problems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L10  Age Puzzles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L11  Two-Dimensional Shapes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L12  Three-Dimensional Shapes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59352" y="261518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95928" y="263347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逻辑推理与图形：排队问题、年龄谜题、平面与立体图形识别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24144" y="162763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24144" y="162763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163677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9008" y="181051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L13  Bar Graphs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L14  Tally Charts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L15  Directional Words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L16  Guess the Number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261518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97296" y="263347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数据与方向：条形图、计数表、方向词、猜数游戏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035808"/>
            <a:ext cx="7132320" cy="2011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044952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KaiTi"/>
              </a:defRPr>
            </a:pPr>
            <a:r>
              <a:t>Level 2 Summer Math Curriculum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0040" y="327355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327355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" y="328269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4" y="345643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  Even and Odd Numbers 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L2  Even and Odd Numbers II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L3  Multiplication (Vertical Method)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L4  Word Problems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6616" y="426110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3192" y="427939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奇偶与乘法：奇偶数规律、竖式乘法、应用题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327355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21408" y="327355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39696" y="328269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76272" y="345643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L5  Parentheses 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L6  Parentheses II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L7  Distributive Property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L8  Word Problems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7984" y="426110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94560" y="427939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括号与分配律：括号运算、分配律及应用题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922776" y="327355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22776" y="327355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41064" y="328269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77640" y="345643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L9  Multiply &amp; Divide with 10, 100, 1000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L10  Division with Remainders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L11  Division with Distributive Property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L12  Word Problems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59352" y="426110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95928" y="427939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除法深化：乘除10/100/1000、余数除法、分配律除法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24144" y="327355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24144" y="327355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42432" y="328269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79008" y="345643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L13  Magic Square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L14  Page Number Word Problems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L15  Time Word Problems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L16  Project: Find &amp; Draw the Pattern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60720" y="426110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97296" y="427939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逻辑与规律：幻方、页码问题、时间应用题、寻找规律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4681728"/>
            <a:ext cx="7132320" cy="2011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4690872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KaiTi"/>
              </a:defRPr>
            </a:pPr>
            <a:r>
              <a:t>Level 3 Summer Math Curriculum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0040" y="491947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491947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8328" y="492861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4904" y="510235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  Order of Operations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L2  Parentheses 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L3  Parentheses II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L4  Word Problems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56616" y="590702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3192" y="592531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运算顺序与括号：四则运算法则、括号运用、应用题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21408" y="491947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121408" y="491947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139696" y="492861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76272" y="510235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L5  GCF and LCM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L6  Mixed Numbers &amp; Improper Fractions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L7  Add &amp; Subtract Fractions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L8  Add &amp; Subtract Mixed Numbers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157984" y="590702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194560" y="592531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分数基础：GCF/LCM、带分数与假分数互换、分数加减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922776" y="491947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22776" y="491947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41064" y="492861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77640" y="510235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L9  Multiply Fractions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L10  Multiply Fractions by Whole Numbers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L11  Fractions Word Problems 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L12  Fractions Word Problems II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959352" y="590702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995928" y="592531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分数乘法与应用：分数乘法、分数乘整数、应用题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724144" y="491947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724144" y="491947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42432" y="492861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79008" y="510235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L13  Bar Graphs Word Problems 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L14  Bar Graphs Word Problems II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L15  Chicken and Rabbit Problems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L16  Project: Find &amp; Draw the Pattern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760720" y="590702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97296" y="592531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图表与逻辑：条形图应用、鸡兔同笼、寻找规律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040" y="6327648"/>
            <a:ext cx="7132320" cy="2011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336792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KaiTi"/>
              </a:defRPr>
            </a:pPr>
            <a:r>
              <a:t>Level 4 Summer Math Curriculum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20040" y="656539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20040" y="656539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38328" y="657453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4904" y="674827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  Prime &amp; Composite Numbers 1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L2  Prime &amp; Composite Numbers 2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L3  Prime Factorization 1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L4  Prime Factorization 2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56616" y="755294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93192" y="757123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质数与因数分解：质数合数识别、质因数分解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121408" y="656539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121408" y="656539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139696" y="657453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76272" y="674827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L5  Add, Subtract &amp; Multiply Decimals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L6  Divide Decimals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L7  Convert Fractions to Decimals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L8  Compare &amp; Order Fractions/Decimals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157984" y="755294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194560" y="757123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小数运算：加减乘除小数、分数与小数互转及比较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922776" y="656539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922776" y="656539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941064" y="657453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77640" y="674827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L9  Simplify Fractions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L10  Calculation Trick - Fraction 1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L11  Calculation Trick - Fraction 2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L12  Fractions ×÷ Word Problems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959352" y="755294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995928" y="757123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分数深化：化简分数、分数计算技巧、乘除应用题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724144" y="656539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724144" y="656539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42432" y="657453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79008" y="674827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L13  Convert to Percents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L14  Percentage Word Problems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L15  Average Word Problems 1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L16  Average Word Problems 2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760720" y="755294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97296" y="757123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百分比与平均数：分数/小数/比率转百分比、百分比应用、平均数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20040" y="7973568"/>
            <a:ext cx="7132320" cy="2011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11480" y="7982712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KaiTi"/>
              </a:defRPr>
            </a:pPr>
            <a:r>
              <a:t>Level 5 Summer Math Curriculum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20040" y="821131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20040" y="821131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38328" y="822045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4904" y="839419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  Operations of Negative Numbers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L2  Operations of Fractions &amp; Decimals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L3  Operations of Percents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L4  Operations of Exponents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56616" y="919886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3192" y="921715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数的运算基础：负数、分数小数、百分数、指数的四则运算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21408" y="821131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121408" y="821131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139696" y="822045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76272" y="839419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L5  Real Numbers &amp; Simplifying Expressions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L6  Linear Equations (One Variable)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L7  Linear Inequalities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L8  Applications of Linear Equations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57984" y="919886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194560" y="921715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代数核心：实数性质化简、一元线性方程与不等式及应用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922776" y="821131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922776" y="821131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941064" y="822045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77640" y="839419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L9  Parallel Lines and Angles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L10  Properties of Triangles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L11  Area &amp; Circumference of Circles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L12  Area &amp; Circumference of Sectors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959352" y="919886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995928" y="921715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平面几何：平行线与角、三角形性质、圆的周长与面积、扇形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724144" y="8211312"/>
            <a:ext cx="1728216" cy="1335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724144" y="8211312"/>
            <a:ext cx="1728216" cy="164592"/>
          </a:xfrm>
          <a:prstGeom prst="rect">
            <a:avLst/>
          </a:prstGeom>
          <a:solidFill>
            <a:srgbClr val="5E9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742432" y="8220456"/>
            <a:ext cx="1691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KaiTi"/>
              </a:defRPr>
            </a:pPr>
            <a:r>
              <a:t>S4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779008" y="8394192"/>
            <a:ext cx="1618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L13  Volume of Prism &amp; Cylinder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L14  Volume of Pyramid &amp; Cone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L15  Surface Area of Prism &amp; Cylinder</a:t>
            </a:r>
          </a:p>
          <a:p>
            <a:pPr algn="l">
              <a:spcBef>
                <a:spcPts val="150"/>
              </a:spcBef>
              <a:spcAft>
                <a:spcPts val="0"/>
              </a:spcAft>
              <a:defRPr sz="600" b="0">
                <a:solidFill>
                  <a:srgbClr val="2C2C2C"/>
                </a:solidFill>
                <a:latin typeface="KaiTi"/>
              </a:defRPr>
            </a:pPr>
            <a:r>
              <a:t>L16  Surface Area of Pyramid &amp; Cone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760720" y="9198864"/>
            <a:ext cx="1655064" cy="310896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797296" y="9217152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5E9428"/>
                </a:solidFill>
                <a:latin typeface="KaiTi"/>
              </a:defRPr>
            </a:pPr>
            <a:r>
              <a:t>📌 立体几何：棱柱/圆柱/棱锥/圆锥的体积与表面积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0" y="9646920"/>
            <a:ext cx="7772400" cy="4114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9674352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KaiTi"/>
              </a:defRPr>
            </a:pPr>
            <a:r>
              <a:t>立即报名  Register Now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9857232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FFFFE0"/>
                </a:solidFill>
                <a:latin typeface="KaiTi"/>
              </a:defRPr>
            </a:pPr>
            <a:r>
              <a:t>📅 每 Session 4节课（每周2次×2周） | 每节课50分钟 | 线上小班 4–8人 | 谷雨中文  www.guyuchinese.com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